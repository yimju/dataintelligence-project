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347472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데이터가 스스로 제어하는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지능형 거버넌스 시스템 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스마트시티 공공데이터 기반  ·  KDD Process  ·  Entropy → AOI → FP-growth → 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01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0CAF9"/>
                </a:solidFill>
              </a:rPr>
              <a:t>Hard Rule  /  Soft Rule  /  Adaptive Quality Management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58768"/>
            <a:ext cx="5486400" cy="36576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86784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연세대학교 데이터베이스 연구실  |  데이터 인텔리전스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연구 배경 및 목적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BI(현상 묘사 / 인간 편향)에서 BR(기계적 자동 통제)로의 패러다임 전환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BI 방식의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연구자가 직관으로 변수를 선택 → 인간 편향 개입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798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수치 시각화에 머물러 실제 통제 규칙 도출 불가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기관 간 데이터 연계 시 도메인 불일치 무방비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새로운 사고 유형·센서 등장 시 규칙 수동 갱신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N-D 군집화: 차원의 저주로 실루엣 스코어 저하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34440"/>
            <a:ext cx="594360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BR 기반 지능형 거버넌스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73736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Entropy로 변수를 기계가 스스로 선별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15798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AOI 이산화로 수치를 개념 계층(L0~L4)으로 변환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5786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FP-growth가 의외의 패턴(Unexpectedness)을 자동 발견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9992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FD·Jaccard·RI로 IF-THEN 통제 규칙(BR) 정량 도출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41985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Hard/Soft Rule로 '닫힌 통제'와 '학습 가능 설계' 구분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77639"/>
            <a:ext cx="5029200" cy="65836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5079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BI  (Business Intelligence)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16161"/>
                </a:solidFill>
              </a:rPr>
              <a:t>데이터가 이런 상태다  →  묘사·시각화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913632"/>
            <a:ext cx="658368" cy="8046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5272" y="4023360"/>
            <a:ext cx="621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977639"/>
            <a:ext cx="5394960" cy="65836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0507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  (Business Rules)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BDEFB"/>
                </a:solidFill>
              </a:rPr>
              <a:t>데이터는 반드시 이 규칙을 따라야 한다  →  기계적 자동 통제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00600"/>
            <a:ext cx="11612880" cy="5943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800600"/>
            <a:ext cx="73152" cy="5943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7375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핵심:  규칙을 '정하는 것'이 아니라 데이터가 스스로 말하는 규칙을 '발견하는 것'.  N-D 군집화 대신 1-D Entropy 기반 분석 + FP-growth로 의외성(Unexpectedness) 포착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분석 데이터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기존 DataIntelligenceProject (999 테이블) + 신규 스마트시티 수집 (11개)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3749039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① 기존 DataIntelligenceProject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618488"/>
            <a:ext cx="3749039" cy="32918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" y="1719072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78308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table_map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830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999개 테이블 / 18컬럼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" y="2139696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2203703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column_map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203703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9,840개 컬럼 메타데이터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" y="2560320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624327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column_pair_map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62432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컬럼 간 유사도 (296MB)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" y="2980944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" y="3044951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distinct_value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04495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고유값 목록 (635MB)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" y="3401568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465575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분석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46557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col_val_ratio 등 핵심 축 도출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" y="3822191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88620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역할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38862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Entropy→AOI→FP-growth 주 분석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234440"/>
            <a:ext cx="3749039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② 공공데이터 목록 (카탈로그)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1618488"/>
            <a:ext cx="3749039" cy="32918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33672" y="1719072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178308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총 데이터셋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17830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95,903건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3672" y="2139696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2203703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2203703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83,547건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33672" y="2560320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70248" y="2624327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262432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12,056건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3672" y="2980944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3044951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대분류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304495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16개 카테고리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33672" y="3401568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0248" y="3465575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선별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346557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87,053건 → A안 300건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33672" y="3822191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70248" y="388620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역할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38862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스마트시티 대상 선별 BR-SEL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92440" y="1234440"/>
            <a:ext cx="3749039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2167" y="12618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③ 신규 수집 스마트시티 데이터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2440" y="1618488"/>
            <a:ext cx="3749039" cy="32918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65592" y="1719072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02167" y="178308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충북 교통약자+사고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6919" y="17830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8,381건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65592" y="2139696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7" y="2203703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서울 미세먼지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6919" y="2203703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227,760건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65592" y="2560320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02167" y="2624327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대구 대기질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19" y="262432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659,348건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65592" y="2980944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7" y="3044951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충주/도로공사 CCTV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19" y="3044951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3,054개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65592" y="3401568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02167" y="3465575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인천 IoT 센서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46919" y="346557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~22GB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65592" y="3822191"/>
            <a:ext cx="1417320" cy="347472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2167" y="388620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역할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6919" y="38862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BR 검증·확장 및 공간 분석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5074920"/>
            <a:ext cx="3749039" cy="12344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28600" y="51663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999개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기존 테이블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60520" y="5074920"/>
            <a:ext cx="3749039" cy="12344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60520" y="51663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95,903건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6052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메타데이터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92440" y="5074920"/>
            <a:ext cx="3749039" cy="12344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92440" y="5166360"/>
            <a:ext cx="37490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~100만 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2440" y="58338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실측 레코드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STEP 1  엔트로피(Entropy) 기반 변수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N-D 군집화 금지 → 1-D Shannon Entropy로 정보량이 높은 속성만 자동 선별 (AOI)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변수별 Entropy 계산: H = -Σ p·log₂p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83080"/>
            <a:ext cx="3566160" cy="1828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019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1.6891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24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BDEFB"/>
                </a:solidFill>
              </a:rPr>
              <a:t>col_val_ratio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08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DEFB"/>
                </a:solidFill>
              </a:rPr>
              <a:t>컬럼 값 비율
→ 주 분석 축 선정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783080"/>
            <a:ext cx="3566160" cy="18288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019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0.5046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724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BDEFB"/>
                </a:solidFill>
              </a:rPr>
              <a:t>col_dom_ratio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DEFB"/>
                </a:solidFill>
              </a:rPr>
              <a:t>컬럼 도메인 비율
→ 보조 분석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783080"/>
            <a:ext cx="3566160" cy="1828800"/>
          </a:xfrm>
          <a:prstGeom prst="rect">
            <a:avLst/>
          </a:prstGeom>
          <a:solidFill>
            <a:srgbClr val="789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0195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0.0241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72491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BDEFB"/>
                </a:solidFill>
              </a:rPr>
              <a:t>red_dom_cnt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089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BDEFB"/>
                </a:solidFill>
              </a:rPr>
              <a:t>중복 도메인 수
→ 노이즈: 제거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67328"/>
            <a:ext cx="5029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822191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Entropy 임계값 기반 자동 판정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60520"/>
            <a:ext cx="1161288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컬럼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Entropy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이유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1879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처리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35424"/>
            <a:ext cx="11612880" cy="402336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col_val_ratio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1.6891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A2"/>
                </a:solidFill>
              </a:rPr>
              <a:t>✅ 주 분석 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정보량 최고 — 컬럼 값 분포 변별력 최대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46268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분석 대상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946904"/>
            <a:ext cx="1161288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col_dom_ratio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0.5046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A2"/>
                </a:solidFill>
              </a:rPr>
              <a:t>✅ 보조 분석 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중간 정보량 — 도메인 구분에 활용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0383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보조 활용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358384"/>
            <a:ext cx="11612880" cy="402336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red_dom_cnt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0.0241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❌ 노이즈 제거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모든 데이터가 유사값 → 변별력 없음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0" y="54498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리덕션(제거)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577840"/>
            <a:ext cx="11612880" cy="50292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577840"/>
            <a:ext cx="73152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50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교수님 지침 준수: N-D 고차원 군집화 배제 → 단일 지표(1-D Entropy)로만 변수 평가. col_val_ratio(1.6891)가 정보 이론적으로 최적 분석 축임을 수치로 증명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STEP 2  이산화(Discretization) / AOI  —  L0~L4 개념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수치 데이터를 5단계 개념 계층으로 Roll-up → FP-growth용 트랜잭션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pd.qcut(값, q=5) → L0(최소)~L4(최대) 5단계 이산화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11612880" cy="13716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201168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L0
(최소)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0~20%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828800"/>
            <a:ext cx="2011680" cy="100584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L1
(하)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20~40%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828800"/>
            <a:ext cx="2011680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L2
(중)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40~60%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828800"/>
            <a:ext cx="2011680" cy="10058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L3
(상)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60~80%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1828800"/>
            <a:ext cx="2011680" cy="1005840"/>
          </a:xfrm>
          <a:prstGeom prst="rect">
            <a:avLst/>
          </a:prstGeom>
          <a:solidFill>
            <a:srgbClr val="0D2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9385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L4
(최대)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395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80~100%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33009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이산화 적용 결과 — 주요 컬럼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39312"/>
            <a:ext cx="548640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639312"/>
            <a:ext cx="54864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6667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col_val_ratio → L0~L4 이산화 (DataIntelligenceProject)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069080"/>
            <a:ext cx="5376672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12394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123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0.000~0.200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41239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21.0%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123944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값 희소 — 데이터 공백 구간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471416"/>
            <a:ext cx="5376672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5262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0.200~0.350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5262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20.2%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45262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낮은 밀도 — 표준 도메인 후보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73752"/>
            <a:ext cx="5376672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92861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928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0.350~0.500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49286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20.0%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492861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중간 밀도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276088"/>
            <a:ext cx="5376672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3309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330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0.500~0.700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53309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19.5%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533095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높은 중복도 — 공통 도메인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678424"/>
            <a:ext cx="5376672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57332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733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0.700~1.000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73328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19.3%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57332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최고 밀도 — 플랫폼 전반 공통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3639312"/>
            <a:ext cx="5943600" cy="25603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3639312"/>
            <a:ext cx="5943600" cy="347472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366674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PM10 이산화 (서울 미세먼지 227,760건 적용)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89320" y="4069080"/>
            <a:ext cx="5833872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4123944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29400" y="4123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0~14 μg/m³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65008" y="412394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58.4%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412394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좋음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9320" y="4471416"/>
            <a:ext cx="583387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80760" y="452628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29400" y="45262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15~27 μg/m³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65008" y="45262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23.2%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452628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보통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4873752"/>
            <a:ext cx="5833872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80760" y="4928616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L2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29400" y="49286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28~40 μg/m³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65008" y="49286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14.6%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78240" y="492861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보통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989320" y="5276088"/>
            <a:ext cx="5833872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80760" y="5330952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29400" y="5330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41~80 μg/m³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65008" y="533095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3.7%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533095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나쁨 → 알림 대상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89320" y="5678424"/>
            <a:ext cx="5833872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80760" y="5733288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57332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&gt; 80 μg/m³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65008" y="57332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0.1%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0" y="57332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매우나쁨 → 즉시 알림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STEP 3  FP-growth 패턴 발견  —  의외성(Unexpectedness) 포착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이산화된 트랜잭션 DB에서 FP-growth 구동 → 사전 가설 없이 알고리즘이 스스로 발견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0292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930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325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FP-growth: min_support=0.05, confidence≥0.95 → 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19072"/>
            <a:ext cx="5486400" cy="32461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19072"/>
            <a:ext cx="548640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4650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핵심 발견 ①  [L1-L3-L4] 전역 표준 도메인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194560"/>
            <a:ext cx="5394960" cy="8229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4942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패턴: [L1 - L3 - L4]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CC80"/>
                </a:solidFill>
              </a:rPr>
              <a:t>빈도수 3,338건 — 전체 패턴 중 1위  (Unexpectedness: 예측 불가)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090672"/>
            <a:ext cx="914400" cy="4572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145536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14553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특정 업무 전용이 아닌 보편적 속성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02736"/>
            <a:ext cx="91440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365760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657600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여러 테이블에서 반복 등장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14800"/>
            <a:ext cx="914400" cy="4572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416966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169664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단일 시스템이 아닌 전체 플랫폼 횡단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45152"/>
            <a:ext cx="5394960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45152"/>
            <a:ext cx="73152" cy="10972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00016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도메인 해석 (의외성):
'주소', '날짜', '연락처'처럼 시스템 전반을 관통하는
전역 표준 도메인 속성군으로 판명 (기저귀-맥주 연관과 유사)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719072"/>
            <a:ext cx="5943600" cy="32461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719072"/>
            <a:ext cx="594360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핵심 발견 ②  [경도] → [위도]  Lift=19.88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2194560"/>
            <a:ext cx="5833872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28600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IF   [컬럼=경도]  THEN  [컬럼=위도]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587752"/>
            <a:ext cx="5650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confidence=100%  |  support=5.0%  |  Lift=19.88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31012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148C"/>
                </a:solidFill>
              </a:rPr>
              <a:t>Lift 해석 (기술적 정확성):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584448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위도와 경도는 독립적이지 않음. 경도가 있을 때 위도가
함께 등장할 확률이 우연 대비 19.88배 높음.
→ 두 공간 좌표 속성은 강력한 의존 관계 — 하나 누락 시
   공간 분석 자체 불가 → BR-FD-01로 Hard Rule 선언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645152"/>
            <a:ext cx="5833872" cy="109728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89320" y="4645152"/>
            <a:ext cx="73152" cy="109728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4700016"/>
            <a:ext cx="5669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</a:rPr>
              <a:t>추가 발견: [수치형=적음] → [NULL율=낮음]  conf=100%
→ Static 데이터는 범주형 위주이며 결측이 거의 없음
→ 이것이 BR-RI-01 (위치 완전성 100%) 근거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STEP 4  BR 도출  —  함수적 종속관계(FD) + 자카드 유사도(Jaccard)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품질관리 PDF p.9/p.39  |  FP-growth 패턴 위에 FD·Jaccard로 규칙 정형화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함수적 종속관계 (FD) 기반 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190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148C"/>
                </a:solidFill>
              </a:rPr>
              <a:t>공식: FD신뢰도 = (A별 B고유값수==1) 비율
신뢰도 1.0 = 예외 없는 완전 종속 → BR 직접 도출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340864"/>
            <a:ext cx="5303520" cy="310896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 →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FD신뢰도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6829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Hard/Soft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53035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52344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다발지역ID→위도/경도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523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7523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BR-FD-01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27523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Hard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99816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154679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사고 종류→대상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1546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154679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BR-FD-02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3154679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Hard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02152"/>
            <a:ext cx="53035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557015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시설 ID→시설명/주소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55701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557015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BR-FD-03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557015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Hard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04488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593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사고종류 6종→기타 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593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959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148C"/>
                </a:solidFill>
              </a:rPr>
              <a:t>BR-FD-04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9593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</a:rPr>
              <a:t>Soft→Flag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15968"/>
            <a:ext cx="530352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사고종류 × 대상 크로스탭 (8,381건)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709160"/>
            <a:ext cx="530352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7640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CHILD/SCHOOLZONE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47640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1FA2"/>
                </a:solidFill>
              </a:rPr>
              <a:t>어린이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47640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1FA2"/>
                </a:solidFill>
              </a:rPr>
              <a:t>1,431건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56632"/>
            <a:ext cx="5303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11149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51114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1FA2"/>
                </a:solidFill>
              </a:rPr>
              <a:t>노약자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511149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B1FA2"/>
                </a:solidFill>
              </a:rPr>
              <a:t>1,573건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404104"/>
            <a:ext cx="530352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54589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BICYCLE/VIOLT/LG/JAYWALKING/FREEZING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4589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7C00"/>
                </a:solidFill>
              </a:rPr>
              <a:t>기타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6120" y="545896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7C00"/>
                </a:solidFill>
              </a:rPr>
              <a:t>5,377건 → BR-FD-04 과제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1234440"/>
            <a:ext cx="5943600" cy="50292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자카드 유사도 (Jaccard) 기반 BR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171907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A148C"/>
                </a:solidFill>
              </a:rPr>
              <a:t>공식: |X∩Y|/|X∪Y| (값 집합·범위 중첩 비율)
기준: Jaccard≥0.7 → 연계 허용  /  &lt;0.5 → 거버넌스 조치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2340864"/>
            <a:ext cx="58338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2340864"/>
            <a:ext cx="141732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16752" y="2468880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도시간 PM10
범위 Jaccard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52360" y="2340864"/>
            <a:ext cx="1005840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70648" y="257860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0.409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22208" y="24231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&lt; 0.7 기준 미달
→ 표준화 의무화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88752" y="2468880"/>
            <a:ext cx="114300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625328" y="2523744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BR-JAC-01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3300984"/>
            <a:ext cx="58338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89320" y="3300984"/>
            <a:ext cx="141732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6752" y="3429000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CCTV↔사고지역
공간 Jaccard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3300984"/>
            <a:ext cx="1005840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70648" y="353872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0.134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22208" y="3383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&lt; 0.5 심각 불일치
→ 87.1% CCTV 미커버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588752" y="3429000"/>
            <a:ext cx="114300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25328" y="348386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BR-JAC-02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89320" y="4261104"/>
            <a:ext cx="5833872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89320" y="4261104"/>
            <a:ext cx="141732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16752" y="4389120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경도↔위도
FP-growth Lift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52360" y="4261104"/>
            <a:ext cx="1005840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449884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7C00"/>
                </a:solidFill>
              </a:rPr>
              <a:t>19.88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22208" y="43434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</a:rPr>
              <a:t>우연 대비 19.88배
→ 강력 의존 관계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588752" y="4389120"/>
            <a:ext cx="114300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25328" y="4443983"/>
            <a:ext cx="1078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BR-FD-01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STEP 5  Hard Rule vs Soft Rule  —  Adaptive Quality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단순 오류 차단을 넘어, 예외를 학습 자산으로 전환하는 엔지니어적 설계 결단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13716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 Rule  (강제 차단·즉시 거부)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위반 시 데이터 유입 자체를 차단
• 시스템 생존에 필수 — FD=1.0 완전 종속 속성
• 예: 위도/경도 NULL → 공간 분석 자체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34440"/>
            <a:ext cx="5943600" cy="13716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Soft Rule  (Flag 태깅 + 관리자 알림)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위반 시 차단 대신 Anomaly Flag 기록
• 도메인 확장 가능성 있는 규칙에 적용
• 예: 기타 분류 → Log 후 관리자 검토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43200"/>
            <a:ext cx="1161288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규칙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판단 근거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770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확장성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127248"/>
            <a:ext cx="11612880" cy="38404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21868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BR-FD-01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21868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위도/경도 NOT NULL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182112"/>
            <a:ext cx="1417320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48072" y="3218688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2186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FP Lift=19.88 의존 / 공간분석 불가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32186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없음(필수값)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520440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61188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BR-FD-02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61188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사고종류→대상 FD=1.0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0640" y="3575304"/>
            <a:ext cx="1417320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3611880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361188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완전 FD — 위반=데이터 오염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361188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신규유형 시 FD 재측정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913632"/>
            <a:ext cx="11612880" cy="38404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400507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BR-FD-03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005072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시설ID→명칭/주소 NOT NULL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3968496"/>
            <a:ext cx="1417320" cy="2926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48072" y="4005072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00507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식별 불가→운영 규칙 적용 불가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48672" y="400507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없음(필수값)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306824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439826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BR-JAC-01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439826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PM10 Jaccard≥0.7 연계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20640" y="4361688"/>
            <a:ext cx="141732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8072" y="4398264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Soft→Flag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1968" y="439826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기준 미달 시 표준화 알림 발송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48672" y="439826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측정장비 교체 시 갱신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700016"/>
            <a:ext cx="11612880" cy="38404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791455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BR-JAC-02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479145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CCTV↔사고 Jaccard&lt;0.5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754879"/>
            <a:ext cx="141732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48072" y="4791455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Soft→우선순위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4791455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재배치 Priority 목록 생성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48672" y="479145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CCTV 설치 후 재계산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093207"/>
            <a:ext cx="116128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5184647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A148C"/>
                </a:solidFill>
              </a:rPr>
              <a:t>BR-FD-04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4480" y="5184647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기타 분류 6종 세분화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5148071"/>
            <a:ext cx="1417320" cy="29260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48072" y="5184647"/>
            <a:ext cx="13533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Soft→Adaptive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5184647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Flag + 신규 유형 학습 트리거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48672" y="518464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16161"/>
                </a:solidFill>
              </a:rPr>
              <a:t>킥보드 등 자동 학습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468112"/>
            <a:ext cx="11612880" cy="11155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74320" y="5468112"/>
            <a:ext cx="91440" cy="111556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5522976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엔지니어적 결단:
"Hard Rule은 시스템의 생존을 보장하고, Soft Rule은 시스템의 진화를 가능하게 한다.
FD=1.0의 완전 종속 규칙은 Hard Rule로 강제하고, 도메인 확장 가능성 있는 분류 규칙은
Soft Rule로 전환하여 '닫힌 거버넌스'가 아닌 '학습하는 거버넌스'를 설계하였다."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핵심 발견  —  공간 거버넌스 공백 + 환경 품질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알고리즘이 발견한 패턴의 실측 검증 | Jaccard·FD·이산화 수치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102412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87.1%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928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CCTV 2km 밖 사고지점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234440"/>
            <a:ext cx="3566160" cy="102412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325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0.134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8928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공간 Jaccard
(CCTV↔사고범위)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234440"/>
            <a:ext cx="4297680" cy="102412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3258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44,380m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89280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SCHOOLZONE
최인근 CCTV거리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95728"/>
            <a:ext cx="11612880" cy="32918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사고종류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평균CCTV거리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건수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770632"/>
            <a:ext cx="11612880" cy="33832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825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SCHOOLZONE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825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44,380m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2825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394건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825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CCTV 즉시 설치 P.1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82549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BR-CROSS-01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36391"/>
            <a:ext cx="11612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CHILD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40,628m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1,037건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어린이시설 반경500m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19125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BR-FD-02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502152"/>
            <a:ext cx="11612880" cy="338328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5570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OLDMAN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35570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39,352m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35570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1,573건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5570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노인이동경로 강화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55701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BR-FD-02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67912"/>
            <a:ext cx="1161288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227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BICYCLE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39227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36,454m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39227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1,545건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39227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자전거도로 CCTV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922776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148C"/>
                </a:solidFill>
              </a:rPr>
              <a:t>BR-JAC-02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297680"/>
            <a:ext cx="11612880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4407408"/>
            <a:ext cx="356616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4988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5065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PM10&gt;80
발생률(연 333h)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407408"/>
            <a:ext cx="3566160" cy="914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31920" y="44988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11.0%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06577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PM2.5&gt;35
발생률(더 위험)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4407408"/>
            <a:ext cx="4297680" cy="9144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49884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0.409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5065776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EFB"/>
                </a:solidFill>
              </a:rPr>
              <a:t>서울↔대구PM10
Jaccard(표준화필요)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468112"/>
            <a:ext cx="1161288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5522976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Jaccard=0.409 해석: '데이터 오류'가 아닌 '측정 도메인 불일치' — 표준화 기준 없이 도시 간 대기데이터 연계 시 허위 비교 발생 → BR-JAC-01 도출 근거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최종 BR 룰셋 — 14개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데이터 선별(SEL) + KDD 파이프라인 도출(FD·Jaccard·FP·RI) | 전량 실측 수치 기반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1704320" cy="3657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161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216152"/>
            <a:ext cx="1097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유형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216152"/>
            <a:ext cx="4480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IF → 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216152"/>
            <a:ext cx="1600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근거 수치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216152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Hard/Soft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00200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6642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BR-SEL-01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66420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66420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스마트시티선별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66420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5대 서비스 영역 → 수집 대상=Y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66420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BR-SEL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655064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6688" y="169164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1975104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0391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BR-SEL-02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03911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03911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Static/Dynamic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039112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업데이트주기=수시 → Dynamic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3911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BR-SEL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2029968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206654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350008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414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7C00"/>
                </a:solidFill>
              </a:rPr>
              <a:t>BR-SEL-03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241401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선별BR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4140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A안 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score 상위 300건 → 다운로드대상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41401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300건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2404872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76688" y="24414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724912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27889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</a:rPr>
              <a:t>BR-FD-01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08760" y="278892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FD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278892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278892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사고ID → 위도/경도 MUST NOT NULL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788920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FD=1.0 / Lift=19.88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0" y="2779776"/>
            <a:ext cx="17830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76688" y="281635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3099816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" y="316382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</a:rPr>
              <a:t>BR-FD-02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316382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FD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16382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86200" y="3163824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사고종류=CHILD → 대상=어린이 MUST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16382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FD=1.0 (8,381건)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58400" y="3154680"/>
            <a:ext cx="17830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76688" y="319125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3474720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5387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</a:rPr>
              <a:t>BR-FD-03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8760" y="353872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62828"/>
                </a:solidFill>
              </a:rPr>
              <a:t>FD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35387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353872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시설ID → 시설명/주소 NOT NULL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353872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FD=1.0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0" y="3529584"/>
            <a:ext cx="17830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76688" y="3566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3849624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3913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BR-FD-04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08760" y="391363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FD+크로스탭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391363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거버넌스과제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3913632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기타 6종 → 분류 세분화 Flag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91363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75%가 기타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058400" y="3904488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76688" y="394106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Soft→Adaptive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" y="4224528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42885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BR-JAC-01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8760" y="428853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148C"/>
                </a:solidFill>
              </a:rPr>
              <a:t>Jaccard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0" y="428853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도메인표준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4288536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도시간 PM10 Jaccard≥0.7 MUST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428853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현재 0.409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58400" y="4279392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76688" y="43159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4599432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466344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BR-JAC-02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08760" y="466344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148C"/>
                </a:solidFill>
              </a:rPr>
              <a:t>Jaccard공간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0" y="466344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공간거버넌스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86200" y="466344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CCTV↔사고 Jaccard&lt;0.5 → 재배치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4663440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현재 0.134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58400" y="4654296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76688" y="469087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974336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50383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7D32"/>
                </a:solidFill>
              </a:rPr>
              <a:t>BR-FP-01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08760" y="5038344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D32"/>
                </a:solidFill>
              </a:rPr>
              <a:t>이산화+FP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0" y="503834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운영BR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886200" y="5038344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PM10 L3/L4 → 취약계층 알림 ≤1h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12480" y="5038344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supp=3.8%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58400" y="5029200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76688" y="506577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28600" y="5349240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5413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BR-FP-02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08760" y="5413248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엔트로피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0" y="541324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변수선택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86200" y="5413248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col_val_ratio(1.69) 주분석 / red_dom 제거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412480" y="5413248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E=0.024 노이즈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58400" y="5404104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076688" y="544068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Hard→제거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" y="5724144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578815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BR-RI-01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08760" y="5788152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참조무결성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0" y="578815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무결성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86200" y="5788152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인프라 위도/경도 완전성=100%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12480" y="5788152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현행 100%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58400" y="5779008"/>
            <a:ext cx="1783080" cy="274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76688" y="58155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8600" y="6099048"/>
            <a:ext cx="11704320" cy="365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74320" y="61630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16161"/>
                </a:solidFill>
              </a:rPr>
              <a:t>BR-RI-02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508760" y="61630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유효성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43200" y="616305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품질BR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886200" y="6163056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대기오염 NULL율 5% 초과 → 자동점검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412480" y="616305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현행 2.2%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58400" y="6153912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076688" y="619048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6473952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4320" y="65379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BR-CROSS-01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08760" y="6537960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148C"/>
                </a:solidFill>
              </a:rPr>
              <a:t>FD+Jaccard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43200" y="653796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16161"/>
                </a:solidFill>
              </a:rPr>
              <a:t>크로스도메인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886200" y="6537960"/>
            <a:ext cx="4480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12121"/>
                </a:solidFill>
              </a:rPr>
              <a:t>SCHOOLZONE+CCTV 2km미커버 → P.1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12480" y="6537960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148C"/>
                </a:solidFill>
              </a:rPr>
              <a:t>44,380m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58400" y="6528816"/>
            <a:ext cx="1783080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76688" y="656539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Soft→우선순위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결론 및 의의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DEFB"/>
                </a:solidFill>
              </a:rPr>
              <a:t>KDD 파이프라인 완결: Entropy → AOI → FP-growth → BR → Hard/Soft Rule 고도화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3931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61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KDD 파이프라인 성과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013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변수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80136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col_val_ratio(1.6891) 자동 도출, red_dom(0.024) 제거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12848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27685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이산화(AOI)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768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L0~L4 5단계 개념 계층, PM10·col_val_ratio 적용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88336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752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FP-growth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7523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[L1-L3-L4] 전역 도메인 발견 (3,338건 1위)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163824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22783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 도출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22783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14개 규칙 — FD·Jaccard·RI 정량화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39312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70332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Hard/Soft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7033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6개 Hard + 8개 Soft — 학습하는 거버넌스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114800"/>
            <a:ext cx="21031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1788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17880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공간 Jaccard=0.134, CCTV공백 87.1% 실증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1234440"/>
            <a:ext cx="5943600" cy="3931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1234440"/>
            <a:ext cx="5943600" cy="38404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26187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교수님 지시사항 준수 확인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173736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N-D 군집화 배제 — 1-D Entropy만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24942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AOI 이산화 — L0~L4로 모든 수치 변환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76148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FP-growth (비지도 학습) — 가설 없이 패턴 발견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2735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의외성 — [L1-L3-L4] 전역 도메인 자동 발견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7856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Subspace Focusing — 스마트시티 5대 영역 집중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9768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D32"/>
                </a:solidFill>
              </a:rPr>
              <a:t>✅ BR 정형화 — IF-THEN + 신뢰도/Lift/Jaccard 수치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321808"/>
            <a:ext cx="11612880" cy="12344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"이 프로젝트는 시나리오를 미리 정하고 데이터를 맞춘 것이 아니다.
Entropy가 col_val_ratio를 선택했고, FP-growth가 [L1-L3-L4] 전역 도메인을 스스로 찾았으며,
Jaccard=0.134가 CCTV 공백 87.1%를 드러냈다.
데이터가 스스로 말하는 규칙 14개 — 이것이 지능형 거버넌스 시스템 설계의 본질이다."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