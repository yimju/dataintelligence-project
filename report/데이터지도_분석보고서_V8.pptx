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제각각인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– 우선순위로 1건씩 분류(교육→중앙→공공→광역→기초→미상→기타), 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결과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거버넌스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3대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이슈와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4대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발견을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도</a:t>
            </a:r>
            <a:r>
              <a:rPr lang="ko-KR" altLang="en-US"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출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결손의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계통성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‘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’ 100건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100% placeholder('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')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lift 6.89·conf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5395" y="1828800"/>
            <a:ext cx="2572435" cy="42062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395395" y="1828800"/>
            <a:ext cx="257243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3411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거버넌스 G2·G3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3411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 3종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상수컬럼 1,372개(13.9%)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컬럼명 표준 부재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same_ratio 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23863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1879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I-패턴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2267712"/>
            <a:ext cx="2334691" cy="132138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경도→위도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 22.7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교과목코드↔분반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124.9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연령대→성별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35.2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331" y="1828800"/>
            <a:ext cx="2572435" cy="420624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52331" y="1828800"/>
            <a:ext cx="257243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0347" y="1904382"/>
            <a:ext cx="2352979" cy="23288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인텔리전스 I-위험·검증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347" y="2267712"/>
            <a:ext cx="2334691" cy="109735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PII 묶음 lift 46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재식별 위험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규칙#4: 1.00→0.44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 후보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G1 출처 결손의 계통성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467164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467164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467164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0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814636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81F46"/>
                </a:solidFill>
                <a:latin typeface="맑은 고딕"/>
                <a:ea typeface="맑은 고딕"/>
              </a:rPr>
              <a:t>예시 1건:  </a:t>
            </a:r>
            <a:r>
              <a:rPr sz="850" b="0" i="0">
                <a:solidFill>
                  <a:srgbClr val="282D37"/>
                </a:solidFill>
                <a:latin typeface="맑은 고딕"/>
                <a:ea typeface="맑은 고딕"/>
              </a:rPr>
              <a:t>광주광역시 남구_어린이집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21697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table_source (출처)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21697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1" i="0">
                <a:solidFill>
                  <a:srgbClr val="C0392B"/>
                </a:solidFill>
                <a:latin typeface="맑은 고딕"/>
                <a:ea typeface="맑은 고딕"/>
              </a:rPr>
              <a:t>‘소스’</a:t>
            </a:r>
            <a:r>
              <a:rPr sz="820" b="0" i="0">
                <a:solidFill>
                  <a:srgbClr val="C0392B"/>
                </a:solidFill>
                <a:latin typeface="맑은 고딕"/>
                <a:ea typeface="맑은 고딕"/>
              </a:rPr>
              <a:t>   ✗ placeholder (기관명 소실)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53244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url (원본 링크)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53244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1" i="0">
                <a:solidFill>
                  <a:srgbClr val="C0392B"/>
                </a:solidFill>
                <a:latin typeface="맑은 고딕"/>
                <a:ea typeface="맑은 고딕"/>
              </a:rPr>
              <a:t>‘url’</a:t>
            </a:r>
            <a:r>
              <a:rPr sz="820" b="0" i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484790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484790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82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1633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1633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820" b="0" i="0">
                <a:solidFill>
                  <a:srgbClr val="505050"/>
                </a:solidFill>
                <a:latin typeface="맑은 고딕"/>
                <a:ea typeface="맑은 고딕"/>
              </a:rPr>
              <a:t>   (100건 전부 동일=단일 배치)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4788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4788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82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19" name="g1-ex-note"/>
          <p:cNvSpPr txBox="1"/>
          <p:nvPr/>
        </p:nvSpPr>
        <p:spPr>
          <a:xfrm>
            <a:off x="694944" y="5812600"/>
            <a:ext cx="5029200" cy="3840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0">
                <a:solidFill>
                  <a:srgbClr val="505050"/>
                </a:solidFill>
                <a:latin typeface="맑은 고딕"/>
                <a:ea typeface="맑은 고딕"/>
              </a:rPr>
              <a:t>※ ‘소스’·‘url’ 두 메타필드만 더미로 덮임. 파일명엔 기관명 잔존(95%) → 출처 복구 가능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828800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828800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8288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0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185416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endParaRPr sz="88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계통성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, 타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④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동형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템플릿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유일키·상수컬럼·컬럼폭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동반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(conf 0.79~0.84) →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양식으로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endParaRPr sz="88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⑤ </a:t>
            </a:r>
            <a:r>
              <a:rPr sz="88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88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88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88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88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645152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645152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645152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① 처리 · ③ 대책 · ④ 추가 분석</a:t>
            </a:r>
          </a:p>
        </p:txBody>
      </p:sp>
      <p:sp>
        <p:nvSpPr>
          <p:cNvPr id="527" name="g1-action"/>
          <p:cNvSpPr txBox="1"/>
          <p:nvPr/>
        </p:nvSpPr>
        <p:spPr>
          <a:xfrm>
            <a:off x="6163056" y="5001768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870" b="1" i="0">
                <a:solidFill>
                  <a:srgbClr val="081F46"/>
                </a:solidFill>
                <a:latin typeface="맑은 고딕"/>
                <a:ea typeface="맑은 고딕"/>
              </a:rPr>
              <a:t>처리: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AOI로 ‘소스’=미상 식별 → cate2별 교차표 → A1 규칙으로 결합 포착(lift 6.89)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870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①파일명에서 출처 복구(1순위) ②적재 시 provenance 필수검증(placeholder 차단) ③출처 표준코드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870" b="1" i="0">
                <a:solidFill>
                  <a:srgbClr val="00965F"/>
                </a:solidFill>
                <a:latin typeface="맑은 고딕"/>
                <a:ea typeface="맑은 고딕"/>
              </a:rPr>
              <a:t>추가: </a:t>
            </a:r>
            <a:r>
              <a:rPr sz="870" b="0" i="0">
                <a:solidFill>
                  <a:srgbClr val="282D37"/>
                </a:solidFill>
                <a:latin typeface="맑은 고딕"/>
                <a:ea typeface="맑은 고딕"/>
              </a:rPr>
              <a:t>regi_date·url로 배치 역추적 · table_str_tree 동형군집 확정 · 타 분류 결손율 모니터링</a:t>
            </a: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A1 비자명 연관규칙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출처 누락은 무작위가 아니라 “유아및초·중등교육”에 100% 집중된 계통적 손실임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G2 죽은 메트릭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수치 컬럼 분포 통계(%zero/%null)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1D 통계로 상수성·미충전 판별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vs 실제 값 정의 대조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null_ratio·table_qty_index·cum_search_num=9,840건 전부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품질·활용 지표 미계산 또는 미적재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same_ratio는 비율 아님(rec/distinct=평균중복도)→네이밍 오류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산출 파이프라인 점검·재적재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의미 사전(메타 표준) 수립·명칭 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미충전 지표 폐기 또는 채움 정책 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distinct_value로 null_ratio 실제 재계산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검색로그 연동해 cum_search_num 복원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지표 정의-구현 정합성 감사</a:t>
            </a:r>
          </a:p>
        </p:txBody>
      </p:sp>
      <p:sp>
        <p:nvSpPr>
          <p:cNvPr id="60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분포 통계 ▸ 품질·활용 지표 3종 전부 0</a:t>
            </a:r>
          </a:p>
        </p:txBody>
      </p:sp>
      <p:sp>
        <p:nvSpPr>
          <p:cNvPr id="60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9,840개</a:t>
            </a:r>
          </a:p>
        </p:txBody>
      </p:sp>
      <p:sp>
        <p:nvSpPr>
          <p:cNvPr id="60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카탈로그 품질·활용 지표가 전부 미충전되어 분석축으로 쓸 수 없음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거버넌스 G3 컬럼 표준·품질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col_nm 빈도 집계(최빈 컬럼)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distinct_cnt·pk_ratio 1D 이산화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column_cnt vs (범주+수치) 정합성 검사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데이터기준일자(169)/데이터기준일(46), 연번(168)/순번(79)/번호(34)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 컬럼(distinct=1) 1,372개(13.9%)=정보량 0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회계 불일치 테이블 56개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문자유사도 군집으로 표준어 사전 산출(G3)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상수·중복 컬럼 정리 가이드 배포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스키마 검증 룰(컬럼수 정합)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편집거리·자모 기반 컬럼명 클러스터링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table_str_tree 활용한 명칭군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표준어 매핑의 도메인 영향 평가</a:t>
            </a:r>
          </a:p>
        </p:txBody>
      </p:sp>
      <p:sp>
        <p:nvSpPr>
          <p:cNvPr id="60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distinct=1 스캔 · col_nm 빈도 집계</a:t>
            </a:r>
          </a:p>
        </p:txBody>
      </p:sp>
      <p:sp>
        <p:nvSpPr>
          <p:cNvPr id="61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1F46"/>
                </a:solidFill>
                <a:latin typeface="맑은 고딕"/>
                <a:ea typeface="맑은 고딕"/>
              </a:rPr>
              <a:t>1,372개</a:t>
            </a:r>
          </a:p>
        </p:txBody>
      </p:sp>
      <p:sp>
        <p:nvSpPr>
          <p:cNvPr id="61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개념의 상이한 이름과 상수·불일치 컬럼이 표준 부재를 드러냄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컬럼개념 장바구니 구성(테이블별 보유개념)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FP-Growth 최대빈발 항목집합(≥8테이블·≥3개)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패밀리별 지배 도메인·대표 출처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사학재정군·의료기관군·POI군·국가시험군 등 원형 식별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 기관이 동일 템플릿 다건 공개(예: 국가시험원 9건)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POI군(경도·위도·주소·전화)은 3개 도메인 횡단 범용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POI·의료기관·업소 표준 데이터모델 정의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동일기관 다건의 통합 카탈로깅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단위 스키마 표준화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table_pair_map 유사도로 near-duplicate 확정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combined_pair_map으로 조인키 검증(I3)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패밀리 커버리지·결측 분석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인텔리전스·거버넌스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인텔리전스·거버넌스 교차도메인 재식별 위험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① 이슈별 데이터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의료기관 패밀리+연관규칙(전화→{명,주소} lift 46) 추출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교차도메인 공통 컬럼 집계(전화 140·주소 85·위경도 44)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후보 컬럼 태깅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2151" y="1828800"/>
            <a:ext cx="5382615" cy="21259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42151" y="1828800"/>
            <a:ext cx="5382615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0167" y="18470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2677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명+주소+전화 묶음=데이터셋 내 직접 재식별 가능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공통 식별자로 결합 위험 증폭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양면성: 데이터 연계 기회 ↔ 프라이버시 위험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66928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③ 대책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표준 거버넌스(마스킹·집계화) 적용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결합 위험 데이터셋 공개 전 영향평가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식별자 컬럼 자동 탐지·태깅 체계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4229100"/>
            <a:ext cx="5382615" cy="21259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2151" y="4229100"/>
            <a:ext cx="5382615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0167" y="4247388"/>
            <a:ext cx="5163159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④ 추가 필요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668012"/>
            <a:ext cx="5144871" cy="161391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combined_pair_map linking_ratio로 결합가능성 정량화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k-익명성·재식별 위험도 평가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도메인 횡단 식별자 전수 인벤토리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명·주소·전화번호가 항상 묶여 공개되어 단일·결합 재식별 위험을 형성함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죽은 메트릭·네이밍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컬럼 표준어 사전(G3) 구축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POI·의료기관 표준 데이터모델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PII 식별자 태깅·마스킹 정책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4526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I3(연계): POI·의료기관 패밀리를 linking_ratio로 실제 조인키 검증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G3(거버넌스): 문자유사도 군집으로 표준어 사전 산출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I5(심화): 컬럼 프로파일 서브스페이스 클러스터링으로 원형 정교화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장바구니 규칙 support 낮음(8~44 테이블) → 운영 전 도메인 확인 필요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282D37"/>
                </a:solidFill>
                <a:latin typeface="맑은 고딕"/>
                <a:ea typeface="맑은 고딕"/>
              </a:rPr>
              <a:t>• 한계: 활용/품질 지표 미충전, distinct_value 정렬편향, proj 이미지 손상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3266</Words>
  <Application>Microsoft Office PowerPoint</Application>
  <PresentationFormat>와이드스크린</PresentationFormat>
  <Paragraphs>623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</cp:lastModifiedBy>
  <cp:revision>98</cp:revision>
  <dcterms:created xsi:type="dcterms:W3CDTF">2013-01-27T09:14:16Z</dcterms:created>
  <dcterms:modified xsi:type="dcterms:W3CDTF">2026-06-07T11:58:10Z</dcterms:modified>
  <cp:category/>
</cp:coreProperties>
</file>