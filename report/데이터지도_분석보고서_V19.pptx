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9" r:id="rId10"/>
    <p:sldId id="277" r:id="rId11"/>
    <p:sldId id="265" r:id="rId12"/>
    <p:sldId id="290" r:id="rId13"/>
    <p:sldId id="271" r:id="rId14"/>
    <p:sldId id="275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10" d="100"/>
          <a:sy n="110" d="100"/>
        </p:scale>
        <p:origin x="72" y="221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1CCFCC-030A-4CE8-A15F-A37FC6BFC187}" type="datetimeFigureOut">
              <a:rPr lang="ko-KR" altLang="en-US" smtClean="0"/>
              <a:t>2026-06-08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42B268F-8D29-4E2C-AE3B-299A6712908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255035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42B268F-8D29-4E2C-AE3B-299A67129087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3034983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4572000"/>
            <a:ext cx="12191695" cy="38100"/>
          </a:xfrm>
          <a:prstGeom prst="rect">
            <a:avLst/>
          </a:prstGeom>
          <a:solidFill>
            <a:srgbClr val="0096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25000" lnSpcReduction="20000"/>
          </a:bodyPr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66928" y="2286000"/>
            <a:ext cx="11057839" cy="182880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800"/>
              </a:spcAft>
            </a:pPr>
            <a:r>
              <a:rPr sz="3400" b="1" i="0">
                <a:solidFill>
                  <a:srgbClr val="FFFFFF"/>
                </a:solidFill>
                <a:latin typeface="맑은 고딕"/>
                <a:ea typeface="맑은 고딕"/>
              </a:rPr>
              <a:t>공공데이터 ‘데이터 지도’
거버넌스·인텔리전스 분석 보고서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754880"/>
            <a:ext cx="11057839" cy="109728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C8D2E1"/>
                </a:solidFill>
                <a:latin typeface="맑은 고딕"/>
                <a:ea typeface="맑은 고딕"/>
              </a:rPr>
              <a:t>999개 공공데이터셋(교육·보건·공공행정) 데이터 지도의 비지도 데이터마이닝 분석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00965F"/>
                </a:solidFill>
                <a:latin typeface="맑은 고딕"/>
                <a:ea typeface="맑은 고딕"/>
              </a:rPr>
              <a:t>1D 클러스터링 · AOI 롤업 · FP-Growth 빈발패턴 · 연관규칙 · 국소→전체 검증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109728"/>
            <a:ext cx="11057839" cy="237744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965F"/>
                </a:solidFill>
                <a:latin typeface="맑은 고딕"/>
                <a:ea typeface="맑은 고딕"/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676656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 dirty="0" err="1">
                <a:solidFill>
                  <a:srgbClr val="081F46"/>
                </a:solidFill>
                <a:latin typeface="맑은 고딕"/>
                <a:ea typeface="맑은 고딕"/>
              </a:rPr>
              <a:t>분석</a:t>
            </a:r>
            <a:r>
              <a:rPr sz="2600" b="1" i="0" dirty="0">
                <a:solidFill>
                  <a:srgbClr val="081F46"/>
                </a:solidFill>
                <a:latin typeface="맑은 고딕"/>
                <a:ea typeface="맑은 고딕"/>
              </a:rPr>
              <a:t> </a:t>
            </a:r>
            <a:r>
              <a:rPr sz="2600" b="1" i="0" dirty="0" err="1">
                <a:solidFill>
                  <a:srgbClr val="081F46"/>
                </a:solidFill>
                <a:latin typeface="맑은 고딕"/>
                <a:ea typeface="맑은 고딕"/>
              </a:rPr>
              <a:t>개요</a:t>
            </a:r>
            <a:r>
              <a:rPr sz="2600" b="1" i="0" dirty="0">
                <a:solidFill>
                  <a:srgbClr val="081F46"/>
                </a:solidFill>
                <a:latin typeface="맑은 고딕"/>
                <a:ea typeface="맑은 고딕"/>
              </a:rPr>
              <a:t> 및 </a:t>
            </a:r>
            <a:r>
              <a:rPr sz="2600" b="1" i="0" dirty="0" err="1">
                <a:solidFill>
                  <a:srgbClr val="081F46"/>
                </a:solidFill>
                <a:latin typeface="맑은 고딕"/>
                <a:ea typeface="맑은 고딕"/>
              </a:rPr>
              <a:t>목적</a:t>
            </a:r>
            <a:endParaRPr sz="2600" b="1" i="0" dirty="0">
              <a:solidFill>
                <a:srgbClr val="081F46"/>
              </a:solidFill>
              <a:latin typeface="맑은 고딕"/>
              <a:ea typeface="맑은 고딕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66928" y="1060704"/>
            <a:ext cx="11057839" cy="27940"/>
          </a:xfrm>
          <a:prstGeom prst="rect">
            <a:avLst/>
          </a:prstGeom>
          <a:solidFill>
            <a:srgbClr val="081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25000" lnSpcReduction="20000"/>
          </a:bodyPr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66928" y="1170432"/>
            <a:ext cx="11057839" cy="512064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 dirty="0" err="1">
                <a:solidFill>
                  <a:srgbClr val="505050"/>
                </a:solidFill>
                <a:latin typeface="맑은 고딕"/>
                <a:ea typeface="맑은 고딕"/>
              </a:rPr>
              <a:t>원본</a:t>
            </a:r>
            <a:r>
              <a:rPr sz="1800" b="1" i="0" dirty="0">
                <a:solidFill>
                  <a:srgbClr val="505050"/>
                </a:solidFill>
                <a:latin typeface="맑은 고딕"/>
                <a:ea typeface="맑은 고딕"/>
              </a:rPr>
              <a:t> </a:t>
            </a:r>
            <a:r>
              <a:rPr sz="1800" b="1" i="0" dirty="0" err="1">
                <a:solidFill>
                  <a:srgbClr val="505050"/>
                </a:solidFill>
                <a:latin typeface="맑은 고딕"/>
                <a:ea typeface="맑은 고딕"/>
              </a:rPr>
              <a:t>트랜잭션이</a:t>
            </a:r>
            <a:r>
              <a:rPr sz="1800" b="1" i="0" dirty="0">
                <a:solidFill>
                  <a:srgbClr val="505050"/>
                </a:solidFill>
                <a:latin typeface="맑은 고딕"/>
                <a:ea typeface="맑은 고딕"/>
              </a:rPr>
              <a:t> </a:t>
            </a:r>
            <a:r>
              <a:rPr sz="1800" b="1" i="0" dirty="0" err="1">
                <a:solidFill>
                  <a:srgbClr val="505050"/>
                </a:solidFill>
                <a:latin typeface="맑은 고딕"/>
                <a:ea typeface="맑은 고딕"/>
              </a:rPr>
              <a:t>아닌</a:t>
            </a:r>
            <a:r>
              <a:rPr sz="1800" b="1" i="0" dirty="0">
                <a:solidFill>
                  <a:srgbClr val="505050"/>
                </a:solidFill>
                <a:latin typeface="맑은 고딕"/>
                <a:ea typeface="맑은 고딕"/>
              </a:rPr>
              <a:t> ‘</a:t>
            </a:r>
            <a:r>
              <a:rPr sz="1800" b="1" i="0" dirty="0" err="1">
                <a:solidFill>
                  <a:srgbClr val="505050"/>
                </a:solidFill>
                <a:latin typeface="맑은 고딕"/>
                <a:ea typeface="맑은 고딕"/>
              </a:rPr>
              <a:t>데이터</a:t>
            </a:r>
            <a:r>
              <a:rPr sz="1800" b="1" i="0" dirty="0">
                <a:solidFill>
                  <a:srgbClr val="505050"/>
                </a:solidFill>
                <a:latin typeface="맑은 고딕"/>
                <a:ea typeface="맑은 고딕"/>
              </a:rPr>
              <a:t> </a:t>
            </a:r>
            <a:r>
              <a:rPr sz="1800" b="1" i="0" dirty="0" err="1">
                <a:solidFill>
                  <a:srgbClr val="505050"/>
                </a:solidFill>
                <a:latin typeface="맑은 고딕"/>
                <a:ea typeface="맑은 고딕"/>
              </a:rPr>
              <a:t>지도</a:t>
            </a:r>
            <a:r>
              <a:rPr sz="1800" b="1" i="0" dirty="0">
                <a:solidFill>
                  <a:srgbClr val="505050"/>
                </a:solidFill>
                <a:latin typeface="맑은 고딕"/>
                <a:ea typeface="맑은 고딕"/>
              </a:rPr>
              <a:t>(</a:t>
            </a:r>
            <a:r>
              <a:rPr sz="1800" b="1" i="0" dirty="0" err="1">
                <a:solidFill>
                  <a:srgbClr val="505050"/>
                </a:solidFill>
                <a:latin typeface="맑은 고딕"/>
                <a:ea typeface="맑은 고딕"/>
              </a:rPr>
              <a:t>메타데이터</a:t>
            </a:r>
            <a:r>
              <a:rPr sz="1800" b="1" i="0" dirty="0">
                <a:solidFill>
                  <a:srgbClr val="505050"/>
                </a:solidFill>
                <a:latin typeface="맑은 고딕"/>
                <a:ea typeface="맑은 고딕"/>
              </a:rPr>
              <a:t>)’를 </a:t>
            </a:r>
            <a:r>
              <a:rPr sz="1800" b="1" i="0" dirty="0" err="1">
                <a:solidFill>
                  <a:srgbClr val="505050"/>
                </a:solidFill>
                <a:latin typeface="맑은 고딕"/>
                <a:ea typeface="맑은 고딕"/>
              </a:rPr>
              <a:t>비지도</a:t>
            </a:r>
            <a:r>
              <a:rPr sz="1800" b="1" i="0" dirty="0">
                <a:solidFill>
                  <a:srgbClr val="505050"/>
                </a:solidFill>
                <a:latin typeface="맑은 고딕"/>
                <a:ea typeface="맑은 고딕"/>
              </a:rPr>
              <a:t> </a:t>
            </a:r>
            <a:r>
              <a:rPr sz="1800" b="1" i="0" dirty="0" err="1">
                <a:solidFill>
                  <a:srgbClr val="505050"/>
                </a:solidFill>
                <a:latin typeface="맑은 고딕"/>
                <a:ea typeface="맑은 고딕"/>
              </a:rPr>
              <a:t>알고리즘으로</a:t>
            </a:r>
            <a:r>
              <a:rPr sz="1800" b="1" i="0" dirty="0">
                <a:solidFill>
                  <a:srgbClr val="505050"/>
                </a:solidFill>
                <a:latin typeface="맑은 고딕"/>
                <a:ea typeface="맑은 고딕"/>
              </a:rPr>
              <a:t> </a:t>
            </a:r>
            <a:r>
              <a:rPr sz="1800" b="1" i="0" dirty="0" err="1">
                <a:solidFill>
                  <a:srgbClr val="505050"/>
                </a:solidFill>
                <a:latin typeface="맑은 고딕"/>
                <a:ea typeface="맑은 고딕"/>
              </a:rPr>
              <a:t>분석함</a:t>
            </a:r>
            <a:endParaRPr sz="1800" b="1" i="0" dirty="0">
              <a:solidFill>
                <a:srgbClr val="505050"/>
              </a:solidFill>
              <a:latin typeface="맑은 고딕"/>
              <a:ea typeface="맑은 고딕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094415" y="6437376"/>
            <a:ext cx="82296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87878"/>
                </a:solidFill>
                <a:latin typeface="맑은 고딕"/>
                <a:ea typeface="맑은 고딕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5528" y="1828800"/>
            <a:ext cx="7198682" cy="166956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•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대상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: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공공데이터포털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999개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데이터셋의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프로파일링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산출물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(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데이터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지도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)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•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구성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: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컬럼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/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테이블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프로파일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·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쌍별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값·도메인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중첩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·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유사도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클러스터</a:t>
            </a:r>
            <a:endParaRPr sz="15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•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목표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: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데이터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거버넌스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이슈와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메타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수준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비즈니스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인텔리전스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도출</a:t>
            </a:r>
            <a:endParaRPr sz="15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•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형식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: ‘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주말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&gt;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기저귀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&gt;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맥주’형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연관규칙을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데이터셋·컬럼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수준에서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발굴</a:t>
            </a:r>
            <a:endParaRPr lang="ko-KR" altLang="en-US" sz="15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lang="en-US" altLang="ko-KR"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• </a:t>
            </a:r>
            <a:r>
              <a:rPr lang="ko-KR" altLang="en-US"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원칙</a:t>
            </a:r>
            <a:r>
              <a:rPr lang="en-US" altLang="ko-KR"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: LLM </a:t>
            </a:r>
            <a:r>
              <a:rPr lang="ko-KR" altLang="en-US"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추론 배제</a:t>
            </a:r>
            <a:r>
              <a:rPr lang="en-US" altLang="ko-KR"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, </a:t>
            </a:r>
            <a:r>
              <a:rPr lang="ko-KR" altLang="en-US"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모든 결론은 설명가능한 알고리즘 실행 결과</a:t>
            </a:r>
          </a:p>
        </p:txBody>
      </p:sp>
      <p:pic>
        <p:nvPicPr>
          <p:cNvPr id="12" name="Picture 11" descr="fig_doma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88936" y="2579261"/>
            <a:ext cx="4428439" cy="3163171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109728"/>
            <a:ext cx="11057839" cy="237744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965F"/>
                </a:solidFill>
                <a:latin typeface="맑은 고딕"/>
                <a:ea typeface="맑은 고딕"/>
              </a:rPr>
              <a:t>DATA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676656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81F46"/>
                </a:solidFill>
                <a:latin typeface="맑은 고딕"/>
                <a:ea typeface="맑은 고딕"/>
              </a:rPr>
              <a:t>대상 데이터 구성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60704"/>
            <a:ext cx="11057839" cy="27940"/>
          </a:xfrm>
          <a:prstGeom prst="rect">
            <a:avLst/>
          </a:prstGeom>
          <a:solidFill>
            <a:srgbClr val="081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25000" lnSpcReduction="20000"/>
          </a:bodyPr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66928" y="1170432"/>
            <a:ext cx="11057839" cy="512064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505050"/>
                </a:solidFill>
                <a:latin typeface="맑은 고딕"/>
                <a:ea typeface="맑은 고딕"/>
              </a:rPr>
              <a:t>9개 파일 = 프로파일 + 쌍별 중첩 + 유사도 클러스터의 3계층 구조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37376"/>
            <a:ext cx="82296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87878"/>
                </a:solidFill>
                <a:latin typeface="맑은 고딕"/>
                <a:ea typeface="맑은 고딕"/>
              </a:rPr>
              <a:t>3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60667075"/>
              </p:ext>
            </p:extLst>
          </p:nvPr>
        </p:nvGraphicFramePr>
        <p:xfrm>
          <a:off x="566928" y="1993900"/>
          <a:ext cx="11057837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409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053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1156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47040">
                <a:tc>
                  <a:txBody>
                    <a:bodyPr/>
                    <a:lstStyle/>
                    <a:p>
                      <a:pPr algn="ctr"/>
                      <a:r>
                        <a:rPr sz="1400" b="1" i="0" dirty="0" err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파일</a:t>
                      </a:r>
                      <a:endParaRPr sz="1400" b="1" i="0" dirty="0">
                        <a:solidFill>
                          <a:srgbClr val="FFFFFF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63500" marR="63500" marT="25400" marB="25400" anchor="ctr">
                    <a:solidFill>
                      <a:srgbClr val="081F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i="0" dirty="0" err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역할</a:t>
                      </a:r>
                      <a:endParaRPr sz="1400" b="1" i="0" dirty="0">
                        <a:solidFill>
                          <a:srgbClr val="FFFFFF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63500" marR="63500" marT="25400" marB="25400" anchor="ctr">
                    <a:solidFill>
                      <a:srgbClr val="081F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i="0" dirty="0" err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규모</a:t>
                      </a:r>
                      <a:endParaRPr sz="1400" b="1" i="0" dirty="0">
                        <a:solidFill>
                          <a:srgbClr val="FFFFFF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63500" marR="63500" marT="25400" marB="25400" anchor="ctr">
                    <a:solidFill>
                      <a:srgbClr val="081F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7040">
                <a:tc>
                  <a:txBody>
                    <a:bodyPr/>
                    <a:lstStyle/>
                    <a:p>
                      <a:pPr algn="ctr"/>
                      <a:r>
                        <a:rPr sz="1400" b="1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table_map</a:t>
                      </a:r>
                      <a:endParaRPr sz="1400" b="1" i="0" dirty="0">
                        <a:solidFill>
                          <a:srgbClr val="282D37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데이터셋</a:t>
                      </a:r>
                      <a:r>
                        <a:rPr sz="1400" b="0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1400" b="0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메타+분류+통계</a:t>
                      </a:r>
                      <a:endParaRPr sz="1400" b="0" i="0" dirty="0">
                        <a:solidFill>
                          <a:srgbClr val="282D37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999행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7040">
                <a:tc>
                  <a:txBody>
                    <a:bodyPr/>
                    <a:lstStyle/>
                    <a:p>
                      <a:pPr algn="ctr"/>
                      <a:r>
                        <a:rPr sz="1400" b="1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column_map</a:t>
                      </a:r>
                      <a:endParaRPr sz="1400" b="1" i="0" dirty="0">
                        <a:solidFill>
                          <a:srgbClr val="282D37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컬럼</a:t>
                      </a:r>
                      <a:r>
                        <a:rPr sz="1400" b="0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1400" b="0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프로파일</a:t>
                      </a:r>
                      <a:r>
                        <a:rPr sz="1400" b="0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(</a:t>
                      </a:r>
                      <a:r>
                        <a:rPr sz="1400" b="0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키품질·고유값</a:t>
                      </a:r>
                      <a:r>
                        <a:rPr sz="1400" b="0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 등)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9,840행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7040">
                <a:tc>
                  <a:txBody>
                    <a:bodyPr/>
                    <a:lstStyle/>
                    <a:p>
                      <a:pPr algn="ctr"/>
                      <a:r>
                        <a:rPr sz="1400" b="1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distinct_value</a:t>
                      </a:r>
                      <a:endParaRPr sz="1400" b="1" i="0" dirty="0">
                        <a:solidFill>
                          <a:srgbClr val="282D37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컬럼별 distinct 값+빈도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803만행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7040">
                <a:tc>
                  <a:txBody>
                    <a:bodyPr/>
                    <a:lstStyle/>
                    <a:p>
                      <a:pPr algn="ctr"/>
                      <a:r>
                        <a:rPr sz="1400" b="1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table/</a:t>
                      </a:r>
                      <a:r>
                        <a:rPr sz="1400" b="1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column_summary_map</a:t>
                      </a:r>
                      <a:endParaRPr sz="1400" b="1" i="0" dirty="0">
                        <a:solidFill>
                          <a:srgbClr val="282D37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객체별</a:t>
                      </a:r>
                      <a:r>
                        <a:rPr sz="1400" b="0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1400" b="0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중첩</a:t>
                      </a:r>
                      <a:r>
                        <a:rPr sz="1400" b="0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1400" b="0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통계</a:t>
                      </a:r>
                      <a:r>
                        <a:rPr sz="1400" b="0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1400" b="0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롤업</a:t>
                      </a:r>
                      <a:endParaRPr sz="1400" b="0" i="0" dirty="0">
                        <a:solidFill>
                          <a:srgbClr val="282D37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996/8,360행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47040">
                <a:tc>
                  <a:txBody>
                    <a:bodyPr/>
                    <a:lstStyle/>
                    <a:p>
                      <a:pPr algn="ctr"/>
                      <a:r>
                        <a:rPr sz="1400" b="1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combined_pair_map</a:t>
                      </a:r>
                      <a:endParaRPr sz="1400" b="1" i="0" dirty="0">
                        <a:solidFill>
                          <a:srgbClr val="282D37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컬럼쌍 조인가능성(linking_ratio)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74만행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47040">
                <a:tc>
                  <a:txBody>
                    <a:bodyPr/>
                    <a:lstStyle/>
                    <a:p>
                      <a:pPr algn="ctr"/>
                      <a:r>
                        <a:rPr sz="1400" b="1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table_pair_map</a:t>
                      </a:r>
                      <a:endParaRPr sz="1400" b="1" i="0" dirty="0">
                        <a:solidFill>
                          <a:srgbClr val="282D37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테이블쌍</a:t>
                      </a:r>
                      <a:r>
                        <a:rPr sz="1400" b="0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1400" b="0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유사도</a:t>
                      </a:r>
                      <a:endParaRPr sz="1400" b="0" i="0" dirty="0">
                        <a:solidFill>
                          <a:srgbClr val="282D37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25만행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47040">
                <a:tc>
                  <a:txBody>
                    <a:bodyPr/>
                    <a:lstStyle/>
                    <a:p>
                      <a:pPr algn="ctr"/>
                      <a:r>
                        <a:rPr sz="1400" b="1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column_pair_map</a:t>
                      </a:r>
                      <a:endParaRPr sz="1400" b="1" i="0" dirty="0">
                        <a:solidFill>
                          <a:srgbClr val="282D37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컬럼쌍</a:t>
                      </a:r>
                      <a:r>
                        <a:rPr sz="1400" b="0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1400" b="0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값·도메인</a:t>
                      </a:r>
                      <a:r>
                        <a:rPr sz="1400" b="0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1400" b="0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중첩·중복</a:t>
                      </a:r>
                      <a:endParaRPr sz="1400" b="0" i="0" dirty="0">
                        <a:solidFill>
                          <a:srgbClr val="282D37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524만행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47040">
                <a:tc>
                  <a:txBody>
                    <a:bodyPr/>
                    <a:lstStyle/>
                    <a:p>
                      <a:pPr algn="ctr"/>
                      <a:r>
                        <a:rPr sz="1400" b="1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*_</a:t>
                      </a:r>
                      <a:r>
                        <a:rPr sz="1400" b="1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value_tree</a:t>
                      </a:r>
                      <a:r>
                        <a:rPr sz="1400" b="1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 / *_</a:t>
                      </a:r>
                      <a:r>
                        <a:rPr sz="1400" b="1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str_tree</a:t>
                      </a:r>
                      <a:endParaRPr sz="1400" b="1" i="0" dirty="0">
                        <a:solidFill>
                          <a:srgbClr val="282D37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값·이름</a:t>
                      </a:r>
                      <a:r>
                        <a:rPr sz="1400" b="0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1400" b="0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유사도</a:t>
                      </a:r>
                      <a:r>
                        <a:rPr sz="1400" b="0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1400" b="0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계층</a:t>
                      </a:r>
                      <a:r>
                        <a:rPr sz="1400" b="0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1400" b="0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클러스터</a:t>
                      </a:r>
                      <a:endParaRPr sz="1400" b="0" i="0" dirty="0">
                        <a:solidFill>
                          <a:srgbClr val="282D37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331~4,549행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109728"/>
            <a:ext cx="11057839" cy="237744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965F"/>
                </a:solidFill>
                <a:latin typeface="맑은 고딕"/>
                <a:ea typeface="맑은 고딕"/>
              </a:rPr>
              <a:t>METHOD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676656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81F46"/>
                </a:solidFill>
                <a:latin typeface="맑은 고딕"/>
                <a:ea typeface="맑은 고딕"/>
              </a:rPr>
              <a:t>분석 방법론 파이프라인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60704"/>
            <a:ext cx="11057839" cy="27940"/>
          </a:xfrm>
          <a:prstGeom prst="rect">
            <a:avLst/>
          </a:prstGeom>
          <a:solidFill>
            <a:srgbClr val="081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25000" lnSpcReduction="20000"/>
          </a:bodyPr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66928" y="1170432"/>
            <a:ext cx="11057839" cy="512064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505050"/>
                </a:solidFill>
                <a:latin typeface="맑은 고딕"/>
                <a:ea typeface="맑은 고딕"/>
              </a:rPr>
              <a:t>이산화 → AOI 롤업 → 빈발패턴 → 연관규칙 → 국소·전체 검증의 5단계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37376"/>
            <a:ext cx="82296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87878"/>
                </a:solidFill>
                <a:latin typeface="맑은 고딕"/>
                <a:ea typeface="맑은 고딕"/>
              </a:rPr>
              <a:t>4</a:t>
            </a:r>
          </a:p>
        </p:txBody>
      </p:sp>
      <p:sp>
        <p:nvSpPr>
          <p:cNvPr id="7" name="Pentagon 6"/>
          <p:cNvSpPr/>
          <p:nvPr/>
        </p:nvSpPr>
        <p:spPr>
          <a:xfrm>
            <a:off x="566928" y="1920240"/>
            <a:ext cx="2138415" cy="868680"/>
          </a:xfrm>
          <a:prstGeom prst="homePlate">
            <a:avLst/>
          </a:prstGeom>
          <a:solidFill>
            <a:srgbClr val="081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sz="1600" b="1" i="0" dirty="0">
                <a:solidFill>
                  <a:srgbClr val="FFFFFF"/>
                </a:solidFill>
                <a:latin typeface="맑은 고딕"/>
                <a:ea typeface="맑은 고딕"/>
              </a:rPr>
              <a:t>① </a:t>
            </a:r>
            <a:r>
              <a:rPr sz="1600" b="1" i="0" dirty="0" err="1">
                <a:solidFill>
                  <a:srgbClr val="FFFFFF"/>
                </a:solidFill>
                <a:latin typeface="맑은 고딕"/>
                <a:ea typeface="맑은 고딕"/>
              </a:rPr>
              <a:t>이산화</a:t>
            </a:r>
            <a:endParaRPr sz="1600" b="1" i="0" dirty="0">
              <a:solidFill>
                <a:srgbClr val="FFFFFF"/>
              </a:solidFill>
              <a:latin typeface="맑은 고딕"/>
              <a:ea typeface="맑은 고딕"/>
            </a:endParaRPr>
          </a:p>
          <a:p>
            <a:pPr algn="ctr"/>
            <a:r>
              <a:rPr sz="1050" b="0" i="0" dirty="0">
                <a:solidFill>
                  <a:srgbClr val="FFFFFF"/>
                </a:solidFill>
                <a:latin typeface="맑은 고딕"/>
                <a:ea typeface="맑은 고딕"/>
              </a:rPr>
              <a:t>1D </a:t>
            </a:r>
            <a:r>
              <a:rPr sz="1050" b="0" i="0" dirty="0" err="1">
                <a:solidFill>
                  <a:srgbClr val="FFFFFF"/>
                </a:solidFill>
                <a:latin typeface="맑은 고딕"/>
                <a:ea typeface="맑은 고딕"/>
              </a:rPr>
              <a:t>KMeans</a:t>
            </a:r>
            <a:endParaRPr sz="1050" b="0" i="0" dirty="0">
              <a:solidFill>
                <a:srgbClr val="FFFFFF"/>
              </a:solidFill>
              <a:latin typeface="맑은 고딕"/>
              <a:ea typeface="맑은 고딕"/>
            </a:endParaRPr>
          </a:p>
        </p:txBody>
      </p:sp>
      <p:sp>
        <p:nvSpPr>
          <p:cNvPr id="8" name="Pentagon 7"/>
          <p:cNvSpPr/>
          <p:nvPr/>
        </p:nvSpPr>
        <p:spPr>
          <a:xfrm>
            <a:off x="2796783" y="1920240"/>
            <a:ext cx="2138415" cy="868680"/>
          </a:xfrm>
          <a:prstGeom prst="homePlate">
            <a:avLst/>
          </a:prstGeom>
          <a:solidFill>
            <a:srgbClr val="0096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맑은 고딕"/>
                <a:ea typeface="맑은 고딕"/>
              </a:rPr>
              <a:t>② AOI 롤업</a:t>
            </a:r>
          </a:p>
          <a:p>
            <a:pPr algn="ctr"/>
            <a:r>
              <a:rPr sz="1050" b="0" i="0">
                <a:solidFill>
                  <a:srgbClr val="FFFFFF"/>
                </a:solidFill>
                <a:latin typeface="맑은 고딕"/>
                <a:ea typeface="맑은 고딕"/>
              </a:rPr>
              <a:t>개념계층</a:t>
            </a:r>
          </a:p>
        </p:txBody>
      </p:sp>
      <p:sp>
        <p:nvSpPr>
          <p:cNvPr id="9" name="Pentagon 8"/>
          <p:cNvSpPr/>
          <p:nvPr/>
        </p:nvSpPr>
        <p:spPr>
          <a:xfrm>
            <a:off x="5026639" y="1920240"/>
            <a:ext cx="2138415" cy="868680"/>
          </a:xfrm>
          <a:prstGeom prst="homePlate">
            <a:avLst/>
          </a:prstGeom>
          <a:solidFill>
            <a:srgbClr val="081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맑은 고딕"/>
                <a:ea typeface="맑은 고딕"/>
              </a:rPr>
              <a:t>③ 빈발패턴</a:t>
            </a:r>
          </a:p>
          <a:p>
            <a:pPr algn="ctr"/>
            <a:r>
              <a:rPr sz="1050" b="0" i="0">
                <a:solidFill>
                  <a:srgbClr val="FFFFFF"/>
                </a:solidFill>
                <a:latin typeface="맑은 고딕"/>
                <a:ea typeface="맑은 고딕"/>
              </a:rPr>
              <a:t>FP-Growth</a:t>
            </a:r>
          </a:p>
        </p:txBody>
      </p:sp>
      <p:sp>
        <p:nvSpPr>
          <p:cNvPr id="10" name="Pentagon 9"/>
          <p:cNvSpPr/>
          <p:nvPr/>
        </p:nvSpPr>
        <p:spPr>
          <a:xfrm>
            <a:off x="7256495" y="1920240"/>
            <a:ext cx="2138415" cy="868680"/>
          </a:xfrm>
          <a:prstGeom prst="homePlate">
            <a:avLst/>
          </a:prstGeom>
          <a:solidFill>
            <a:srgbClr val="0096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맑은 고딕"/>
                <a:ea typeface="맑은 고딕"/>
              </a:rPr>
              <a:t>④ 연관규칙</a:t>
            </a:r>
          </a:p>
          <a:p>
            <a:pPr algn="ctr"/>
            <a:r>
              <a:rPr sz="1050" b="0" i="0">
                <a:solidFill>
                  <a:srgbClr val="FFFFFF"/>
                </a:solidFill>
                <a:latin typeface="맑은 고딕"/>
                <a:ea typeface="맑은 고딕"/>
              </a:rPr>
              <a:t>lift 등</a:t>
            </a:r>
          </a:p>
        </p:txBody>
      </p:sp>
      <p:sp>
        <p:nvSpPr>
          <p:cNvPr id="11" name="Pentagon 10"/>
          <p:cNvSpPr/>
          <p:nvPr/>
        </p:nvSpPr>
        <p:spPr>
          <a:xfrm>
            <a:off x="9486351" y="1920240"/>
            <a:ext cx="2138415" cy="868680"/>
          </a:xfrm>
          <a:prstGeom prst="homePlate">
            <a:avLst/>
          </a:prstGeom>
          <a:solidFill>
            <a:srgbClr val="081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맑은 고딕"/>
                <a:ea typeface="맑은 고딕"/>
              </a:rPr>
              <a:t>⑤ 검증</a:t>
            </a:r>
          </a:p>
          <a:p>
            <a:pPr algn="ctr"/>
            <a:r>
              <a:rPr sz="1050" b="0" i="0">
                <a:solidFill>
                  <a:srgbClr val="FFFFFF"/>
                </a:solidFill>
                <a:latin typeface="맑은 고딕"/>
                <a:ea typeface="맑은 고딕"/>
              </a:rPr>
              <a:t>규칙#4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16087620"/>
              </p:ext>
            </p:extLst>
          </p:nvPr>
        </p:nvGraphicFramePr>
        <p:xfrm>
          <a:off x="566928" y="3063240"/>
          <a:ext cx="11057838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001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4306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91465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400" b="1" i="0" dirty="0" err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단계</a:t>
                      </a:r>
                      <a:endParaRPr sz="1400" b="1" i="0" dirty="0">
                        <a:solidFill>
                          <a:srgbClr val="FFFFFF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63500" marR="63500" marT="25400" marB="25400" anchor="ctr">
                    <a:solidFill>
                      <a:srgbClr val="081F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i="0" dirty="0" err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알고리즘</a:t>
                      </a:r>
                      <a:endParaRPr sz="1400" b="1" i="0" dirty="0">
                        <a:solidFill>
                          <a:srgbClr val="FFFFFF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63500" marR="63500" marT="25400" marB="25400" anchor="ctr">
                    <a:solidFill>
                      <a:srgbClr val="081F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i="0" dirty="0" err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적용</a:t>
                      </a:r>
                      <a:endParaRPr sz="1400" b="1" i="0" dirty="0">
                        <a:solidFill>
                          <a:srgbClr val="FFFFFF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63500" marR="63500" marT="25400" marB="25400" anchor="ctr">
                    <a:solidFill>
                      <a:srgbClr val="081F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400" b="1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이산화</a:t>
                      </a:r>
                      <a:endParaRPr sz="1400" b="1" i="0" dirty="0">
                        <a:solidFill>
                          <a:srgbClr val="282D37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log1p + 1D </a:t>
                      </a:r>
                      <a:r>
                        <a:rPr sz="1400" b="0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KMeans</a:t>
                      </a:r>
                      <a:endParaRPr sz="1400" b="0" i="0" dirty="0">
                        <a:solidFill>
                          <a:srgbClr val="282D37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rec_cnt·column_cnt·수치비</a:t>
                      </a:r>
                      <a:r>
                        <a:rPr sz="1400" b="0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 → </a:t>
                      </a:r>
                      <a:r>
                        <a:rPr sz="1400" b="0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순서형</a:t>
                      </a:r>
                      <a:r>
                        <a:rPr sz="1400" b="0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1400" b="0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구간</a:t>
                      </a:r>
                      <a:endParaRPr sz="1400" b="0" i="0" dirty="0">
                        <a:solidFill>
                          <a:srgbClr val="282D37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400" b="1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AOI </a:t>
                      </a:r>
                      <a:r>
                        <a:rPr sz="1400" b="1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롤업</a:t>
                      </a:r>
                      <a:endParaRPr sz="1400" b="1" i="0" dirty="0">
                        <a:solidFill>
                          <a:srgbClr val="282D37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정규식</a:t>
                      </a:r>
                      <a:r>
                        <a:rPr sz="1400" b="0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1400" b="0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개념계층</a:t>
                      </a:r>
                      <a:endParaRPr sz="1400" b="0" i="0" dirty="0">
                        <a:solidFill>
                          <a:srgbClr val="282D37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table_source→기관유형, col_nm→컬럼개념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400" b="1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빈발패턴</a:t>
                      </a:r>
                      <a:endParaRPr sz="1400" b="1" i="0" dirty="0">
                        <a:solidFill>
                          <a:srgbClr val="282D37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FP-Growth(max_len=3)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테이블</a:t>
                      </a:r>
                      <a:r>
                        <a:rPr sz="1400" b="0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=</a:t>
                      </a:r>
                      <a:r>
                        <a:rPr sz="1400" b="0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거래</a:t>
                      </a:r>
                      <a:r>
                        <a:rPr sz="1400" b="0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, </a:t>
                      </a:r>
                      <a:r>
                        <a:rPr sz="1400" b="0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속성·컬럼</a:t>
                      </a:r>
                      <a:r>
                        <a:rPr sz="1400" b="0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=</a:t>
                      </a:r>
                      <a:r>
                        <a:rPr sz="1400" b="0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아이템</a:t>
                      </a:r>
                      <a:endParaRPr sz="1400" b="0" i="0" dirty="0">
                        <a:solidFill>
                          <a:srgbClr val="282D37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400" b="1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연관규칙</a:t>
                      </a:r>
                      <a:endParaRPr sz="1400" b="1" i="0" dirty="0">
                        <a:solidFill>
                          <a:srgbClr val="282D37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association_rules</a:t>
                      </a:r>
                      <a:r>
                        <a:rPr sz="1400" b="0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(lift)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support·confidence·lift·leverage·conviction</a:t>
                      </a:r>
                      <a:endParaRPr sz="1400" b="0" i="0" dirty="0">
                        <a:solidFill>
                          <a:srgbClr val="282D37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400" b="1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검증</a:t>
                      </a:r>
                      <a:endParaRPr sz="1400" b="1" i="0" dirty="0">
                        <a:solidFill>
                          <a:srgbClr val="282D37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도메인별→전체</a:t>
                      </a:r>
                      <a:r>
                        <a:rPr sz="1400" b="0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1400" b="0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재계산</a:t>
                      </a:r>
                      <a:endParaRPr sz="1400" b="0" i="0" dirty="0">
                        <a:solidFill>
                          <a:srgbClr val="282D37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국소</a:t>
                      </a:r>
                      <a:r>
                        <a:rPr sz="1400" b="0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1400" b="0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강규칙의</a:t>
                      </a:r>
                      <a:r>
                        <a:rPr sz="1400" b="0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1400" b="0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일반화</a:t>
                      </a:r>
                      <a:r>
                        <a:rPr sz="1400" b="0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1400" b="0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여부</a:t>
                      </a:r>
                      <a:r>
                        <a:rPr sz="1400" b="0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1400" b="0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판정</a:t>
                      </a:r>
                      <a:endParaRPr sz="1400" b="0" i="0" dirty="0">
                        <a:solidFill>
                          <a:srgbClr val="282D37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109728"/>
            <a:ext cx="11057839" cy="237744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965F"/>
                </a:solidFill>
                <a:latin typeface="맑은 고딕"/>
                <a:ea typeface="맑은 고딕"/>
              </a:rPr>
              <a:t>공통 전처리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676656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 dirty="0" err="1">
                <a:solidFill>
                  <a:srgbClr val="081F46"/>
                </a:solidFill>
                <a:latin typeface="맑은 고딕"/>
                <a:ea typeface="맑은 고딕"/>
              </a:rPr>
              <a:t>공통</a:t>
            </a:r>
            <a:r>
              <a:rPr sz="2600" b="1" i="0" dirty="0">
                <a:solidFill>
                  <a:srgbClr val="081F46"/>
                </a:solidFill>
                <a:latin typeface="맑은 고딕"/>
                <a:ea typeface="맑은 고딕"/>
              </a:rPr>
              <a:t> </a:t>
            </a:r>
            <a:r>
              <a:rPr sz="2600" b="1" i="0" dirty="0" err="1">
                <a:solidFill>
                  <a:srgbClr val="081F46"/>
                </a:solidFill>
                <a:latin typeface="맑은 고딕"/>
                <a:ea typeface="맑은 고딕"/>
              </a:rPr>
              <a:t>데이터</a:t>
            </a:r>
            <a:r>
              <a:rPr sz="2600" b="1" i="0" dirty="0">
                <a:solidFill>
                  <a:srgbClr val="081F46"/>
                </a:solidFill>
                <a:latin typeface="맑은 고딕"/>
                <a:ea typeface="맑은 고딕"/>
              </a:rPr>
              <a:t> </a:t>
            </a:r>
            <a:r>
              <a:rPr sz="2600" b="1" i="0" dirty="0" err="1">
                <a:solidFill>
                  <a:srgbClr val="081F46"/>
                </a:solidFill>
                <a:latin typeface="맑은 고딕"/>
                <a:ea typeface="맑은 고딕"/>
              </a:rPr>
              <a:t>준비</a:t>
            </a:r>
            <a:r>
              <a:rPr sz="2600" b="1" i="0" dirty="0">
                <a:solidFill>
                  <a:srgbClr val="081F46"/>
                </a:solidFill>
                <a:latin typeface="맑은 고딕"/>
                <a:ea typeface="맑은 고딕"/>
              </a:rPr>
              <a:t> ① </a:t>
            </a:r>
            <a:r>
              <a:rPr sz="2600" b="1" i="0" dirty="0" err="1">
                <a:solidFill>
                  <a:srgbClr val="081F46"/>
                </a:solidFill>
                <a:latin typeface="맑은 고딕"/>
                <a:ea typeface="맑은 고딕"/>
              </a:rPr>
              <a:t>적재·인코딩·형변환</a:t>
            </a:r>
            <a:endParaRPr sz="2600" b="1" i="0" dirty="0">
              <a:solidFill>
                <a:srgbClr val="081F46"/>
              </a:solidFill>
              <a:latin typeface="맑은 고딕"/>
              <a:ea typeface="맑은 고딕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66928" y="1060704"/>
            <a:ext cx="11057839" cy="27940"/>
          </a:xfrm>
          <a:prstGeom prst="rect">
            <a:avLst/>
          </a:prstGeom>
          <a:solidFill>
            <a:srgbClr val="081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25000" lnSpcReduction="20000"/>
          </a:bodyPr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66928" y="1280430"/>
            <a:ext cx="11057839" cy="29206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 dirty="0" err="1">
                <a:solidFill>
                  <a:srgbClr val="505050"/>
                </a:solidFill>
                <a:latin typeface="맑은 고딕"/>
                <a:ea typeface="맑은 고딕"/>
              </a:rPr>
              <a:t>모든</a:t>
            </a:r>
            <a:r>
              <a:rPr sz="1800" b="1" i="0" dirty="0">
                <a:solidFill>
                  <a:srgbClr val="505050"/>
                </a:solidFill>
                <a:latin typeface="맑은 고딕"/>
                <a:ea typeface="맑은 고딕"/>
              </a:rPr>
              <a:t> </a:t>
            </a:r>
            <a:r>
              <a:rPr sz="1800" b="1" i="0" dirty="0" err="1">
                <a:solidFill>
                  <a:srgbClr val="505050"/>
                </a:solidFill>
                <a:latin typeface="맑은 고딕"/>
                <a:ea typeface="맑은 고딕"/>
              </a:rPr>
              <a:t>이슈가</a:t>
            </a:r>
            <a:r>
              <a:rPr sz="1800" b="1" i="0" dirty="0">
                <a:solidFill>
                  <a:srgbClr val="505050"/>
                </a:solidFill>
                <a:latin typeface="맑은 고딕"/>
                <a:ea typeface="맑은 고딕"/>
              </a:rPr>
              <a:t> </a:t>
            </a:r>
            <a:r>
              <a:rPr sz="1800" b="1" i="0" dirty="0" err="1">
                <a:solidFill>
                  <a:srgbClr val="505050"/>
                </a:solidFill>
                <a:latin typeface="맑은 고딕"/>
                <a:ea typeface="맑은 고딕"/>
              </a:rPr>
              <a:t>공유하는</a:t>
            </a:r>
            <a:r>
              <a:rPr sz="1800" b="1" i="0" dirty="0">
                <a:solidFill>
                  <a:srgbClr val="505050"/>
                </a:solidFill>
                <a:latin typeface="맑은 고딕"/>
                <a:ea typeface="맑은 고딕"/>
              </a:rPr>
              <a:t> </a:t>
            </a:r>
            <a:r>
              <a:rPr sz="1800" b="1" i="0" dirty="0" err="1">
                <a:solidFill>
                  <a:srgbClr val="505050"/>
                </a:solidFill>
                <a:latin typeface="맑은 고딕"/>
                <a:ea typeface="맑은 고딕"/>
              </a:rPr>
              <a:t>기반</a:t>
            </a:r>
            <a:r>
              <a:rPr sz="1800" b="1" i="0" dirty="0">
                <a:solidFill>
                  <a:srgbClr val="505050"/>
                </a:solidFill>
                <a:latin typeface="맑은 고딕"/>
                <a:ea typeface="맑은 고딕"/>
              </a:rPr>
              <a:t> </a:t>
            </a:r>
            <a:r>
              <a:rPr sz="1800" b="1" i="0" dirty="0" err="1">
                <a:solidFill>
                  <a:srgbClr val="505050"/>
                </a:solidFill>
                <a:latin typeface="맑은 고딕"/>
                <a:ea typeface="맑은 고딕"/>
              </a:rPr>
              <a:t>전처리</a:t>
            </a:r>
            <a:r>
              <a:rPr lang="en-US" b="1" dirty="0">
                <a:solidFill>
                  <a:srgbClr val="505050"/>
                </a:solidFill>
                <a:latin typeface="맑은 고딕"/>
                <a:ea typeface="맑은 고딕"/>
              </a:rPr>
              <a:t>: </a:t>
            </a:r>
            <a:r>
              <a:rPr sz="1800" b="1" i="0" dirty="0" err="1">
                <a:solidFill>
                  <a:srgbClr val="505050"/>
                </a:solidFill>
                <a:latin typeface="맑은 고딕"/>
                <a:ea typeface="맑은 고딕"/>
              </a:rPr>
              <a:t>인코딩</a:t>
            </a:r>
            <a:r>
              <a:rPr sz="1800" b="1" i="0" dirty="0">
                <a:solidFill>
                  <a:srgbClr val="505050"/>
                </a:solidFill>
                <a:latin typeface="맑은 고딕"/>
                <a:ea typeface="맑은 고딕"/>
              </a:rPr>
              <a:t> </a:t>
            </a:r>
            <a:r>
              <a:rPr sz="1800" b="1" i="0" dirty="0" err="1">
                <a:solidFill>
                  <a:srgbClr val="505050"/>
                </a:solidFill>
                <a:latin typeface="맑은 고딕"/>
                <a:ea typeface="맑은 고딕"/>
              </a:rPr>
              <a:t>확정</a:t>
            </a:r>
            <a:r>
              <a:rPr lang="en-US" sz="1800" b="1" i="0" dirty="0">
                <a:solidFill>
                  <a:srgbClr val="505050"/>
                </a:solidFill>
                <a:latin typeface="맑은 고딕"/>
                <a:ea typeface="맑은 고딕"/>
              </a:rPr>
              <a:t> </a:t>
            </a:r>
            <a:r>
              <a:rPr lang="ko-KR" altLang="en-US" sz="1800" b="1" i="0" dirty="0">
                <a:solidFill>
                  <a:srgbClr val="505050"/>
                </a:solidFill>
                <a:latin typeface="맑은 고딕"/>
                <a:ea typeface="맑은 고딕"/>
              </a:rPr>
              <a:t>및</a:t>
            </a:r>
            <a:r>
              <a:rPr lang="en-US" b="1" dirty="0">
                <a:solidFill>
                  <a:srgbClr val="505050"/>
                </a:solidFill>
                <a:latin typeface="맑은 고딕"/>
                <a:ea typeface="맑은 고딕"/>
              </a:rPr>
              <a:t> </a:t>
            </a:r>
            <a:r>
              <a:rPr sz="1800" b="1" i="0" dirty="0" err="1">
                <a:solidFill>
                  <a:srgbClr val="505050"/>
                </a:solidFill>
                <a:latin typeface="맑은 고딕"/>
                <a:ea typeface="맑은 고딕"/>
              </a:rPr>
              <a:t>형변환</a:t>
            </a:r>
            <a:endParaRPr sz="1800" b="1" i="0" dirty="0">
              <a:solidFill>
                <a:srgbClr val="505050"/>
              </a:solidFill>
              <a:latin typeface="맑은 고딕"/>
              <a:ea typeface="맑은 고딕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094415" y="6437376"/>
            <a:ext cx="82296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87878"/>
                </a:solidFill>
                <a:latin typeface="맑은 고딕"/>
                <a:ea typeface="맑은 고딕"/>
              </a:rPr>
              <a:t>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828800"/>
            <a:ext cx="11057839" cy="125124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• </a:t>
            </a:r>
            <a:r>
              <a:rPr lang="ko-KR" altLang="en-US"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인코딩 확정</a:t>
            </a:r>
            <a:r>
              <a:rPr lang="en-US" altLang="ko-KR"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: UTF-8 </a:t>
            </a:r>
            <a:r>
              <a:rPr lang="ko-KR" altLang="en-US"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파일로 인코딩 통일</a:t>
            </a:r>
            <a:endParaRPr lang="en-US" altLang="ko-KR" sz="14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lang="en-US" altLang="ko-KR"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• </a:t>
            </a:r>
            <a:r>
              <a:rPr lang="ko-KR" altLang="en-US"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적재</a:t>
            </a:r>
            <a:r>
              <a:rPr lang="en-US" altLang="ko-KR"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: </a:t>
            </a:r>
            <a:r>
              <a:rPr lang="en-US" altLang="ko-KR"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table_map</a:t>
            </a:r>
            <a:r>
              <a:rPr lang="en-US" altLang="ko-KR"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(999) · </a:t>
            </a:r>
            <a:r>
              <a:rPr lang="en-US" altLang="ko-KR"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column_map</a:t>
            </a:r>
            <a:r>
              <a:rPr lang="en-US" altLang="ko-KR"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(9,840)</a:t>
            </a:r>
            <a:r>
              <a:rPr lang="ko-KR" altLang="en-US"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을 </a:t>
            </a:r>
            <a:r>
              <a:rPr lang="en-US" altLang="ko-KR"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dtype</a:t>
            </a:r>
            <a:r>
              <a:rPr lang="en-US" altLang="ko-KR"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=str</a:t>
            </a:r>
            <a:r>
              <a:rPr lang="ko-KR" altLang="en-US"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로 안전 적재 후 </a:t>
            </a:r>
            <a:r>
              <a:rPr lang="ko-KR" altLang="en-US"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형변환</a:t>
            </a:r>
            <a:endParaRPr lang="ko-KR" altLang="en-US" sz="14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•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형변환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: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수치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컬럼은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to_numeric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(coerce) —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비수치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/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날짜는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NaN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처리</a:t>
            </a:r>
            <a:endParaRPr sz="14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•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정합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기준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: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table_id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결측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 행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제거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,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컬럼-테이블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조인키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정합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확인</a:t>
            </a:r>
            <a:endParaRPr sz="1400" b="0" i="0" dirty="0">
              <a:solidFill>
                <a:srgbClr val="282D37"/>
              </a:solidFill>
              <a:latin typeface="맑은 고딕"/>
              <a:ea typeface="맑은 고딕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109728"/>
            <a:ext cx="11057839" cy="237744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965F"/>
                </a:solidFill>
                <a:latin typeface="맑은 고딕"/>
                <a:ea typeface="맑은 고딕"/>
              </a:rPr>
              <a:t>공통 전처리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676656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81F46"/>
                </a:solidFill>
                <a:latin typeface="맑은 고딕"/>
                <a:ea typeface="맑은 고딕"/>
              </a:rPr>
              <a:t>공통 데이터 준비 ② 1D 이산화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60704"/>
            <a:ext cx="11057839" cy="27940"/>
          </a:xfrm>
          <a:prstGeom prst="rect">
            <a:avLst/>
          </a:prstGeom>
          <a:solidFill>
            <a:srgbClr val="081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25000" lnSpcReduction="20000"/>
          </a:bodyPr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66928" y="1280430"/>
            <a:ext cx="11057839" cy="29206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 dirty="0" err="1">
                <a:solidFill>
                  <a:srgbClr val="505050"/>
                </a:solidFill>
                <a:latin typeface="맑은 고딕"/>
                <a:ea typeface="맑은 고딕"/>
              </a:rPr>
              <a:t>한쪽으로</a:t>
            </a:r>
            <a:r>
              <a:rPr sz="1800" b="1" i="0" dirty="0">
                <a:solidFill>
                  <a:srgbClr val="505050"/>
                </a:solidFill>
                <a:latin typeface="맑은 고딕"/>
                <a:ea typeface="맑은 고딕"/>
              </a:rPr>
              <a:t> </a:t>
            </a:r>
            <a:r>
              <a:rPr sz="1800" b="1" i="0" dirty="0" err="1">
                <a:solidFill>
                  <a:srgbClr val="505050"/>
                </a:solidFill>
                <a:latin typeface="맑은 고딕"/>
                <a:ea typeface="맑은 고딕"/>
              </a:rPr>
              <a:t>심하게</a:t>
            </a:r>
            <a:r>
              <a:rPr sz="1800" b="1" i="0" dirty="0">
                <a:solidFill>
                  <a:srgbClr val="505050"/>
                </a:solidFill>
                <a:latin typeface="맑은 고딕"/>
                <a:ea typeface="맑은 고딕"/>
              </a:rPr>
              <a:t> </a:t>
            </a:r>
            <a:r>
              <a:rPr sz="1800" b="1" i="0" dirty="0" err="1">
                <a:solidFill>
                  <a:srgbClr val="505050"/>
                </a:solidFill>
                <a:latin typeface="맑은 고딕"/>
                <a:ea typeface="맑은 고딕"/>
              </a:rPr>
              <a:t>쏠린</a:t>
            </a:r>
            <a:r>
              <a:rPr sz="1800" b="1" i="0" dirty="0">
                <a:solidFill>
                  <a:srgbClr val="505050"/>
                </a:solidFill>
                <a:latin typeface="맑은 고딕"/>
                <a:ea typeface="맑은 고딕"/>
              </a:rPr>
              <a:t> </a:t>
            </a:r>
            <a:r>
              <a:rPr sz="1800" b="1" i="0" dirty="0" err="1">
                <a:solidFill>
                  <a:srgbClr val="505050"/>
                </a:solidFill>
                <a:latin typeface="맑은 고딕"/>
                <a:ea typeface="맑은 고딕"/>
              </a:rPr>
              <a:t>수치를</a:t>
            </a:r>
            <a:r>
              <a:rPr sz="1800" b="1" i="0" dirty="0">
                <a:solidFill>
                  <a:srgbClr val="505050"/>
                </a:solidFill>
                <a:latin typeface="맑은 고딕"/>
                <a:ea typeface="맑은 고딕"/>
              </a:rPr>
              <a:t> </a:t>
            </a:r>
            <a:r>
              <a:rPr sz="1800" b="1" i="0" dirty="0" err="1">
                <a:solidFill>
                  <a:srgbClr val="505050"/>
                </a:solidFill>
                <a:latin typeface="맑은 고딕"/>
                <a:ea typeface="맑은 고딕"/>
              </a:rPr>
              <a:t>로그로</a:t>
            </a:r>
            <a:r>
              <a:rPr sz="1800" b="1" i="0" dirty="0">
                <a:solidFill>
                  <a:srgbClr val="505050"/>
                </a:solidFill>
                <a:latin typeface="맑은 고딕"/>
                <a:ea typeface="맑은 고딕"/>
              </a:rPr>
              <a:t> </a:t>
            </a:r>
            <a:r>
              <a:rPr sz="1800" b="1" i="0" dirty="0" err="1">
                <a:solidFill>
                  <a:srgbClr val="505050"/>
                </a:solidFill>
                <a:latin typeface="맑은 고딕"/>
                <a:ea typeface="맑은 고딕"/>
              </a:rPr>
              <a:t>고르게</a:t>
            </a:r>
            <a:r>
              <a:rPr sz="1800" b="1" i="0" dirty="0">
                <a:solidFill>
                  <a:srgbClr val="505050"/>
                </a:solidFill>
                <a:latin typeface="맑은 고딕"/>
                <a:ea typeface="맑은 고딕"/>
              </a:rPr>
              <a:t> 편 뒤 </a:t>
            </a:r>
            <a:r>
              <a:rPr sz="1800" b="1" i="0" dirty="0" err="1">
                <a:solidFill>
                  <a:srgbClr val="505050"/>
                </a:solidFill>
                <a:latin typeface="맑은 고딕"/>
                <a:ea typeface="맑은 고딕"/>
              </a:rPr>
              <a:t>자동으로</a:t>
            </a:r>
            <a:r>
              <a:rPr sz="1800" b="1" i="0" dirty="0">
                <a:solidFill>
                  <a:srgbClr val="505050"/>
                </a:solidFill>
                <a:latin typeface="맑은 고딕"/>
                <a:ea typeface="맑은 고딕"/>
              </a:rPr>
              <a:t> </a:t>
            </a:r>
            <a:r>
              <a:rPr sz="1800" b="1" i="0" dirty="0" err="1">
                <a:solidFill>
                  <a:srgbClr val="505050"/>
                </a:solidFill>
                <a:latin typeface="맑은 고딕"/>
                <a:ea typeface="맑은 고딕"/>
              </a:rPr>
              <a:t>구간을</a:t>
            </a:r>
            <a:r>
              <a:rPr sz="1800" b="1" i="0" dirty="0">
                <a:solidFill>
                  <a:srgbClr val="505050"/>
                </a:solidFill>
                <a:latin typeface="맑은 고딕"/>
                <a:ea typeface="맑은 고딕"/>
              </a:rPr>
              <a:t> </a:t>
            </a:r>
            <a:r>
              <a:rPr sz="1800" b="1" i="0" dirty="0" err="1">
                <a:solidFill>
                  <a:srgbClr val="505050"/>
                </a:solidFill>
                <a:latin typeface="맑은 고딕"/>
                <a:ea typeface="맑은 고딕"/>
              </a:rPr>
              <a:t>나눔</a:t>
            </a:r>
            <a:r>
              <a:rPr lang="en-US" sz="1800" b="1" i="0" dirty="0">
                <a:solidFill>
                  <a:srgbClr val="505050"/>
                </a:solidFill>
                <a:latin typeface="맑은 고딕"/>
                <a:ea typeface="맑은 고딕"/>
              </a:rPr>
              <a:t>.</a:t>
            </a:r>
            <a:endParaRPr sz="1800" b="1" i="0" dirty="0">
              <a:solidFill>
                <a:srgbClr val="505050"/>
              </a:solidFill>
              <a:latin typeface="맑은 고딕"/>
              <a:ea typeface="맑은 고딕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094415" y="6437376"/>
            <a:ext cx="82296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87878"/>
                </a:solidFill>
                <a:latin typeface="맑은 고딕"/>
                <a:ea typeface="맑은 고딕"/>
              </a:rPr>
              <a:t>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7" y="1828800"/>
            <a:ext cx="9980360" cy="1252715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•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문제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: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레코드수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 1~833,466로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극단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쏠림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lang="en-US" sz="1400" dirty="0">
                <a:solidFill>
                  <a:srgbClr val="282D37"/>
                </a:solidFill>
                <a:latin typeface="맑은 고딕"/>
                <a:ea typeface="맑은 고딕"/>
                <a:sym typeface="Wingdings" panose="05000000000000000000" pitchFamily="2" charset="2"/>
              </a:rPr>
              <a:t>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그대로면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 큰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값이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결과를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지배</a:t>
            </a:r>
            <a:endParaRPr sz="14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•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해결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: log(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로그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)로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쏠림을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 편 뒤 1차원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KMeans로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자동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구간화</a:t>
            </a:r>
            <a:endParaRPr sz="14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•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이산화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lang="ko-KR" altLang="en-US" sz="1400" dirty="0">
                <a:solidFill>
                  <a:srgbClr val="282D37"/>
                </a:solidFill>
                <a:latin typeface="맑은 고딕"/>
                <a:ea typeface="맑은 고딕"/>
              </a:rPr>
              <a:t>대상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: </a:t>
            </a:r>
            <a:r>
              <a:rPr sz="1400" b="1" i="0" dirty="0" err="1">
                <a:solidFill>
                  <a:srgbClr val="282D37"/>
                </a:solidFill>
                <a:latin typeface="맑은 고딕"/>
                <a:ea typeface="맑은 고딕"/>
              </a:rPr>
              <a:t>레코드수</a:t>
            </a:r>
            <a:r>
              <a:rPr sz="1400" b="1" i="0" dirty="0">
                <a:solidFill>
                  <a:srgbClr val="282D37"/>
                </a:solidFill>
                <a:latin typeface="맑은 고딕"/>
                <a:ea typeface="맑은 고딕"/>
              </a:rPr>
              <a:t>(5구간)</a:t>
            </a:r>
            <a:r>
              <a:rPr lang="en-US" sz="1400" b="1" i="0" dirty="0">
                <a:solidFill>
                  <a:srgbClr val="282D37"/>
                </a:solidFill>
                <a:latin typeface="맑은 고딕"/>
                <a:ea typeface="맑은 고딕"/>
              </a:rPr>
              <a:t> / </a:t>
            </a:r>
            <a:r>
              <a:rPr sz="1400" b="1" i="0" dirty="0" err="1">
                <a:solidFill>
                  <a:srgbClr val="282D37"/>
                </a:solidFill>
                <a:latin typeface="맑은 고딕"/>
                <a:ea typeface="맑은 고딕"/>
              </a:rPr>
              <a:t>컬럼폭</a:t>
            </a:r>
            <a:r>
              <a:rPr sz="1400" b="1" i="0" dirty="0">
                <a:solidFill>
                  <a:srgbClr val="282D37"/>
                </a:solidFill>
                <a:latin typeface="맑은 고딕"/>
                <a:ea typeface="맑은 고딕"/>
              </a:rPr>
              <a:t>(4구간)</a:t>
            </a:r>
            <a:r>
              <a:rPr lang="en-US" sz="1400" b="1" i="0" dirty="0">
                <a:solidFill>
                  <a:srgbClr val="282D37"/>
                </a:solidFill>
                <a:latin typeface="맑은 고딕"/>
                <a:ea typeface="맑은 고딕"/>
              </a:rPr>
              <a:t> / </a:t>
            </a:r>
            <a:r>
              <a:rPr sz="1400" b="1" i="0" dirty="0" err="1">
                <a:solidFill>
                  <a:srgbClr val="282D37"/>
                </a:solidFill>
                <a:latin typeface="맑은 고딕"/>
                <a:ea typeface="맑은 고딕"/>
              </a:rPr>
              <a:t>수치비</a:t>
            </a:r>
            <a:r>
              <a:rPr sz="1400" b="1" i="0" dirty="0">
                <a:solidFill>
                  <a:srgbClr val="282D37"/>
                </a:solidFill>
                <a:latin typeface="맑은 고딕"/>
                <a:ea typeface="맑은 고딕"/>
              </a:rPr>
              <a:t>(3구간)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•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수치비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=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수치형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컬럼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비율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(0~1)</a:t>
            </a:r>
            <a:r>
              <a:rPr lang="en-US" sz="140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lang="en-US" sz="1400" dirty="0">
                <a:solidFill>
                  <a:srgbClr val="282D37"/>
                </a:solidFill>
                <a:latin typeface="맑은 고딕"/>
                <a:ea typeface="맑은 고딕"/>
                <a:sym typeface="Wingdings" panose="05000000000000000000" pitchFamily="2" charset="2"/>
              </a:rPr>
              <a:t>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이미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고른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값이라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로그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없이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바로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구간화</a:t>
            </a:r>
            <a:endParaRPr sz="1400" b="0" i="0" dirty="0">
              <a:solidFill>
                <a:srgbClr val="282D37"/>
              </a:solidFill>
              <a:latin typeface="맑은 고딕"/>
              <a:ea typeface="맑은 고딕"/>
            </a:endParaRPr>
          </a:p>
        </p:txBody>
      </p:sp>
      <p:pic>
        <p:nvPicPr>
          <p:cNvPr id="52" name="그림 51">
            <a:extLst>
              <a:ext uri="{FF2B5EF4-FFF2-40B4-BE49-F238E27FC236}">
                <a16:creationId xmlns:a16="http://schemas.microsoft.com/office/drawing/2014/main" id="{4F2DC526-7433-974C-F78C-8B3B1EF360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1584" y="3370758"/>
            <a:ext cx="7472126" cy="337751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109728"/>
            <a:ext cx="11057839" cy="237744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965F"/>
                </a:solidFill>
                <a:latin typeface="맑은 고딕"/>
                <a:ea typeface="맑은 고딕"/>
              </a:rPr>
              <a:t>공통 전처리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676656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81F46"/>
                </a:solidFill>
                <a:latin typeface="맑은 고딕"/>
                <a:ea typeface="맑은 고딕"/>
              </a:rPr>
              <a:t>공통 데이터 준비 ③ AOI 롤업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60704"/>
            <a:ext cx="11057839" cy="27940"/>
          </a:xfrm>
          <a:prstGeom prst="rect">
            <a:avLst/>
          </a:prstGeom>
          <a:solidFill>
            <a:srgbClr val="081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25000" lnSpcReduction="20000"/>
          </a:bodyPr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66928" y="1170432"/>
            <a:ext cx="11057839" cy="512064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505050"/>
                </a:solidFill>
                <a:latin typeface="맑은 고딕"/>
                <a:ea typeface="맑은 고딕"/>
              </a:rPr>
              <a:t>제각각인 999개 기관명을 정규식 규칙으로 7개 상위 개념(기관유형)으로 롤업(상향 일반화)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37376"/>
            <a:ext cx="82296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87878"/>
                </a:solidFill>
                <a:latin typeface="맑은 고딕"/>
                <a:ea typeface="맑은 고딕"/>
              </a:rPr>
              <a:t>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828800"/>
            <a:ext cx="4240462" cy="3858768"/>
          </a:xfrm>
          <a:prstGeom prst="rect">
            <a:avLst/>
          </a:prstGeom>
          <a:noFill/>
        </p:spPr>
        <p:txBody>
          <a:bodyPr wrap="square" lIns="25400" tIns="12700" rIns="25400" bIns="12700" anchor="t">
            <a:norm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• AOI(속성지향 귀납)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롤업</a:t>
            </a:r>
            <a:r>
              <a:rPr lang="en-US" sz="1500" dirty="0">
                <a:solidFill>
                  <a:srgbClr val="282D37"/>
                </a:solidFill>
                <a:latin typeface="맑은 고딕"/>
                <a:ea typeface="맑은 고딕"/>
              </a:rPr>
              <a:t>: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구체적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값을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상위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endParaRPr lang="en-US" sz="15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lang="en-US" sz="1500" dirty="0">
                <a:solidFill>
                  <a:srgbClr val="282D37"/>
                </a:solidFill>
                <a:latin typeface="맑은 고딕"/>
                <a:ea typeface="맑은 고딕"/>
              </a:rPr>
              <a:t> 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개념으로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끌어올리는 다계층 일반화(roll-up)</a:t>
            </a:r>
          </a:p>
          <a:p>
            <a:pPr marL="742950" lvl="1" indent="-285750"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  <a:buFont typeface="Wingdings" panose="05000000000000000000" pitchFamily="2" charset="2"/>
              <a:buChar char="ü"/>
            </a:pPr>
            <a:r>
              <a:rPr sz="1300" b="0" i="0" dirty="0" err="1">
                <a:solidFill>
                  <a:srgbClr val="505050"/>
                </a:solidFill>
                <a:latin typeface="맑은 고딕"/>
                <a:ea typeface="맑은 고딕"/>
              </a:rPr>
              <a:t>제각각인</a:t>
            </a:r>
            <a:r>
              <a:rPr sz="1300" b="0" i="0" dirty="0">
                <a:solidFill>
                  <a:srgbClr val="505050"/>
                </a:solidFill>
                <a:latin typeface="맑은 고딕"/>
                <a:ea typeface="맑은 고딕"/>
              </a:rPr>
              <a:t> 999개 </a:t>
            </a:r>
            <a:r>
              <a:rPr lang="en-US" sz="1300" dirty="0" err="1">
                <a:solidFill>
                  <a:srgbClr val="505050"/>
                </a:solidFill>
                <a:latin typeface="맑은 고딕"/>
                <a:ea typeface="맑은 고딕"/>
              </a:rPr>
              <a:t>table_source</a:t>
            </a:r>
            <a:r>
              <a:rPr lang="en-US" sz="1300" dirty="0">
                <a:solidFill>
                  <a:srgbClr val="505050"/>
                </a:solidFill>
                <a:latin typeface="맑은 고딕"/>
                <a:ea typeface="맑은 고딕"/>
              </a:rPr>
              <a:t>(</a:t>
            </a:r>
            <a:r>
              <a:rPr lang="ko-KR" altLang="en-US" sz="1300" dirty="0">
                <a:solidFill>
                  <a:srgbClr val="505050"/>
                </a:solidFill>
                <a:latin typeface="맑은 고딕"/>
                <a:ea typeface="맑은 고딕"/>
              </a:rPr>
              <a:t>기관명</a:t>
            </a:r>
            <a:r>
              <a:rPr lang="en-US" altLang="ko-KR" sz="1300" dirty="0">
                <a:solidFill>
                  <a:srgbClr val="505050"/>
                </a:solidFill>
                <a:latin typeface="맑은 고딕"/>
                <a:ea typeface="맑은 고딕"/>
              </a:rPr>
              <a:t>)</a:t>
            </a:r>
            <a:r>
              <a:rPr lang="ko-KR" altLang="en-US" sz="1300" b="0" i="0" dirty="0">
                <a:solidFill>
                  <a:srgbClr val="505050"/>
                </a:solidFill>
                <a:latin typeface="맑은 고딕"/>
                <a:ea typeface="맑은 고딕"/>
              </a:rPr>
              <a:t>을 </a:t>
            </a:r>
            <a:r>
              <a:rPr lang="ko-KR" altLang="en-US" sz="1300" b="0" i="0" dirty="0" err="1">
                <a:solidFill>
                  <a:srgbClr val="505050"/>
                </a:solidFill>
                <a:latin typeface="맑은 고딕"/>
                <a:ea typeface="맑은 고딕"/>
              </a:rPr>
              <a:t>이산화하여</a:t>
            </a:r>
            <a:r>
              <a:rPr lang="ko-KR" altLang="en-US" sz="1300" b="0" i="0" dirty="0">
                <a:solidFill>
                  <a:srgbClr val="505050"/>
                </a:solidFill>
                <a:latin typeface="맑은 고딕"/>
                <a:ea typeface="맑은 고딕"/>
              </a:rPr>
              <a:t> 분석 </a:t>
            </a:r>
            <a:r>
              <a:rPr lang="en-US" altLang="ko-KR" sz="1300" b="0" i="0" dirty="0">
                <a:solidFill>
                  <a:srgbClr val="505050"/>
                </a:solidFill>
                <a:latin typeface="맑은 고딕"/>
                <a:ea typeface="맑은 고딕"/>
              </a:rPr>
              <a:t>feature</a:t>
            </a:r>
            <a:r>
              <a:rPr lang="ko-KR" altLang="en-US" sz="1300" b="0" i="0" dirty="0">
                <a:solidFill>
                  <a:srgbClr val="505050"/>
                </a:solidFill>
                <a:latin typeface="맑은 고딕"/>
                <a:ea typeface="맑은 고딕"/>
              </a:rPr>
              <a:t>로 활용</a:t>
            </a:r>
            <a:endParaRPr lang="en-US" altLang="ko-KR" sz="1300" b="0" i="0" dirty="0">
              <a:solidFill>
                <a:srgbClr val="505050"/>
              </a:solidFill>
              <a:latin typeface="맑은 고딕"/>
              <a:ea typeface="맑은 고딕"/>
            </a:endParaRPr>
          </a:p>
          <a:p>
            <a:pPr lvl="1"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endParaRPr sz="1300" b="0" i="0" dirty="0">
              <a:solidFill>
                <a:srgbClr val="505050"/>
              </a:solidFill>
              <a:latin typeface="맑은 고딕"/>
              <a:ea typeface="맑은 고딕"/>
            </a:endParaRP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• 출처 롤업: table_source의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접미사·키워드를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endParaRPr lang="en-US" sz="15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lang="en-US" sz="1500" dirty="0">
                <a:solidFill>
                  <a:srgbClr val="282D37"/>
                </a:solidFill>
                <a:latin typeface="맑은 고딕"/>
                <a:ea typeface="맑은 고딕"/>
              </a:rPr>
              <a:t> 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정규식으로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매칭해 7개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기관유형으로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축약</a:t>
            </a:r>
            <a:endParaRPr sz="15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marL="742950" lvl="1" indent="-285750"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  <a:buFont typeface="Wingdings" panose="05000000000000000000" pitchFamily="2" charset="2"/>
              <a:buChar char="ü"/>
            </a:pPr>
            <a:r>
              <a:rPr sz="1300" b="0" i="0" dirty="0" err="1">
                <a:solidFill>
                  <a:srgbClr val="505050"/>
                </a:solidFill>
                <a:latin typeface="맑은 고딕"/>
                <a:ea typeface="맑은 고딕"/>
              </a:rPr>
              <a:t>우선순위로</a:t>
            </a:r>
            <a:r>
              <a:rPr sz="1300" b="0" i="0" dirty="0">
                <a:solidFill>
                  <a:srgbClr val="505050"/>
                </a:solidFill>
                <a:latin typeface="맑은 고딕"/>
                <a:ea typeface="맑은 고딕"/>
              </a:rPr>
              <a:t> 1건씩 분류(</a:t>
            </a:r>
            <a:r>
              <a:rPr sz="1300" b="0" i="0" dirty="0" err="1">
                <a:solidFill>
                  <a:srgbClr val="505050"/>
                </a:solidFill>
                <a:latin typeface="맑은 고딕"/>
                <a:ea typeface="맑은 고딕"/>
              </a:rPr>
              <a:t>교육→중앙→공공</a:t>
            </a:r>
            <a:r>
              <a:rPr sz="1300" b="0" i="0" dirty="0">
                <a:solidFill>
                  <a:srgbClr val="505050"/>
                </a:solidFill>
                <a:latin typeface="맑은 고딕"/>
                <a:ea typeface="맑은 고딕"/>
              </a:rPr>
              <a:t>→</a:t>
            </a:r>
            <a:endParaRPr lang="en-US" sz="1300" b="0" i="0" dirty="0">
              <a:solidFill>
                <a:srgbClr val="505050"/>
              </a:solidFill>
              <a:latin typeface="맑은 고딕"/>
              <a:ea typeface="맑은 고딕"/>
            </a:endParaRPr>
          </a:p>
          <a:p>
            <a:pPr lvl="1"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lang="en-US" sz="1300" dirty="0">
                <a:solidFill>
                  <a:srgbClr val="505050"/>
                </a:solidFill>
                <a:latin typeface="맑은 고딕"/>
                <a:ea typeface="맑은 고딕"/>
              </a:rPr>
              <a:t>     </a:t>
            </a:r>
            <a:r>
              <a:rPr sz="1300" b="0" i="0" dirty="0" err="1">
                <a:solidFill>
                  <a:srgbClr val="505050"/>
                </a:solidFill>
                <a:latin typeface="맑은 고딕"/>
                <a:ea typeface="맑은 고딕"/>
              </a:rPr>
              <a:t>광역→기초→미상→기타</a:t>
            </a:r>
            <a:r>
              <a:rPr sz="1300" b="0" i="0" dirty="0">
                <a:solidFill>
                  <a:srgbClr val="505050"/>
                </a:solidFill>
                <a:latin typeface="맑은 고딕"/>
                <a:ea typeface="맑은 고딕"/>
              </a:rPr>
              <a:t>), </a:t>
            </a:r>
            <a:endParaRPr lang="en-US" sz="1300" b="0" i="0" dirty="0">
              <a:solidFill>
                <a:srgbClr val="505050"/>
              </a:solidFill>
              <a:latin typeface="맑은 고딕"/>
              <a:ea typeface="맑은 고딕"/>
            </a:endParaRPr>
          </a:p>
          <a:p>
            <a:pPr lvl="1"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lang="en-US" sz="1300" dirty="0">
                <a:solidFill>
                  <a:srgbClr val="505050"/>
                </a:solidFill>
                <a:latin typeface="맑은 고딕"/>
                <a:ea typeface="맑은 고딕"/>
              </a:rPr>
              <a:t>     </a:t>
            </a:r>
            <a:r>
              <a:rPr sz="1300" b="0" i="0" dirty="0">
                <a:solidFill>
                  <a:srgbClr val="505050"/>
                </a:solidFill>
                <a:latin typeface="맑은 고딕"/>
                <a:ea typeface="맑은 고딕"/>
              </a:rPr>
              <a:t>‘소스’·빈값은 </a:t>
            </a:r>
            <a:r>
              <a:rPr sz="1300" b="0" i="0" dirty="0" err="1">
                <a:solidFill>
                  <a:srgbClr val="505050"/>
                </a:solidFill>
                <a:latin typeface="맑은 고딕"/>
                <a:ea typeface="맑은 고딕"/>
              </a:rPr>
              <a:t>미상으로</a:t>
            </a:r>
            <a:r>
              <a:rPr sz="1300" b="0" i="0" dirty="0">
                <a:solidFill>
                  <a:srgbClr val="505050"/>
                </a:solidFill>
                <a:latin typeface="맑은 고딕"/>
                <a:ea typeface="맑은 고딕"/>
              </a:rPr>
              <a:t> </a:t>
            </a:r>
            <a:r>
              <a:rPr sz="1300" b="0" i="0" dirty="0" err="1">
                <a:solidFill>
                  <a:srgbClr val="505050"/>
                </a:solidFill>
                <a:latin typeface="맑은 고딕"/>
                <a:ea typeface="맑은 고딕"/>
              </a:rPr>
              <a:t>분리</a:t>
            </a:r>
            <a:endParaRPr lang="en-US" sz="1300" b="0" i="0" dirty="0">
              <a:solidFill>
                <a:srgbClr val="505050"/>
              </a:solidFill>
              <a:latin typeface="맑은 고딕"/>
              <a:ea typeface="맑은 고딕"/>
            </a:endParaRPr>
          </a:p>
          <a:p>
            <a:pPr lvl="1"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endParaRPr sz="1300" b="0" i="0" dirty="0">
              <a:solidFill>
                <a:srgbClr val="505050"/>
              </a:solidFill>
              <a:latin typeface="맑은 고딕"/>
              <a:ea typeface="맑은 고딕"/>
            </a:endParaRPr>
          </a:p>
        </p:txBody>
      </p:sp>
      <p:sp>
        <p:nvSpPr>
          <p:cNvPr id="301" name="card-bg"/>
          <p:cNvSpPr/>
          <p:nvPr/>
        </p:nvSpPr>
        <p:spPr>
          <a:xfrm>
            <a:off x="4986223" y="1880178"/>
            <a:ext cx="1810512" cy="3703320"/>
          </a:xfrm>
          <a:prstGeom prst="roundRect">
            <a:avLst/>
          </a:prstGeom>
          <a:solidFill>
            <a:srgbClr val="EEF2F8"/>
          </a:solidFill>
          <a:ln w="9525">
            <a:solidFill>
              <a:srgbClr val="D0D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302" name="card-hdr"/>
          <p:cNvSpPr/>
          <p:nvPr/>
        </p:nvSpPr>
        <p:spPr>
          <a:xfrm>
            <a:off x="4986223" y="1880178"/>
            <a:ext cx="1810512" cy="310896"/>
          </a:xfrm>
          <a:prstGeom prst="roundRect">
            <a:avLst/>
          </a:prstGeom>
          <a:solidFill>
            <a:srgbClr val="081F46"/>
          </a:solidFill>
          <a:ln w="9525">
            <a:solidFill>
              <a:srgbClr val="081F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85000" lnSpcReduction="20000"/>
          </a:bodyPr>
          <a:lstStyle/>
          <a:p>
            <a:pPr algn="ctr"/>
            <a:endParaRPr/>
          </a:p>
        </p:txBody>
      </p:sp>
      <p:sp>
        <p:nvSpPr>
          <p:cNvPr id="303" name="card-title"/>
          <p:cNvSpPr txBox="1"/>
          <p:nvPr/>
        </p:nvSpPr>
        <p:spPr>
          <a:xfrm>
            <a:off x="4986223" y="1880178"/>
            <a:ext cx="1810512" cy="310896"/>
          </a:xfrm>
          <a:prstGeom prst="rect">
            <a:avLst/>
          </a:prstGeom>
          <a:noFill/>
        </p:spPr>
        <p:txBody>
          <a:bodyPr wrap="square" lIns="12700" tIns="6350" rIns="12700" bIns="6350" anchor="ctr">
            <a:norm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dirty="0">
                <a:solidFill>
                  <a:srgbClr val="FFFFFF"/>
                </a:solidFill>
                <a:latin typeface="맑은 고딕"/>
                <a:ea typeface="맑은 고딕"/>
              </a:rPr>
              <a:t>① </a:t>
            </a:r>
            <a:r>
              <a:rPr sz="1200" b="1" i="0" dirty="0" err="1">
                <a:solidFill>
                  <a:srgbClr val="FFFFFF"/>
                </a:solidFill>
                <a:latin typeface="맑은 고딕"/>
                <a:ea typeface="맑은 고딕"/>
              </a:rPr>
              <a:t>원시</a:t>
            </a:r>
            <a:r>
              <a:rPr sz="1200" b="1" i="0" dirty="0">
                <a:solidFill>
                  <a:srgbClr val="FFFFFF"/>
                </a:solidFill>
                <a:latin typeface="맑은 고딕"/>
                <a:ea typeface="맑은 고딕"/>
              </a:rPr>
              <a:t> </a:t>
            </a:r>
            <a:r>
              <a:rPr sz="1200" b="1" i="0" dirty="0" err="1">
                <a:solidFill>
                  <a:srgbClr val="FFFFFF"/>
                </a:solidFill>
                <a:latin typeface="맑은 고딕"/>
                <a:ea typeface="맑은 고딕"/>
              </a:rPr>
              <a:t>table_source</a:t>
            </a:r>
            <a:endParaRPr sz="1200" b="1" i="0" dirty="0">
              <a:solidFill>
                <a:srgbClr val="FFFFFF"/>
              </a:solidFill>
              <a:latin typeface="맑은 고딕"/>
              <a:ea typeface="맑은 고딕"/>
            </a:endParaRPr>
          </a:p>
        </p:txBody>
      </p:sp>
      <p:sp>
        <p:nvSpPr>
          <p:cNvPr id="304" name="card-body"/>
          <p:cNvSpPr txBox="1"/>
          <p:nvPr/>
        </p:nvSpPr>
        <p:spPr>
          <a:xfrm>
            <a:off x="5077663" y="2236794"/>
            <a:ext cx="1627632" cy="3300984"/>
          </a:xfrm>
          <a:prstGeom prst="rect">
            <a:avLst/>
          </a:prstGeom>
          <a:noFill/>
        </p:spPr>
        <p:txBody>
          <a:bodyPr wrap="square" lIns="12700" tIns="6350" rIns="12700" bIns="6350" anchor="t">
            <a:normAutofit/>
          </a:bodyPr>
          <a:lstStyle/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100"/>
              </a:spcAft>
            </a:pPr>
            <a:r>
              <a:rPr sz="1400" b="1" i="0" dirty="0">
                <a:solidFill>
                  <a:srgbClr val="081F46"/>
                </a:solidFill>
                <a:latin typeface="맑은 고딕"/>
                <a:ea typeface="맑은 고딕"/>
              </a:rPr>
              <a:t>999개 </a:t>
            </a:r>
            <a:r>
              <a:rPr sz="1400" b="1" i="0" dirty="0" err="1">
                <a:solidFill>
                  <a:srgbClr val="081F46"/>
                </a:solidFill>
                <a:latin typeface="맑은 고딕"/>
                <a:ea typeface="맑은 고딕"/>
              </a:rPr>
              <a:t>자유</a:t>
            </a:r>
            <a:r>
              <a:rPr sz="1400" b="1" i="0" dirty="0">
                <a:solidFill>
                  <a:srgbClr val="081F46"/>
                </a:solidFill>
                <a:latin typeface="맑은 고딕"/>
                <a:ea typeface="맑은 고딕"/>
              </a:rPr>
              <a:t> </a:t>
            </a:r>
            <a:r>
              <a:rPr sz="1400" b="1" i="0" dirty="0" err="1">
                <a:solidFill>
                  <a:srgbClr val="081F46"/>
                </a:solidFill>
                <a:latin typeface="맑은 고딕"/>
                <a:ea typeface="맑은 고딕"/>
              </a:rPr>
              <a:t>기관명</a:t>
            </a:r>
            <a:endParaRPr sz="1400" b="1" i="0" dirty="0">
              <a:solidFill>
                <a:srgbClr val="081F46"/>
              </a:solidFill>
              <a:latin typeface="맑은 고딕"/>
              <a:ea typeface="맑은 고딕"/>
            </a:endParaRPr>
          </a:p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100"/>
              </a:spcAft>
            </a:pP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· </a:t>
            </a:r>
            <a:r>
              <a:rPr sz="12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서울특별시</a:t>
            </a: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2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금천구</a:t>
            </a:r>
            <a:endParaRPr sz="12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100"/>
              </a:spcAft>
            </a:pP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· </a:t>
            </a:r>
            <a:r>
              <a:rPr sz="12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한국사학진흥재단</a:t>
            </a:r>
            <a:endParaRPr sz="12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100"/>
              </a:spcAft>
            </a:pP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· </a:t>
            </a:r>
            <a:r>
              <a:rPr sz="12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경상남도</a:t>
            </a:r>
            <a:endParaRPr sz="12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100"/>
              </a:spcAft>
            </a:pP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· ‘</a:t>
            </a:r>
            <a:r>
              <a:rPr sz="12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소스</a:t>
            </a: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’(</a:t>
            </a:r>
            <a:r>
              <a:rPr sz="12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빈값</a:t>
            </a: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)</a:t>
            </a:r>
          </a:p>
        </p:txBody>
      </p:sp>
      <p:sp>
        <p:nvSpPr>
          <p:cNvPr id="305" name="arrow1"/>
          <p:cNvSpPr txBox="1"/>
          <p:nvPr/>
        </p:nvSpPr>
        <p:spPr>
          <a:xfrm>
            <a:off x="6815023" y="1880178"/>
            <a:ext cx="310896" cy="3703320"/>
          </a:xfrm>
          <a:prstGeom prst="rect">
            <a:avLst/>
          </a:prstGeom>
          <a:noFill/>
        </p:spPr>
        <p:txBody>
          <a:bodyPr wrap="square" lIns="12700" tIns="6350" rIns="12700" bIns="6350" anchor="ctr">
            <a:norm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00965F"/>
                </a:solidFill>
                <a:latin typeface="맑은 고딕"/>
                <a:ea typeface="맑은 고딕"/>
              </a:rPr>
              <a:t>▶</a:t>
            </a:r>
          </a:p>
        </p:txBody>
      </p:sp>
      <p:sp>
        <p:nvSpPr>
          <p:cNvPr id="306" name="card-bg"/>
          <p:cNvSpPr/>
          <p:nvPr/>
        </p:nvSpPr>
        <p:spPr>
          <a:xfrm>
            <a:off x="7144207" y="1880178"/>
            <a:ext cx="2249424" cy="3703320"/>
          </a:xfrm>
          <a:prstGeom prst="roundRect">
            <a:avLst/>
          </a:prstGeom>
          <a:solidFill>
            <a:srgbClr val="E8F5F0"/>
          </a:solidFill>
          <a:ln w="9525">
            <a:solidFill>
              <a:srgbClr val="C7DE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307" name="card-hdr"/>
          <p:cNvSpPr/>
          <p:nvPr/>
        </p:nvSpPr>
        <p:spPr>
          <a:xfrm>
            <a:off x="7144207" y="1880178"/>
            <a:ext cx="2249424" cy="310896"/>
          </a:xfrm>
          <a:prstGeom prst="roundRect">
            <a:avLst/>
          </a:prstGeom>
          <a:solidFill>
            <a:srgbClr val="00965F"/>
          </a:solidFill>
          <a:ln w="9525">
            <a:solidFill>
              <a:srgbClr val="0096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85000" lnSpcReduction="20000"/>
          </a:bodyPr>
          <a:lstStyle/>
          <a:p>
            <a:pPr algn="ctr"/>
            <a:endParaRPr/>
          </a:p>
        </p:txBody>
      </p:sp>
      <p:sp>
        <p:nvSpPr>
          <p:cNvPr id="308" name="card-title"/>
          <p:cNvSpPr txBox="1"/>
          <p:nvPr/>
        </p:nvSpPr>
        <p:spPr>
          <a:xfrm>
            <a:off x="7144207" y="1880178"/>
            <a:ext cx="2249424" cy="310896"/>
          </a:xfrm>
          <a:prstGeom prst="rect">
            <a:avLst/>
          </a:prstGeom>
          <a:noFill/>
        </p:spPr>
        <p:txBody>
          <a:bodyPr wrap="square" lIns="12700" tIns="6350" rIns="12700" bIns="6350" anchor="ctr">
            <a:norm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맑은 고딕"/>
                <a:ea typeface="맑은 고딕"/>
              </a:rPr>
              <a:t>② 정규식 규칙</a:t>
            </a:r>
          </a:p>
        </p:txBody>
      </p:sp>
      <p:sp>
        <p:nvSpPr>
          <p:cNvPr id="309" name="card-body"/>
          <p:cNvSpPr txBox="1"/>
          <p:nvPr/>
        </p:nvSpPr>
        <p:spPr>
          <a:xfrm>
            <a:off x="7235647" y="2236794"/>
            <a:ext cx="2066544" cy="3300984"/>
          </a:xfrm>
          <a:prstGeom prst="rect">
            <a:avLst/>
          </a:prstGeom>
          <a:noFill/>
        </p:spPr>
        <p:txBody>
          <a:bodyPr wrap="square" lIns="12700" tIns="6350" rIns="12700" bIns="6350" anchor="t">
            <a:normAutofit/>
          </a:bodyPr>
          <a:lstStyle/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100"/>
              </a:spcAft>
            </a:pPr>
            <a:r>
              <a:rPr sz="1100" b="0" i="0" dirty="0" err="1">
                <a:solidFill>
                  <a:srgbClr val="505050"/>
                </a:solidFill>
                <a:latin typeface="맑은 고딕"/>
                <a:ea typeface="맑은 고딕"/>
              </a:rPr>
              <a:t>기관명</a:t>
            </a:r>
            <a:r>
              <a:rPr sz="1100" b="0" i="0" dirty="0">
                <a:solidFill>
                  <a:srgbClr val="505050"/>
                </a:solidFill>
                <a:latin typeface="맑은 고딕"/>
                <a:ea typeface="맑은 고딕"/>
              </a:rPr>
              <a:t> </a:t>
            </a:r>
            <a:r>
              <a:rPr sz="1100" b="0" i="0" dirty="0" err="1">
                <a:solidFill>
                  <a:srgbClr val="505050"/>
                </a:solidFill>
                <a:latin typeface="맑은 고딕"/>
                <a:ea typeface="맑은 고딕"/>
              </a:rPr>
              <a:t>접미사·키워드</a:t>
            </a:r>
            <a:r>
              <a:rPr sz="1100" b="0" i="0" dirty="0">
                <a:solidFill>
                  <a:srgbClr val="505050"/>
                </a:solidFill>
                <a:latin typeface="맑은 고딕"/>
                <a:ea typeface="맑은 고딕"/>
              </a:rPr>
              <a:t> </a:t>
            </a:r>
            <a:r>
              <a:rPr sz="1100" b="0" i="0" dirty="0" err="1">
                <a:solidFill>
                  <a:srgbClr val="505050"/>
                </a:solidFill>
                <a:latin typeface="맑은 고딕"/>
                <a:ea typeface="맑은 고딕"/>
              </a:rPr>
              <a:t>매칭</a:t>
            </a:r>
            <a:endParaRPr sz="1100" b="0" i="0" dirty="0">
              <a:solidFill>
                <a:srgbClr val="505050"/>
              </a:solidFill>
              <a:latin typeface="맑은 고딕"/>
              <a:ea typeface="맑은 고딕"/>
            </a:endParaRPr>
          </a:p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100"/>
              </a:spcAft>
            </a:pP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· </a:t>
            </a:r>
            <a:r>
              <a:rPr sz="12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교육청·대학교·학교</a:t>
            </a: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 → </a:t>
            </a:r>
            <a:r>
              <a:rPr sz="12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교육</a:t>
            </a:r>
            <a:endParaRPr sz="12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100"/>
              </a:spcAft>
            </a:pP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· </a:t>
            </a:r>
            <a:r>
              <a:rPr sz="12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부·청·위원회</a:t>
            </a: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 → </a:t>
            </a:r>
            <a:r>
              <a:rPr sz="12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중앙행정</a:t>
            </a:r>
            <a:endParaRPr sz="12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100"/>
              </a:spcAft>
            </a:pP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· </a:t>
            </a:r>
            <a:r>
              <a:rPr sz="12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공단·재단·병원</a:t>
            </a: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 → </a:t>
            </a:r>
            <a:r>
              <a:rPr sz="12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공공기관</a:t>
            </a:r>
            <a:endParaRPr sz="12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100"/>
              </a:spcAft>
            </a:pP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· </a:t>
            </a:r>
            <a:r>
              <a:rPr sz="12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특별시·도</a:t>
            </a: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 → </a:t>
            </a:r>
            <a:r>
              <a:rPr sz="12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광역지자체</a:t>
            </a:r>
            <a:endParaRPr sz="12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100"/>
              </a:spcAft>
            </a:pP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· </a:t>
            </a:r>
            <a:r>
              <a:rPr sz="12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시·군·구</a:t>
            </a: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 → </a:t>
            </a:r>
            <a:r>
              <a:rPr sz="12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기초지자체</a:t>
            </a:r>
            <a:endParaRPr sz="12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100"/>
              </a:spcAft>
            </a:pP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· 그 외 → </a:t>
            </a:r>
            <a:r>
              <a:rPr sz="12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기타</a:t>
            </a:r>
            <a:endParaRPr lang="en-US" sz="12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>
              <a:lnSpc>
                <a:spcPct val="124000"/>
              </a:lnSpc>
              <a:spcAft>
                <a:spcPts val="100"/>
              </a:spcAft>
            </a:pPr>
            <a:r>
              <a:rPr lang="en-US" altLang="ko-KR" sz="1200" b="1" dirty="0">
                <a:solidFill>
                  <a:srgbClr val="00965F"/>
                </a:solidFill>
                <a:latin typeface="맑은 고딕"/>
                <a:ea typeface="맑은 고딕"/>
              </a:rPr>
              <a:t>· ‘</a:t>
            </a:r>
            <a:r>
              <a:rPr lang="ko-KR" altLang="en-US" sz="1200" b="1" dirty="0">
                <a:solidFill>
                  <a:srgbClr val="00965F"/>
                </a:solidFill>
                <a:latin typeface="맑은 고딕"/>
                <a:ea typeface="맑은 고딕"/>
              </a:rPr>
              <a:t>소스’</a:t>
            </a:r>
            <a:r>
              <a:rPr lang="en-US" altLang="ko-KR" sz="1200" b="1" dirty="0">
                <a:solidFill>
                  <a:srgbClr val="00965F"/>
                </a:solidFill>
                <a:latin typeface="맑은 고딕"/>
                <a:ea typeface="맑은 고딕"/>
              </a:rPr>
              <a:t>·</a:t>
            </a:r>
            <a:r>
              <a:rPr lang="ko-KR" altLang="en-US" sz="1200" b="1" dirty="0" err="1">
                <a:solidFill>
                  <a:srgbClr val="00965F"/>
                </a:solidFill>
                <a:latin typeface="맑은 고딕"/>
                <a:ea typeface="맑은 고딕"/>
              </a:rPr>
              <a:t>빈값</a:t>
            </a:r>
            <a:r>
              <a:rPr lang="ko-KR" altLang="en-US" sz="1200" b="1" dirty="0">
                <a:solidFill>
                  <a:srgbClr val="00965F"/>
                </a:solidFill>
                <a:latin typeface="맑은 고딕"/>
                <a:ea typeface="맑은 고딕"/>
              </a:rPr>
              <a:t> → 미상</a:t>
            </a:r>
          </a:p>
        </p:txBody>
      </p:sp>
      <p:sp>
        <p:nvSpPr>
          <p:cNvPr id="310" name="arrow2"/>
          <p:cNvSpPr txBox="1"/>
          <p:nvPr/>
        </p:nvSpPr>
        <p:spPr>
          <a:xfrm>
            <a:off x="9411919" y="1880178"/>
            <a:ext cx="310896" cy="3703320"/>
          </a:xfrm>
          <a:prstGeom prst="rect">
            <a:avLst/>
          </a:prstGeom>
          <a:noFill/>
        </p:spPr>
        <p:txBody>
          <a:bodyPr wrap="square" lIns="12700" tIns="6350" rIns="12700" bIns="6350" anchor="ctr">
            <a:norm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00965F"/>
                </a:solidFill>
                <a:latin typeface="맑은 고딕"/>
                <a:ea typeface="맑은 고딕"/>
              </a:rPr>
              <a:t>▶</a:t>
            </a:r>
          </a:p>
        </p:txBody>
      </p:sp>
      <p:sp>
        <p:nvSpPr>
          <p:cNvPr id="311" name="card-bg"/>
          <p:cNvSpPr/>
          <p:nvPr/>
        </p:nvSpPr>
        <p:spPr>
          <a:xfrm>
            <a:off x="9741103" y="1880178"/>
            <a:ext cx="2176272" cy="3703320"/>
          </a:xfrm>
          <a:prstGeom prst="roundRect">
            <a:avLst/>
          </a:prstGeom>
          <a:solidFill>
            <a:srgbClr val="EEF2F8"/>
          </a:solidFill>
          <a:ln w="9525">
            <a:solidFill>
              <a:srgbClr val="D0D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312" name="card-hdr"/>
          <p:cNvSpPr/>
          <p:nvPr/>
        </p:nvSpPr>
        <p:spPr>
          <a:xfrm>
            <a:off x="9741103" y="1880178"/>
            <a:ext cx="2176272" cy="310896"/>
          </a:xfrm>
          <a:prstGeom prst="roundRect">
            <a:avLst/>
          </a:prstGeom>
          <a:solidFill>
            <a:srgbClr val="081F46"/>
          </a:solidFill>
          <a:ln w="9525">
            <a:solidFill>
              <a:srgbClr val="081F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85000" lnSpcReduction="20000"/>
          </a:bodyPr>
          <a:lstStyle/>
          <a:p>
            <a:pPr algn="ctr"/>
            <a:endParaRPr/>
          </a:p>
        </p:txBody>
      </p:sp>
      <p:sp>
        <p:nvSpPr>
          <p:cNvPr id="313" name="card-title"/>
          <p:cNvSpPr txBox="1"/>
          <p:nvPr/>
        </p:nvSpPr>
        <p:spPr>
          <a:xfrm>
            <a:off x="9741103" y="1880178"/>
            <a:ext cx="2176272" cy="310896"/>
          </a:xfrm>
          <a:prstGeom prst="rect">
            <a:avLst/>
          </a:prstGeom>
          <a:noFill/>
        </p:spPr>
        <p:txBody>
          <a:bodyPr wrap="square" lIns="12700" tIns="6350" rIns="12700" bIns="6350" anchor="ctr">
            <a:norm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맑은 고딕"/>
                <a:ea typeface="맑은 고딕"/>
              </a:rPr>
              <a:t>③ 7개 기관유형</a:t>
            </a:r>
          </a:p>
        </p:txBody>
      </p:sp>
      <p:sp>
        <p:nvSpPr>
          <p:cNvPr id="314" name="card-body"/>
          <p:cNvSpPr txBox="1"/>
          <p:nvPr/>
        </p:nvSpPr>
        <p:spPr>
          <a:xfrm>
            <a:off x="9832543" y="2236794"/>
            <a:ext cx="1993392" cy="3300984"/>
          </a:xfrm>
          <a:prstGeom prst="rect">
            <a:avLst/>
          </a:prstGeom>
          <a:noFill/>
        </p:spPr>
        <p:txBody>
          <a:bodyPr wrap="square" lIns="12700" tIns="6350" rIns="12700" bIns="6350" anchor="t">
            <a:normAutofit/>
          </a:bodyPr>
          <a:lstStyle/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100"/>
              </a:spcAft>
            </a:pPr>
            <a:r>
              <a:rPr sz="1200" b="1" i="0" dirty="0">
                <a:solidFill>
                  <a:srgbClr val="081F46"/>
                </a:solidFill>
                <a:latin typeface="맑은 고딕"/>
                <a:ea typeface="맑은 고딕"/>
              </a:rPr>
              <a:t>7개 </a:t>
            </a:r>
            <a:r>
              <a:rPr sz="1200" b="1" i="0" dirty="0" err="1">
                <a:solidFill>
                  <a:srgbClr val="081F46"/>
                </a:solidFill>
                <a:latin typeface="맑은 고딕"/>
                <a:ea typeface="맑은 고딕"/>
              </a:rPr>
              <a:t>기관유형</a:t>
            </a:r>
            <a:r>
              <a:rPr sz="1200" b="1" i="0" dirty="0">
                <a:solidFill>
                  <a:srgbClr val="081F46"/>
                </a:solidFill>
                <a:latin typeface="맑은 고딕"/>
                <a:ea typeface="맑은 고딕"/>
              </a:rPr>
              <a:t> (</a:t>
            </a:r>
            <a:r>
              <a:rPr sz="1200" b="1" i="0" dirty="0" err="1">
                <a:solidFill>
                  <a:srgbClr val="081F46"/>
                </a:solidFill>
                <a:latin typeface="맑은 고딕"/>
                <a:ea typeface="맑은 고딕"/>
              </a:rPr>
              <a:t>테이블</a:t>
            </a:r>
            <a:r>
              <a:rPr sz="1200" b="1" i="0" dirty="0">
                <a:solidFill>
                  <a:srgbClr val="081F46"/>
                </a:solidFill>
                <a:latin typeface="맑은 고딕"/>
                <a:ea typeface="맑은 고딕"/>
              </a:rPr>
              <a:t> 수)</a:t>
            </a:r>
          </a:p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100"/>
              </a:spcAft>
            </a:pP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· </a:t>
            </a:r>
            <a:r>
              <a:rPr sz="12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기초지자체</a:t>
            </a: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  404</a:t>
            </a:r>
          </a:p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100"/>
              </a:spcAft>
            </a:pP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· </a:t>
            </a:r>
            <a:r>
              <a:rPr sz="12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공공기관</a:t>
            </a: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  245</a:t>
            </a:r>
          </a:p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100"/>
              </a:spcAft>
            </a:pP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· </a:t>
            </a:r>
            <a:r>
              <a:rPr sz="12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광역지자체</a:t>
            </a: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  83</a:t>
            </a:r>
          </a:p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100"/>
              </a:spcAft>
            </a:pP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· </a:t>
            </a:r>
            <a:r>
              <a:rPr sz="12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교육기관</a:t>
            </a: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  49</a:t>
            </a:r>
          </a:p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100"/>
              </a:spcAft>
            </a:pP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· </a:t>
            </a:r>
            <a:r>
              <a:rPr sz="12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중앙행정</a:t>
            </a: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  39</a:t>
            </a:r>
          </a:p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100"/>
              </a:spcAft>
            </a:pP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· </a:t>
            </a:r>
            <a:r>
              <a:rPr sz="12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기타</a:t>
            </a: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  34</a:t>
            </a:r>
            <a:endParaRPr lang="en-US" sz="12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>
              <a:lnSpc>
                <a:spcPct val="124000"/>
              </a:lnSpc>
              <a:spcAft>
                <a:spcPts val="100"/>
              </a:spcAft>
            </a:pPr>
            <a:r>
              <a:rPr lang="en-US" altLang="ko-KR" sz="1200" b="1" dirty="0">
                <a:solidFill>
                  <a:srgbClr val="00965F"/>
                </a:solidFill>
                <a:latin typeface="맑은 고딕"/>
                <a:ea typeface="맑은 고딕"/>
              </a:rPr>
              <a:t>· </a:t>
            </a:r>
            <a:r>
              <a:rPr lang="ko-KR" altLang="en-US" sz="1200" b="1" dirty="0">
                <a:solidFill>
                  <a:srgbClr val="00965F"/>
                </a:solidFill>
                <a:latin typeface="맑은 고딕"/>
                <a:ea typeface="맑은 고딕"/>
              </a:rPr>
              <a:t>미상</a:t>
            </a:r>
            <a:r>
              <a:rPr lang="en-US" altLang="ko-KR" sz="1200" b="1" dirty="0">
                <a:solidFill>
                  <a:srgbClr val="00965F"/>
                </a:solidFill>
                <a:latin typeface="맑은 고딕"/>
                <a:ea typeface="맑은 고딕"/>
              </a:rPr>
              <a:t>(</a:t>
            </a:r>
            <a:r>
              <a:rPr lang="ko-KR" altLang="en-US" sz="1200" b="1" dirty="0">
                <a:solidFill>
                  <a:srgbClr val="00965F"/>
                </a:solidFill>
                <a:latin typeface="맑은 고딕"/>
                <a:ea typeface="맑은 고딕"/>
              </a:rPr>
              <a:t>소스</a:t>
            </a:r>
            <a:r>
              <a:rPr lang="en-US" altLang="ko-KR" sz="1200" b="1" dirty="0">
                <a:solidFill>
                  <a:srgbClr val="00965F"/>
                </a:solidFill>
                <a:latin typeface="맑은 고딕"/>
                <a:ea typeface="맑은 고딕"/>
              </a:rPr>
              <a:t>)  145</a:t>
            </a:r>
          </a:p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100"/>
              </a:spcAft>
            </a:pPr>
            <a:endParaRPr sz="1200" b="0" i="0" dirty="0">
              <a:solidFill>
                <a:srgbClr val="282D37"/>
              </a:solidFill>
              <a:latin typeface="맑은 고딕"/>
              <a:ea typeface="맑은 고딕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109728"/>
            <a:ext cx="11057839" cy="237744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965F"/>
                </a:solidFill>
                <a:latin typeface="맑은 고딕"/>
                <a:ea typeface="맑은 고딕"/>
              </a:rPr>
              <a:t>공통 전처리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676656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81F46"/>
                </a:solidFill>
                <a:latin typeface="맑은 고딕"/>
                <a:ea typeface="맑은 고딕"/>
              </a:rPr>
              <a:t>공통 데이터 준비 ④ 트랜잭션·패턴·검증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60704"/>
            <a:ext cx="11057839" cy="27940"/>
          </a:xfrm>
          <a:prstGeom prst="rect">
            <a:avLst/>
          </a:prstGeom>
          <a:solidFill>
            <a:srgbClr val="081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25000" lnSpcReduction="20000"/>
          </a:bodyPr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66928" y="1170432"/>
            <a:ext cx="11057839" cy="512064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505050"/>
                </a:solidFill>
                <a:latin typeface="맑은 고딕"/>
                <a:ea typeface="맑은 고딕"/>
              </a:rPr>
              <a:t>테이블을 거래로 보고 두 종류 아이템으로 FP-Growth·연관규칙·검증 수행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37376"/>
            <a:ext cx="82296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87878"/>
                </a:solidFill>
                <a:latin typeface="맑은 고딕"/>
                <a:ea typeface="맑은 고딕"/>
              </a:rPr>
              <a:t>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828800"/>
            <a:ext cx="4864246" cy="3802451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•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트랜잭션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: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테이블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1건 = 1 transaction</a:t>
            </a:r>
            <a:endParaRPr lang="en-US" sz="15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endParaRPr sz="15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•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아이템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(A)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속성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: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cate·기관·레코드·컬럼폭·수치비·유일키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·</a:t>
            </a:r>
            <a:endParaRPr lang="en-US" sz="15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lang="en-US" sz="1500" dirty="0">
                <a:solidFill>
                  <a:srgbClr val="282D37"/>
                </a:solidFill>
                <a:latin typeface="맑은 고딕"/>
                <a:ea typeface="맑은 고딕"/>
              </a:rPr>
              <a:t> 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상수컬럼</a:t>
            </a:r>
            <a:endParaRPr lang="en-US" sz="15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endParaRPr sz="15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•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아이템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(B)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장바구니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: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테이블이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보유한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컬럼개념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집합</a:t>
            </a:r>
            <a:endParaRPr lang="en-US" sz="15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lang="en-US" sz="1500" dirty="0">
                <a:solidFill>
                  <a:srgbClr val="282D37"/>
                </a:solidFill>
                <a:latin typeface="맑은 고딕"/>
                <a:ea typeface="맑은 고딕"/>
              </a:rPr>
              <a:t>  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(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평균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9.6개)</a:t>
            </a:r>
            <a:endParaRPr lang="en-US" sz="15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endParaRPr sz="15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• FP-Growth</a:t>
            </a:r>
            <a:r>
              <a:rPr lang="en-US"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→</a:t>
            </a:r>
            <a:r>
              <a:rPr lang="en-US"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association_rules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(lift)</a:t>
            </a:r>
            <a:endParaRPr lang="en-US" sz="15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endParaRPr sz="15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•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검증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: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전체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999건에서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지표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재계산</a:t>
            </a:r>
            <a:r>
              <a:rPr lang="en-US" sz="150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lang="ko-KR" altLang="en-US" sz="1500" dirty="0">
                <a:solidFill>
                  <a:srgbClr val="282D37"/>
                </a:solidFill>
                <a:latin typeface="맑은 고딕"/>
                <a:ea typeface="맑은 고딕"/>
              </a:rPr>
              <a:t>수행</a:t>
            </a:r>
            <a:endParaRPr sz="1500" b="0" i="0" dirty="0">
              <a:solidFill>
                <a:srgbClr val="282D37"/>
              </a:solidFill>
              <a:latin typeface="맑은 고딕"/>
              <a:ea typeface="맑은 고딕"/>
            </a:endParaRPr>
          </a:p>
        </p:txBody>
      </p:sp>
      <p:sp>
        <p:nvSpPr>
          <p:cNvPr id="401" name="card-bg"/>
          <p:cNvSpPr/>
          <p:nvPr/>
        </p:nvSpPr>
        <p:spPr>
          <a:xfrm>
            <a:off x="5522614" y="1828800"/>
            <a:ext cx="6071978" cy="859536"/>
          </a:xfrm>
          <a:prstGeom prst="roundRect">
            <a:avLst/>
          </a:prstGeom>
          <a:solidFill>
            <a:srgbClr val="EEF2F8"/>
          </a:solidFill>
          <a:ln w="9525">
            <a:solidFill>
              <a:srgbClr val="D0D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402" name="card-hdr"/>
          <p:cNvSpPr/>
          <p:nvPr/>
        </p:nvSpPr>
        <p:spPr>
          <a:xfrm>
            <a:off x="5522614" y="1828800"/>
            <a:ext cx="6071978" cy="292608"/>
          </a:xfrm>
          <a:prstGeom prst="roundRect">
            <a:avLst/>
          </a:prstGeom>
          <a:solidFill>
            <a:srgbClr val="081F46"/>
          </a:solidFill>
          <a:ln w="9525">
            <a:solidFill>
              <a:srgbClr val="081F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70000" lnSpcReduction="20000"/>
          </a:bodyPr>
          <a:lstStyle/>
          <a:p>
            <a:pPr algn="ctr"/>
            <a:endParaRPr/>
          </a:p>
        </p:txBody>
      </p:sp>
      <p:sp>
        <p:nvSpPr>
          <p:cNvPr id="403" name="card-title"/>
          <p:cNvSpPr txBox="1"/>
          <p:nvPr/>
        </p:nvSpPr>
        <p:spPr>
          <a:xfrm>
            <a:off x="5522614" y="1828800"/>
            <a:ext cx="6071978" cy="292608"/>
          </a:xfrm>
          <a:prstGeom prst="rect">
            <a:avLst/>
          </a:prstGeom>
          <a:noFill/>
        </p:spPr>
        <p:txBody>
          <a:bodyPr wrap="square" lIns="12700" tIns="6350" rIns="12700" bIns="6350" anchor="ctr">
            <a:norm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 dirty="0" err="1">
                <a:solidFill>
                  <a:srgbClr val="FFFFFF"/>
                </a:solidFill>
                <a:latin typeface="맑은 고딕"/>
                <a:ea typeface="맑은 고딕"/>
              </a:rPr>
              <a:t>예시</a:t>
            </a:r>
            <a:r>
              <a:rPr sz="1400" b="1" i="0" dirty="0">
                <a:solidFill>
                  <a:srgbClr val="FFFFFF"/>
                </a:solidFill>
                <a:latin typeface="맑은 고딕"/>
                <a:ea typeface="맑은 고딕"/>
              </a:rPr>
              <a:t> </a:t>
            </a:r>
            <a:r>
              <a:rPr sz="1400" b="1" i="0" dirty="0" err="1">
                <a:solidFill>
                  <a:srgbClr val="FFFFFF"/>
                </a:solidFill>
                <a:latin typeface="맑은 고딕"/>
                <a:ea typeface="맑은 고딕"/>
              </a:rPr>
              <a:t>테이블</a:t>
            </a:r>
            <a:r>
              <a:rPr sz="1400" b="1" i="0" dirty="0">
                <a:solidFill>
                  <a:srgbClr val="FFFFFF"/>
                </a:solidFill>
                <a:latin typeface="맑은 고딕"/>
                <a:ea typeface="맑은 고딕"/>
              </a:rPr>
              <a:t> 1건</a:t>
            </a:r>
          </a:p>
        </p:txBody>
      </p:sp>
      <p:sp>
        <p:nvSpPr>
          <p:cNvPr id="404" name="card-body"/>
          <p:cNvSpPr txBox="1"/>
          <p:nvPr/>
        </p:nvSpPr>
        <p:spPr>
          <a:xfrm>
            <a:off x="5667468" y="2157984"/>
            <a:ext cx="5835683" cy="493776"/>
          </a:xfrm>
          <a:prstGeom prst="rect">
            <a:avLst/>
          </a:prstGeom>
          <a:noFill/>
        </p:spPr>
        <p:txBody>
          <a:bodyPr wrap="square" lIns="12700" tIns="6350" rIns="12700" bIns="6350" anchor="t">
            <a:norm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dirty="0" err="1">
                <a:solidFill>
                  <a:srgbClr val="081F46"/>
                </a:solidFill>
                <a:latin typeface="맑은 고딕"/>
                <a:ea typeface="맑은 고딕"/>
              </a:rPr>
              <a:t>전북특별자치도</a:t>
            </a:r>
            <a:r>
              <a:rPr sz="1200" b="1" i="0" dirty="0">
                <a:solidFill>
                  <a:srgbClr val="081F46"/>
                </a:solidFill>
                <a:latin typeface="맑은 고딕"/>
                <a:ea typeface="맑은 고딕"/>
              </a:rPr>
              <a:t> 무주군_행정기관_20240831.csv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rec_cnt</a:t>
            </a:r>
            <a:r>
              <a:rPr sz="1100" b="0" i="0" dirty="0">
                <a:solidFill>
                  <a:srgbClr val="282D37"/>
                </a:solidFill>
                <a:latin typeface="맑은 고딕"/>
                <a:ea typeface="맑은 고딕"/>
              </a:rPr>
              <a:t>=157 · </a:t>
            </a:r>
            <a:r>
              <a:rPr sz="11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column_cnt</a:t>
            </a:r>
            <a:r>
              <a:rPr sz="1100" b="0" i="0" dirty="0">
                <a:solidFill>
                  <a:srgbClr val="282D37"/>
                </a:solidFill>
                <a:latin typeface="맑은 고딕"/>
                <a:ea typeface="맑은 고딕"/>
              </a:rPr>
              <a:t>=7 (</a:t>
            </a:r>
            <a:r>
              <a:rPr sz="11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범주</a:t>
            </a:r>
            <a:r>
              <a:rPr sz="1100" b="0" i="0" dirty="0">
                <a:solidFill>
                  <a:srgbClr val="282D37"/>
                </a:solidFill>
                <a:latin typeface="맑은 고딕"/>
                <a:ea typeface="맑은 고딕"/>
              </a:rPr>
              <a:t> 5·수치 2) · </a:t>
            </a:r>
            <a:r>
              <a:rPr sz="11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출처</a:t>
            </a:r>
            <a:r>
              <a:rPr sz="1100" b="0" i="0" dirty="0">
                <a:solidFill>
                  <a:srgbClr val="282D37"/>
                </a:solidFill>
                <a:latin typeface="맑은 고딕"/>
                <a:ea typeface="맑은 고딕"/>
              </a:rPr>
              <a:t>=‘</a:t>
            </a:r>
            <a:r>
              <a:rPr sz="11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전북특별자치도</a:t>
            </a:r>
            <a:r>
              <a:rPr sz="11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1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무주군</a:t>
            </a:r>
            <a:r>
              <a:rPr sz="1100" b="0" i="0" dirty="0">
                <a:solidFill>
                  <a:srgbClr val="282D37"/>
                </a:solidFill>
                <a:latin typeface="맑은 고딕"/>
                <a:ea typeface="맑은 고딕"/>
              </a:rPr>
              <a:t>’</a:t>
            </a:r>
          </a:p>
        </p:txBody>
      </p:sp>
      <p:sp>
        <p:nvSpPr>
          <p:cNvPr id="405" name="arrow1"/>
          <p:cNvSpPr txBox="1"/>
          <p:nvPr/>
        </p:nvSpPr>
        <p:spPr>
          <a:xfrm>
            <a:off x="4510735" y="2870495"/>
            <a:ext cx="7114032" cy="274320"/>
          </a:xfrm>
          <a:prstGeom prst="rect">
            <a:avLst/>
          </a:prstGeom>
          <a:noFill/>
        </p:spPr>
        <p:txBody>
          <a:bodyPr wrap="square" lIns="12700" tIns="6350" rIns="12700" bIns="6350" anchor="ctr">
            <a:norm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dirty="0">
                <a:solidFill>
                  <a:srgbClr val="00965F"/>
                </a:solidFill>
                <a:latin typeface="맑은 고딕"/>
                <a:ea typeface="맑은 고딕"/>
              </a:rPr>
              <a:t>▼  ① 1D </a:t>
            </a:r>
            <a:r>
              <a:rPr sz="1200" b="1" i="0" dirty="0" err="1">
                <a:solidFill>
                  <a:srgbClr val="00965F"/>
                </a:solidFill>
                <a:latin typeface="맑은 고딕"/>
                <a:ea typeface="맑은 고딕"/>
              </a:rPr>
              <a:t>이산화</a:t>
            </a:r>
            <a:r>
              <a:rPr sz="1200" b="1" i="0" dirty="0">
                <a:solidFill>
                  <a:srgbClr val="00965F"/>
                </a:solidFill>
                <a:latin typeface="맑은 고딕"/>
                <a:ea typeface="맑은 고딕"/>
              </a:rPr>
              <a:t>(6p) · ② AOI </a:t>
            </a:r>
            <a:r>
              <a:rPr sz="1200" b="1" i="0" dirty="0" err="1">
                <a:solidFill>
                  <a:srgbClr val="00965F"/>
                </a:solidFill>
                <a:latin typeface="맑은 고딕"/>
                <a:ea typeface="맑은 고딕"/>
              </a:rPr>
              <a:t>롤업</a:t>
            </a:r>
            <a:r>
              <a:rPr sz="1200" b="1" i="0" dirty="0">
                <a:solidFill>
                  <a:srgbClr val="00965F"/>
                </a:solidFill>
                <a:latin typeface="맑은 고딕"/>
                <a:ea typeface="맑은 고딕"/>
              </a:rPr>
              <a:t>(7p) </a:t>
            </a:r>
            <a:r>
              <a:rPr sz="1200" b="1" i="0" dirty="0" err="1">
                <a:solidFill>
                  <a:srgbClr val="00965F"/>
                </a:solidFill>
                <a:latin typeface="맑은 고딕"/>
                <a:ea typeface="맑은 고딕"/>
              </a:rPr>
              <a:t>적용</a:t>
            </a:r>
            <a:r>
              <a:rPr sz="1200" b="1" i="0" dirty="0">
                <a:solidFill>
                  <a:srgbClr val="00965F"/>
                </a:solidFill>
                <a:latin typeface="맑은 고딕"/>
                <a:ea typeface="맑은 고딕"/>
              </a:rPr>
              <a:t> → </a:t>
            </a:r>
            <a:r>
              <a:rPr sz="1200" b="1" i="0" dirty="0" err="1">
                <a:solidFill>
                  <a:srgbClr val="00965F"/>
                </a:solidFill>
                <a:latin typeface="맑은 고딕"/>
                <a:ea typeface="맑은 고딕"/>
              </a:rPr>
              <a:t>아이템</a:t>
            </a:r>
            <a:r>
              <a:rPr sz="1200" b="1" i="0" dirty="0">
                <a:solidFill>
                  <a:srgbClr val="00965F"/>
                </a:solidFill>
                <a:latin typeface="맑은 고딕"/>
                <a:ea typeface="맑은 고딕"/>
              </a:rPr>
              <a:t> </a:t>
            </a:r>
            <a:r>
              <a:rPr sz="1200" b="1" i="0" dirty="0" err="1">
                <a:solidFill>
                  <a:srgbClr val="00965F"/>
                </a:solidFill>
                <a:latin typeface="맑은 고딕"/>
                <a:ea typeface="맑은 고딕"/>
              </a:rPr>
              <a:t>생성</a:t>
            </a:r>
            <a:endParaRPr sz="1200" b="1" i="0" dirty="0">
              <a:solidFill>
                <a:srgbClr val="00965F"/>
              </a:solidFill>
              <a:latin typeface="맑은 고딕"/>
              <a:ea typeface="맑은 고딕"/>
            </a:endParaRPr>
          </a:p>
        </p:txBody>
      </p:sp>
      <p:sp>
        <p:nvSpPr>
          <p:cNvPr id="406" name="basket-bg"/>
          <p:cNvSpPr/>
          <p:nvPr/>
        </p:nvSpPr>
        <p:spPr>
          <a:xfrm>
            <a:off x="5522614" y="3589882"/>
            <a:ext cx="6071978" cy="2317137"/>
          </a:xfrm>
          <a:prstGeom prst="roundRect">
            <a:avLst/>
          </a:prstGeom>
          <a:solidFill>
            <a:srgbClr val="E8F5F0"/>
          </a:solidFill>
          <a:ln w="9525">
            <a:solidFill>
              <a:srgbClr val="C7DE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407" name="basket-hdr"/>
          <p:cNvSpPr/>
          <p:nvPr/>
        </p:nvSpPr>
        <p:spPr>
          <a:xfrm>
            <a:off x="5522614" y="3597302"/>
            <a:ext cx="6071978" cy="292608"/>
          </a:xfrm>
          <a:prstGeom prst="roundRect">
            <a:avLst/>
          </a:prstGeom>
          <a:solidFill>
            <a:srgbClr val="00965F"/>
          </a:solidFill>
          <a:ln w="9525">
            <a:solidFill>
              <a:srgbClr val="0096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70000" lnSpcReduction="20000"/>
          </a:bodyPr>
          <a:lstStyle/>
          <a:p>
            <a:pPr algn="ctr"/>
            <a:endParaRPr/>
          </a:p>
        </p:txBody>
      </p:sp>
      <p:sp>
        <p:nvSpPr>
          <p:cNvPr id="408" name="basket-title"/>
          <p:cNvSpPr txBox="1"/>
          <p:nvPr/>
        </p:nvSpPr>
        <p:spPr>
          <a:xfrm>
            <a:off x="5522614" y="3597302"/>
            <a:ext cx="6071978" cy="292608"/>
          </a:xfrm>
          <a:prstGeom prst="rect">
            <a:avLst/>
          </a:prstGeom>
          <a:noFill/>
        </p:spPr>
        <p:txBody>
          <a:bodyPr wrap="square" lIns="12700" tIns="6350" rIns="12700" bIns="6350" anchor="ctr">
            <a:norm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 dirty="0" err="1">
                <a:solidFill>
                  <a:srgbClr val="FFFFFF"/>
                </a:solidFill>
                <a:latin typeface="맑은 고딕"/>
                <a:ea typeface="맑은 고딕"/>
              </a:rPr>
              <a:t>트랜잭션</a:t>
            </a:r>
            <a:r>
              <a:rPr sz="1400" b="1" i="0" dirty="0">
                <a:solidFill>
                  <a:srgbClr val="FFFFFF"/>
                </a:solidFill>
                <a:latin typeface="맑은 고딕"/>
                <a:ea typeface="맑은 고딕"/>
              </a:rPr>
              <a:t>(</a:t>
            </a:r>
            <a:r>
              <a:rPr sz="1400" b="1" i="0" dirty="0" err="1">
                <a:solidFill>
                  <a:srgbClr val="FFFFFF"/>
                </a:solidFill>
                <a:latin typeface="맑은 고딕"/>
                <a:ea typeface="맑은 고딕"/>
              </a:rPr>
              <a:t>장바구니</a:t>
            </a:r>
            <a:r>
              <a:rPr sz="1400" b="1" i="0" dirty="0">
                <a:solidFill>
                  <a:srgbClr val="FFFFFF"/>
                </a:solidFill>
                <a:latin typeface="맑은 고딕"/>
                <a:ea typeface="맑은 고딕"/>
              </a:rPr>
              <a:t>) = </a:t>
            </a:r>
            <a:r>
              <a:rPr sz="1400" b="1" i="0" dirty="0" err="1">
                <a:solidFill>
                  <a:srgbClr val="FFFFFF"/>
                </a:solidFill>
                <a:latin typeface="맑은 고딕"/>
                <a:ea typeface="맑은 고딕"/>
              </a:rPr>
              <a:t>테이블</a:t>
            </a:r>
            <a:r>
              <a:rPr sz="1400" b="1" i="0" dirty="0">
                <a:solidFill>
                  <a:srgbClr val="FFFFFF"/>
                </a:solidFill>
                <a:latin typeface="맑은 고딕"/>
                <a:ea typeface="맑은 고딕"/>
              </a:rPr>
              <a:t> 1건 = 1 </a:t>
            </a:r>
            <a:r>
              <a:rPr sz="1400" b="1" i="0" dirty="0" err="1">
                <a:solidFill>
                  <a:srgbClr val="FFFFFF"/>
                </a:solidFill>
                <a:latin typeface="맑은 고딕"/>
                <a:ea typeface="맑은 고딕"/>
              </a:rPr>
              <a:t>거래</a:t>
            </a:r>
            <a:endParaRPr sz="1400" b="1" i="0" dirty="0">
              <a:solidFill>
                <a:srgbClr val="FFFFFF"/>
              </a:solidFill>
              <a:latin typeface="맑은 고딕"/>
              <a:ea typeface="맑은 고딕"/>
            </a:endParaRPr>
          </a:p>
        </p:txBody>
      </p:sp>
      <p:sp>
        <p:nvSpPr>
          <p:cNvPr id="409" name="subA"/>
          <p:cNvSpPr txBox="1"/>
          <p:nvPr/>
        </p:nvSpPr>
        <p:spPr>
          <a:xfrm>
            <a:off x="5667468" y="4051153"/>
            <a:ext cx="5780820" cy="201168"/>
          </a:xfrm>
          <a:prstGeom prst="rect">
            <a:avLst/>
          </a:prstGeom>
          <a:noFill/>
        </p:spPr>
        <p:txBody>
          <a:bodyPr wrap="square" lIns="12700" tIns="6350" rIns="12700" bIns="6350" anchor="t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dirty="0">
                <a:solidFill>
                  <a:srgbClr val="081F46"/>
                </a:solidFill>
                <a:latin typeface="맑은 고딕"/>
                <a:ea typeface="맑은 고딕"/>
              </a:rPr>
              <a:t>① </a:t>
            </a:r>
            <a:r>
              <a:rPr sz="1200" b="1" i="0" dirty="0" err="1">
                <a:solidFill>
                  <a:srgbClr val="081F46"/>
                </a:solidFill>
                <a:latin typeface="맑은 고딕"/>
                <a:ea typeface="맑은 고딕"/>
              </a:rPr>
              <a:t>속성</a:t>
            </a:r>
            <a:r>
              <a:rPr sz="1200" b="1" i="0" dirty="0">
                <a:solidFill>
                  <a:srgbClr val="081F46"/>
                </a:solidFill>
                <a:latin typeface="맑은 고딕"/>
                <a:ea typeface="맑은 고딕"/>
              </a:rPr>
              <a:t> </a:t>
            </a:r>
            <a:r>
              <a:rPr sz="1200" b="1" i="0" dirty="0" err="1">
                <a:solidFill>
                  <a:srgbClr val="081F46"/>
                </a:solidFill>
                <a:latin typeface="맑은 고딕"/>
                <a:ea typeface="맑은 고딕"/>
              </a:rPr>
              <a:t>아이템</a:t>
            </a:r>
            <a:endParaRPr sz="1200" b="1" i="0" dirty="0">
              <a:solidFill>
                <a:srgbClr val="081F46"/>
              </a:solidFill>
              <a:latin typeface="맑은 고딕"/>
              <a:ea typeface="맑은 고딕"/>
            </a:endParaRPr>
          </a:p>
        </p:txBody>
      </p:sp>
      <p:sp>
        <p:nvSpPr>
          <p:cNvPr id="410" name="attrA"/>
          <p:cNvSpPr txBox="1"/>
          <p:nvPr/>
        </p:nvSpPr>
        <p:spPr>
          <a:xfrm>
            <a:off x="5667468" y="4243177"/>
            <a:ext cx="5780820" cy="420624"/>
          </a:xfrm>
          <a:prstGeom prst="rect">
            <a:avLst/>
          </a:prstGeom>
          <a:noFill/>
        </p:spPr>
        <p:txBody>
          <a:bodyPr wrap="square" lIns="12700" tIns="6350" rIns="12700" bIns="6350" anchor="t">
            <a:norm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 dirty="0">
                <a:solidFill>
                  <a:srgbClr val="282D37"/>
                </a:solidFill>
                <a:latin typeface="맑은 고딕"/>
                <a:ea typeface="맑은 고딕"/>
              </a:rPr>
              <a:t>cate1=</a:t>
            </a:r>
            <a:r>
              <a:rPr sz="11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공공행정</a:t>
            </a:r>
            <a:r>
              <a:rPr sz="1100" b="0" i="0" dirty="0">
                <a:solidFill>
                  <a:srgbClr val="282D37"/>
                </a:solidFill>
                <a:latin typeface="맑은 고딕"/>
                <a:ea typeface="맑은 고딕"/>
              </a:rPr>
              <a:t> · cate2=</a:t>
            </a:r>
            <a:r>
              <a:rPr sz="11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일반행정</a:t>
            </a:r>
            <a:r>
              <a:rPr sz="1100" b="0" i="0" dirty="0">
                <a:solidFill>
                  <a:srgbClr val="282D37"/>
                </a:solidFill>
                <a:latin typeface="맑은 고딕"/>
                <a:ea typeface="맑은 고딕"/>
              </a:rPr>
              <a:t> · </a:t>
            </a:r>
            <a:r>
              <a:rPr sz="1100" b="1" i="0" dirty="0" err="1">
                <a:solidFill>
                  <a:srgbClr val="00965F"/>
                </a:solidFill>
                <a:latin typeface="맑은 고딕"/>
                <a:ea typeface="맑은 고딕"/>
              </a:rPr>
              <a:t>레코드</a:t>
            </a:r>
            <a:r>
              <a:rPr lang="en-US" sz="1100" b="1" i="0" dirty="0">
                <a:solidFill>
                  <a:srgbClr val="00965F"/>
                </a:solidFill>
                <a:latin typeface="맑은 고딕"/>
                <a:ea typeface="맑은 고딕"/>
              </a:rPr>
              <a:t> </a:t>
            </a:r>
            <a:r>
              <a:rPr lang="ko-KR" altLang="en-US" sz="1100" b="1" i="0" dirty="0">
                <a:solidFill>
                  <a:srgbClr val="00965F"/>
                </a:solidFill>
                <a:latin typeface="맑은 고딕"/>
                <a:ea typeface="맑은 고딕"/>
              </a:rPr>
              <a:t>수</a:t>
            </a:r>
            <a:r>
              <a:rPr sz="1100" b="1" i="0" dirty="0">
                <a:solidFill>
                  <a:srgbClr val="00965F"/>
                </a:solidFill>
                <a:latin typeface="맑은 고딕"/>
                <a:ea typeface="맑은 고딕"/>
              </a:rPr>
              <a:t>=중 · </a:t>
            </a:r>
            <a:r>
              <a:rPr sz="1100" b="1" i="0" dirty="0" err="1">
                <a:solidFill>
                  <a:srgbClr val="00965F"/>
                </a:solidFill>
                <a:latin typeface="맑은 고딕"/>
                <a:ea typeface="맑은 고딕"/>
              </a:rPr>
              <a:t>컬럼폭</a:t>
            </a:r>
            <a:r>
              <a:rPr sz="1100" b="1" i="0" dirty="0">
                <a:solidFill>
                  <a:srgbClr val="00965F"/>
                </a:solidFill>
                <a:latin typeface="맑은 고딕"/>
                <a:ea typeface="맑은 고딕"/>
              </a:rPr>
              <a:t>=</a:t>
            </a:r>
            <a:r>
              <a:rPr sz="1100" b="1" i="0" dirty="0" err="1">
                <a:solidFill>
                  <a:srgbClr val="00965F"/>
                </a:solidFill>
                <a:latin typeface="맑은 고딕"/>
                <a:ea typeface="맑은 고딕"/>
              </a:rPr>
              <a:t>표준</a:t>
            </a:r>
            <a:r>
              <a:rPr sz="1100" b="1" i="0" dirty="0">
                <a:solidFill>
                  <a:srgbClr val="00965F"/>
                </a:solidFill>
                <a:latin typeface="맑은 고딕"/>
                <a:ea typeface="맑은 고딕"/>
              </a:rPr>
              <a:t> · </a:t>
            </a:r>
            <a:r>
              <a:rPr sz="1100" b="1" i="0" dirty="0" err="1">
                <a:solidFill>
                  <a:srgbClr val="00965F"/>
                </a:solidFill>
                <a:latin typeface="맑은 고딕"/>
                <a:ea typeface="맑은 고딕"/>
              </a:rPr>
              <a:t>수치비</a:t>
            </a:r>
            <a:r>
              <a:rPr sz="1100" b="1" i="0" dirty="0">
                <a:solidFill>
                  <a:srgbClr val="00965F"/>
                </a:solidFill>
                <a:latin typeface="맑은 고딕"/>
                <a:ea typeface="맑은 고딕"/>
              </a:rPr>
              <a:t>=</a:t>
            </a:r>
            <a:r>
              <a:rPr sz="1100" b="1" i="0" dirty="0" err="1">
                <a:solidFill>
                  <a:srgbClr val="00965F"/>
                </a:solidFill>
                <a:latin typeface="맑은 고딕"/>
                <a:ea typeface="맑은 고딕"/>
              </a:rPr>
              <a:t>혼합</a:t>
            </a:r>
            <a:endParaRPr sz="1100" b="1" i="0" dirty="0">
              <a:solidFill>
                <a:srgbClr val="00965F"/>
              </a:solidFill>
              <a:latin typeface="맑은 고딕"/>
              <a:ea typeface="맑은 고딕"/>
            </a:endParaRP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dirty="0" err="1">
                <a:solidFill>
                  <a:srgbClr val="00965F"/>
                </a:solidFill>
                <a:latin typeface="맑은 고딕"/>
                <a:ea typeface="맑은 고딕"/>
              </a:rPr>
              <a:t>기관</a:t>
            </a:r>
            <a:r>
              <a:rPr sz="1100" b="1" i="0" dirty="0">
                <a:solidFill>
                  <a:srgbClr val="00965F"/>
                </a:solidFill>
                <a:latin typeface="맑은 고딕"/>
                <a:ea typeface="맑은 고딕"/>
              </a:rPr>
              <a:t>=</a:t>
            </a:r>
            <a:r>
              <a:rPr sz="1100" b="1" i="0" dirty="0" err="1">
                <a:solidFill>
                  <a:srgbClr val="00965F"/>
                </a:solidFill>
                <a:latin typeface="맑은 고딕"/>
                <a:ea typeface="맑은 고딕"/>
              </a:rPr>
              <a:t>기초지자체</a:t>
            </a:r>
            <a:r>
              <a:rPr sz="1100" b="0" i="0" dirty="0">
                <a:solidFill>
                  <a:srgbClr val="282D37"/>
                </a:solidFill>
                <a:latin typeface="맑은 고딕"/>
                <a:ea typeface="맑은 고딕"/>
              </a:rPr>
              <a:t>  ·  </a:t>
            </a:r>
            <a:r>
              <a:rPr sz="11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유일키</a:t>
            </a:r>
            <a:r>
              <a:rPr sz="1100" b="0" i="0" dirty="0">
                <a:solidFill>
                  <a:srgbClr val="282D37"/>
                </a:solidFill>
                <a:latin typeface="맑은 고딕"/>
                <a:ea typeface="맑은 고딕"/>
              </a:rPr>
              <a:t>=</a:t>
            </a:r>
            <a:r>
              <a:rPr sz="11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있음</a:t>
            </a:r>
            <a:r>
              <a:rPr sz="1100" b="0" i="0" dirty="0">
                <a:solidFill>
                  <a:srgbClr val="282D37"/>
                </a:solidFill>
                <a:latin typeface="맑은 고딕"/>
                <a:ea typeface="맑은 고딕"/>
              </a:rPr>
              <a:t> · </a:t>
            </a:r>
            <a:r>
              <a:rPr sz="11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상수컬럼</a:t>
            </a:r>
            <a:r>
              <a:rPr sz="1100" b="0" i="0" dirty="0">
                <a:solidFill>
                  <a:srgbClr val="282D37"/>
                </a:solidFill>
                <a:latin typeface="맑은 고딕"/>
                <a:ea typeface="맑은 고딕"/>
              </a:rPr>
              <a:t>=</a:t>
            </a:r>
            <a:r>
              <a:rPr sz="11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있음</a:t>
            </a:r>
            <a:endParaRPr sz="1100" b="0" i="0" dirty="0">
              <a:solidFill>
                <a:srgbClr val="282D37"/>
              </a:solidFill>
              <a:latin typeface="맑은 고딕"/>
              <a:ea typeface="맑은 고딕"/>
            </a:endParaRPr>
          </a:p>
        </p:txBody>
      </p:sp>
      <p:sp>
        <p:nvSpPr>
          <p:cNvPr id="411" name="subB"/>
          <p:cNvSpPr txBox="1"/>
          <p:nvPr/>
        </p:nvSpPr>
        <p:spPr>
          <a:xfrm>
            <a:off x="5667468" y="4827077"/>
            <a:ext cx="5780820" cy="201168"/>
          </a:xfrm>
          <a:prstGeom prst="rect">
            <a:avLst/>
          </a:prstGeom>
          <a:noFill/>
        </p:spPr>
        <p:txBody>
          <a:bodyPr wrap="square" lIns="12700" tIns="6350" rIns="12700" bIns="6350" anchor="t">
            <a:normAutofit lnSpcReduction="10000"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dirty="0">
                <a:solidFill>
                  <a:srgbClr val="081F46"/>
                </a:solidFill>
                <a:latin typeface="맑은 고딕"/>
                <a:ea typeface="맑은 고딕"/>
              </a:rPr>
              <a:t>② </a:t>
            </a:r>
            <a:r>
              <a:rPr sz="1200" b="1" i="0" dirty="0" err="1">
                <a:solidFill>
                  <a:srgbClr val="081F46"/>
                </a:solidFill>
                <a:latin typeface="맑은 고딕"/>
                <a:ea typeface="맑은 고딕"/>
              </a:rPr>
              <a:t>컬럼개념</a:t>
            </a:r>
            <a:r>
              <a:rPr sz="1200" b="1" i="0" dirty="0">
                <a:solidFill>
                  <a:srgbClr val="081F46"/>
                </a:solidFill>
                <a:latin typeface="맑은 고딕"/>
                <a:ea typeface="맑은 고딕"/>
              </a:rPr>
              <a:t> </a:t>
            </a:r>
            <a:r>
              <a:rPr sz="1200" b="1" i="0" dirty="0" err="1">
                <a:solidFill>
                  <a:srgbClr val="081F46"/>
                </a:solidFill>
                <a:latin typeface="맑은 고딕"/>
                <a:ea typeface="맑은 고딕"/>
              </a:rPr>
              <a:t>장바구니</a:t>
            </a:r>
            <a:r>
              <a:rPr lang="en-US" sz="1200" b="1" i="0" dirty="0">
                <a:solidFill>
                  <a:srgbClr val="081F46"/>
                </a:solidFill>
                <a:latin typeface="맑은 고딕"/>
                <a:ea typeface="맑은 고딕"/>
              </a:rPr>
              <a:t>:</a:t>
            </a:r>
            <a:r>
              <a:rPr sz="1200" b="1" i="0" dirty="0">
                <a:solidFill>
                  <a:srgbClr val="081F46"/>
                </a:solidFill>
                <a:latin typeface="맑은 고딕"/>
                <a:ea typeface="맑은 고딕"/>
              </a:rPr>
              <a:t> </a:t>
            </a:r>
            <a:r>
              <a:rPr sz="1200" b="1" i="0" dirty="0" err="1">
                <a:solidFill>
                  <a:srgbClr val="081F46"/>
                </a:solidFill>
                <a:latin typeface="맑은 고딕"/>
                <a:ea typeface="맑은 고딕"/>
              </a:rPr>
              <a:t>보유</a:t>
            </a:r>
            <a:r>
              <a:rPr sz="1200" b="1" i="0" dirty="0">
                <a:solidFill>
                  <a:srgbClr val="081F46"/>
                </a:solidFill>
                <a:latin typeface="맑은 고딕"/>
                <a:ea typeface="맑은 고딕"/>
              </a:rPr>
              <a:t> </a:t>
            </a:r>
            <a:r>
              <a:rPr sz="1200" b="1" i="0" dirty="0" err="1">
                <a:solidFill>
                  <a:srgbClr val="081F46"/>
                </a:solidFill>
                <a:latin typeface="맑은 고딕"/>
                <a:ea typeface="맑은 고딕"/>
              </a:rPr>
              <a:t>컬럼개념</a:t>
            </a:r>
            <a:r>
              <a:rPr sz="1200" b="1" i="0" dirty="0">
                <a:solidFill>
                  <a:srgbClr val="081F46"/>
                </a:solidFill>
                <a:latin typeface="맑은 고딕"/>
                <a:ea typeface="맑은 고딕"/>
              </a:rPr>
              <a:t> 7종</a:t>
            </a:r>
          </a:p>
        </p:txBody>
      </p:sp>
      <p:sp>
        <p:nvSpPr>
          <p:cNvPr id="412" name="chip-bg"/>
          <p:cNvSpPr/>
          <p:nvPr/>
        </p:nvSpPr>
        <p:spPr>
          <a:xfrm>
            <a:off x="5667468" y="5149131"/>
            <a:ext cx="1348759" cy="256032"/>
          </a:xfrm>
          <a:prstGeom prst="roundRect">
            <a:avLst/>
          </a:prstGeom>
          <a:solidFill>
            <a:srgbClr val="EEF2F8"/>
          </a:solidFill>
          <a:ln w="9525">
            <a:solidFill>
              <a:srgbClr val="9DB0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1100" b="1" dirty="0">
                <a:solidFill>
                  <a:srgbClr val="081F46"/>
                </a:solidFill>
                <a:latin typeface="맑은 고딕"/>
                <a:ea typeface="맑은 고딕"/>
              </a:rPr>
              <a:t>소속</a:t>
            </a:r>
          </a:p>
        </p:txBody>
      </p:sp>
      <p:sp>
        <p:nvSpPr>
          <p:cNvPr id="414" name="chip-bg"/>
          <p:cNvSpPr/>
          <p:nvPr/>
        </p:nvSpPr>
        <p:spPr>
          <a:xfrm>
            <a:off x="7167750" y="5166355"/>
            <a:ext cx="1348759" cy="256032"/>
          </a:xfrm>
          <a:prstGeom prst="roundRect">
            <a:avLst/>
          </a:prstGeom>
          <a:solidFill>
            <a:srgbClr val="EEF2F8"/>
          </a:solidFill>
          <a:ln w="9525">
            <a:solidFill>
              <a:srgbClr val="9DB0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1100" b="1" dirty="0">
                <a:solidFill>
                  <a:srgbClr val="081F46"/>
                </a:solidFill>
                <a:latin typeface="맑은 고딕"/>
                <a:ea typeface="맑은 고딕"/>
              </a:rPr>
              <a:t>소재지도로명주소</a:t>
            </a:r>
          </a:p>
        </p:txBody>
      </p:sp>
      <p:sp>
        <p:nvSpPr>
          <p:cNvPr id="416" name="chip-bg"/>
          <p:cNvSpPr/>
          <p:nvPr/>
        </p:nvSpPr>
        <p:spPr>
          <a:xfrm>
            <a:off x="8668032" y="5166355"/>
            <a:ext cx="1348759" cy="256032"/>
          </a:xfrm>
          <a:prstGeom prst="roundRect">
            <a:avLst/>
          </a:prstGeom>
          <a:solidFill>
            <a:srgbClr val="EEF2F8"/>
          </a:solidFill>
          <a:ln w="9525">
            <a:solidFill>
              <a:srgbClr val="9DB0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1100" b="1">
                <a:solidFill>
                  <a:srgbClr val="081F46"/>
                </a:solidFill>
                <a:latin typeface="맑은 고딕"/>
                <a:ea typeface="맑은 고딕"/>
              </a:rPr>
              <a:t>소재지지번주소</a:t>
            </a:r>
            <a:endParaRPr lang="ko-KR" altLang="en-US" sz="1100" b="1" dirty="0">
              <a:solidFill>
                <a:srgbClr val="081F46"/>
              </a:solidFill>
              <a:latin typeface="맑은 고딕"/>
              <a:ea typeface="맑은 고딕"/>
            </a:endParaRPr>
          </a:p>
        </p:txBody>
      </p:sp>
      <p:sp>
        <p:nvSpPr>
          <p:cNvPr id="418" name="chip-bg"/>
          <p:cNvSpPr/>
          <p:nvPr/>
        </p:nvSpPr>
        <p:spPr>
          <a:xfrm>
            <a:off x="10168313" y="5166355"/>
            <a:ext cx="1348759" cy="256032"/>
          </a:xfrm>
          <a:prstGeom prst="roundRect">
            <a:avLst/>
          </a:prstGeom>
          <a:solidFill>
            <a:srgbClr val="EEF2F8"/>
          </a:solidFill>
          <a:ln w="9525">
            <a:solidFill>
              <a:srgbClr val="9DB0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1100" b="1">
                <a:solidFill>
                  <a:srgbClr val="081F46"/>
                </a:solidFill>
                <a:latin typeface="맑은 고딕"/>
                <a:ea typeface="맑은 고딕"/>
              </a:rPr>
              <a:t>위도</a:t>
            </a:r>
            <a:endParaRPr lang="ko-KR" altLang="en-US" sz="1100" b="1" dirty="0">
              <a:solidFill>
                <a:srgbClr val="081F46"/>
              </a:solidFill>
              <a:latin typeface="맑은 고딕"/>
              <a:ea typeface="맑은 고딕"/>
            </a:endParaRPr>
          </a:p>
        </p:txBody>
      </p:sp>
      <p:sp>
        <p:nvSpPr>
          <p:cNvPr id="420" name="chip-bg"/>
          <p:cNvSpPr/>
          <p:nvPr/>
        </p:nvSpPr>
        <p:spPr>
          <a:xfrm>
            <a:off x="5667467" y="5503235"/>
            <a:ext cx="1348759" cy="256032"/>
          </a:xfrm>
          <a:prstGeom prst="roundRect">
            <a:avLst/>
          </a:prstGeom>
          <a:solidFill>
            <a:srgbClr val="EEF2F8"/>
          </a:solidFill>
          <a:ln w="9525">
            <a:solidFill>
              <a:srgbClr val="9DB0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1100" b="1" dirty="0">
                <a:solidFill>
                  <a:srgbClr val="081F46"/>
                </a:solidFill>
                <a:latin typeface="맑은 고딕"/>
                <a:ea typeface="맑은 고딕"/>
              </a:rPr>
              <a:t>경도</a:t>
            </a:r>
          </a:p>
        </p:txBody>
      </p:sp>
      <p:sp>
        <p:nvSpPr>
          <p:cNvPr id="422" name="chip-bg"/>
          <p:cNvSpPr/>
          <p:nvPr/>
        </p:nvSpPr>
        <p:spPr>
          <a:xfrm>
            <a:off x="7167750" y="5503235"/>
            <a:ext cx="1348759" cy="256032"/>
          </a:xfrm>
          <a:prstGeom prst="roundRect">
            <a:avLst/>
          </a:prstGeom>
          <a:solidFill>
            <a:srgbClr val="EEF2F8"/>
          </a:solidFill>
          <a:ln w="9525">
            <a:solidFill>
              <a:srgbClr val="9DB0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1100" b="1" dirty="0">
                <a:solidFill>
                  <a:srgbClr val="081F46"/>
                </a:solidFill>
                <a:latin typeface="맑은 고딕"/>
                <a:ea typeface="맑은 고딕"/>
              </a:rPr>
              <a:t>전화번호</a:t>
            </a:r>
          </a:p>
        </p:txBody>
      </p:sp>
      <p:sp>
        <p:nvSpPr>
          <p:cNvPr id="424" name="chip-bg"/>
          <p:cNvSpPr/>
          <p:nvPr/>
        </p:nvSpPr>
        <p:spPr>
          <a:xfrm>
            <a:off x="8668032" y="5503235"/>
            <a:ext cx="1348759" cy="256032"/>
          </a:xfrm>
          <a:prstGeom prst="roundRect">
            <a:avLst/>
          </a:prstGeom>
          <a:solidFill>
            <a:srgbClr val="EEF2F8"/>
          </a:solidFill>
          <a:ln w="9525">
            <a:solidFill>
              <a:srgbClr val="9DB0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1100" b="1" dirty="0">
                <a:solidFill>
                  <a:srgbClr val="081F46"/>
                </a:solidFill>
                <a:latin typeface="맑은 고딕"/>
                <a:ea typeface="맑은 고딕"/>
              </a:rPr>
              <a:t>데이터기준일자</a:t>
            </a:r>
          </a:p>
        </p:txBody>
      </p:sp>
      <p:sp>
        <p:nvSpPr>
          <p:cNvPr id="426" name="arrow2"/>
          <p:cNvSpPr txBox="1"/>
          <p:nvPr/>
        </p:nvSpPr>
        <p:spPr>
          <a:xfrm>
            <a:off x="4480560" y="5926401"/>
            <a:ext cx="7114032" cy="274320"/>
          </a:xfrm>
          <a:prstGeom prst="rect">
            <a:avLst/>
          </a:prstGeom>
          <a:noFill/>
        </p:spPr>
        <p:txBody>
          <a:bodyPr wrap="square" lIns="12700" tIns="6350" rIns="12700" bIns="6350" anchor="ctr">
            <a:norm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dirty="0">
                <a:solidFill>
                  <a:srgbClr val="00965F"/>
                </a:solidFill>
                <a:latin typeface="맑은 고딕"/>
                <a:ea typeface="맑은 고딕"/>
              </a:rPr>
              <a:t>▼  999개 </a:t>
            </a:r>
            <a:r>
              <a:rPr sz="1200" b="1" i="0" dirty="0" err="1">
                <a:solidFill>
                  <a:srgbClr val="00965F"/>
                </a:solidFill>
                <a:latin typeface="맑은 고딕"/>
                <a:ea typeface="맑은 고딕"/>
              </a:rPr>
              <a:t>테이블</a:t>
            </a:r>
            <a:r>
              <a:rPr sz="1200" b="1" i="0" dirty="0">
                <a:solidFill>
                  <a:srgbClr val="00965F"/>
                </a:solidFill>
                <a:latin typeface="맑은 고딕"/>
                <a:ea typeface="맑은 고딕"/>
              </a:rPr>
              <a:t> = 999개 </a:t>
            </a:r>
            <a:r>
              <a:rPr sz="1200" b="1" i="0" dirty="0" err="1">
                <a:solidFill>
                  <a:srgbClr val="00965F"/>
                </a:solidFill>
                <a:latin typeface="맑은 고딕"/>
                <a:ea typeface="맑은 고딕"/>
              </a:rPr>
              <a:t>트랜잭션</a:t>
            </a:r>
            <a:r>
              <a:rPr sz="1200" b="1" i="0" dirty="0">
                <a:solidFill>
                  <a:srgbClr val="00965F"/>
                </a:solidFill>
                <a:latin typeface="맑은 고딕"/>
                <a:ea typeface="맑은 고딕"/>
              </a:rPr>
              <a:t>  →  FP-Growth  →  </a:t>
            </a:r>
            <a:r>
              <a:rPr sz="1200" b="1" i="0" dirty="0" err="1">
                <a:solidFill>
                  <a:srgbClr val="00965F"/>
                </a:solidFill>
                <a:latin typeface="맑은 고딕"/>
                <a:ea typeface="맑은 고딕"/>
              </a:rPr>
              <a:t>연관규칙</a:t>
            </a:r>
            <a:r>
              <a:rPr sz="1200" b="1" i="0" dirty="0">
                <a:solidFill>
                  <a:srgbClr val="00965F"/>
                </a:solidFill>
                <a:latin typeface="맑은 고딕"/>
                <a:ea typeface="맑은 고딕"/>
              </a:rPr>
              <a:t>(lift)</a:t>
            </a:r>
          </a:p>
        </p:txBody>
      </p:sp>
      <p:sp>
        <p:nvSpPr>
          <p:cNvPr id="427" name="legend"/>
          <p:cNvSpPr txBox="1"/>
          <p:nvPr/>
        </p:nvSpPr>
        <p:spPr>
          <a:xfrm>
            <a:off x="4803343" y="6336421"/>
            <a:ext cx="7114032" cy="256032"/>
          </a:xfrm>
          <a:prstGeom prst="rect">
            <a:avLst/>
          </a:prstGeom>
          <a:noFill/>
        </p:spPr>
        <p:txBody>
          <a:bodyPr wrap="square" lIns="12700" tIns="6350" rIns="12700" bIns="6350" anchor="ctr">
            <a:norm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00" b="1" i="0" dirty="0">
                <a:solidFill>
                  <a:srgbClr val="505050"/>
                </a:solidFill>
                <a:latin typeface="맑은 고딕"/>
                <a:ea typeface="맑은 고딕"/>
              </a:rPr>
              <a:t>[</a:t>
            </a:r>
            <a:r>
              <a:rPr sz="1200" b="1" i="0" dirty="0">
                <a:solidFill>
                  <a:srgbClr val="505050"/>
                </a:solidFill>
                <a:latin typeface="맑은 고딕"/>
                <a:ea typeface="맑은 고딕"/>
              </a:rPr>
              <a:t>1D </a:t>
            </a:r>
            <a:r>
              <a:rPr sz="1200" b="1" i="0" dirty="0" err="1">
                <a:solidFill>
                  <a:srgbClr val="505050"/>
                </a:solidFill>
                <a:latin typeface="맑은 고딕"/>
                <a:ea typeface="맑은 고딕"/>
              </a:rPr>
              <a:t>이산화·AOI</a:t>
            </a:r>
            <a:r>
              <a:rPr sz="1200" b="1" i="0" dirty="0">
                <a:solidFill>
                  <a:srgbClr val="505050"/>
                </a:solidFill>
                <a:latin typeface="맑은 고딕"/>
                <a:ea typeface="맑은 고딕"/>
              </a:rPr>
              <a:t> </a:t>
            </a:r>
            <a:r>
              <a:rPr sz="1200" b="1" i="0" dirty="0" err="1">
                <a:solidFill>
                  <a:srgbClr val="505050"/>
                </a:solidFill>
                <a:latin typeface="맑은 고딕"/>
                <a:ea typeface="맑은 고딕"/>
              </a:rPr>
              <a:t>롤업</a:t>
            </a:r>
            <a:r>
              <a:rPr lang="ko-KR" altLang="en-US" sz="1200" b="1" i="0" dirty="0">
                <a:solidFill>
                  <a:srgbClr val="505050"/>
                </a:solidFill>
                <a:latin typeface="맑은 고딕"/>
                <a:ea typeface="맑은 고딕"/>
              </a:rPr>
              <a:t>을</a:t>
            </a:r>
            <a:r>
              <a:rPr lang="en-US" sz="1200" b="1" i="0" dirty="0">
                <a:solidFill>
                  <a:srgbClr val="505050"/>
                </a:solidFill>
                <a:latin typeface="맑은 고딕"/>
                <a:ea typeface="맑은 고딕"/>
              </a:rPr>
              <a:t> </a:t>
            </a:r>
            <a:r>
              <a:rPr lang="ko-KR" altLang="en-US" sz="1200" b="1" i="0" dirty="0">
                <a:solidFill>
                  <a:srgbClr val="505050"/>
                </a:solidFill>
                <a:latin typeface="맑은 고딕"/>
                <a:ea typeface="맑은 고딕"/>
              </a:rPr>
              <a:t>적용한 </a:t>
            </a:r>
            <a:r>
              <a:rPr lang="ko-KR" altLang="en-US" sz="1200" b="1" i="0" dirty="0" err="1">
                <a:solidFill>
                  <a:srgbClr val="505050"/>
                </a:solidFill>
                <a:latin typeface="맑은 고딕"/>
                <a:ea typeface="맑은 고딕"/>
              </a:rPr>
              <a:t>트랜잭선</a:t>
            </a:r>
            <a:r>
              <a:rPr lang="ko-KR" altLang="en-US" sz="1200" b="1" i="0" dirty="0">
                <a:solidFill>
                  <a:srgbClr val="505050"/>
                </a:solidFill>
                <a:latin typeface="맑은 고딕"/>
                <a:ea typeface="맑은 고딕"/>
              </a:rPr>
              <a:t> 구성 예시</a:t>
            </a:r>
            <a:r>
              <a:rPr lang="en-US" sz="1200" b="1" i="0" dirty="0">
                <a:solidFill>
                  <a:srgbClr val="505050"/>
                </a:solidFill>
                <a:latin typeface="맑은 고딕"/>
                <a:ea typeface="맑은 고딕"/>
              </a:rPr>
              <a:t>]</a:t>
            </a:r>
            <a:endParaRPr sz="1200" b="1" i="0" dirty="0">
              <a:solidFill>
                <a:srgbClr val="505050"/>
              </a:solidFill>
              <a:latin typeface="맑은 고딕"/>
              <a:ea typeface="맑은 고딕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109728"/>
            <a:ext cx="11057839" cy="237744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965F"/>
                </a:solidFill>
                <a:latin typeface="맑은 고딕"/>
                <a:ea typeface="맑은 고딕"/>
              </a:rPr>
              <a:t>인텔리전스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498839"/>
            <a:ext cx="11057839" cy="410497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 dirty="0" err="1">
                <a:solidFill>
                  <a:srgbClr val="081F46"/>
                </a:solidFill>
                <a:latin typeface="맑은 고딕"/>
                <a:ea typeface="맑은 고딕"/>
              </a:rPr>
              <a:t>연관규칙</a:t>
            </a:r>
            <a:r>
              <a:rPr lang="en-US" sz="2600" b="1" dirty="0">
                <a:solidFill>
                  <a:srgbClr val="081F46"/>
                </a:solidFill>
                <a:latin typeface="맑은 고딕"/>
                <a:ea typeface="맑은 고딕"/>
              </a:rPr>
              <a:t> </a:t>
            </a:r>
            <a:r>
              <a:rPr sz="2600" b="1" i="0" dirty="0" err="1">
                <a:solidFill>
                  <a:srgbClr val="081F46"/>
                </a:solidFill>
                <a:latin typeface="맑은 고딕"/>
                <a:ea typeface="맑은 고딕"/>
              </a:rPr>
              <a:t>상세</a:t>
            </a:r>
            <a:r>
              <a:rPr sz="2600" b="1" i="0" dirty="0">
                <a:solidFill>
                  <a:srgbClr val="081F46"/>
                </a:solidFill>
                <a:latin typeface="맑은 고딕"/>
                <a:ea typeface="맑은 고딕"/>
              </a:rPr>
              <a:t> </a:t>
            </a:r>
            <a:r>
              <a:rPr sz="2600" b="1" i="0" dirty="0" err="1">
                <a:solidFill>
                  <a:srgbClr val="081F46"/>
                </a:solidFill>
                <a:latin typeface="맑은 고딕"/>
                <a:ea typeface="맑은 고딕"/>
              </a:rPr>
              <a:t>지표</a:t>
            </a:r>
            <a:endParaRPr sz="2600" b="1" i="0" dirty="0">
              <a:solidFill>
                <a:srgbClr val="081F46"/>
              </a:solidFill>
              <a:latin typeface="맑은 고딕"/>
              <a:ea typeface="맑은 고딕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66928" y="1060704"/>
            <a:ext cx="11057839" cy="27940"/>
          </a:xfrm>
          <a:prstGeom prst="rect">
            <a:avLst/>
          </a:prstGeom>
          <a:solidFill>
            <a:srgbClr val="081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25000" lnSpcReduction="20000"/>
          </a:bodyPr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094415" y="6437376"/>
            <a:ext cx="82296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87878"/>
                </a:solidFill>
                <a:latin typeface="맑은 고딕"/>
                <a:ea typeface="맑은 고딕"/>
              </a:rPr>
              <a:t>9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96115555"/>
              </p:ext>
            </p:extLst>
          </p:nvPr>
        </p:nvGraphicFramePr>
        <p:xfrm>
          <a:off x="566928" y="2078182"/>
          <a:ext cx="11057835" cy="407094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8443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854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0951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525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6164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6164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100996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148866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70086">
                <a:tc>
                  <a:txBody>
                    <a:bodyPr/>
                    <a:lstStyle/>
                    <a:p>
                      <a:pPr algn="ctr"/>
                      <a:r>
                        <a:rPr sz="1400" b="1" i="0" dirty="0" err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주제</a:t>
                      </a:r>
                      <a:endParaRPr sz="1400" b="1" i="0" dirty="0">
                        <a:solidFill>
                          <a:srgbClr val="FFFFFF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63500" marR="63500" marT="25400" marB="25400" anchor="ctr">
                    <a:solidFill>
                      <a:srgbClr val="081F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i="0" dirty="0" err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규칙</a:t>
                      </a:r>
                      <a:r>
                        <a:rPr sz="1400" b="1" i="0" dirty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(</a:t>
                      </a:r>
                      <a:r>
                        <a:rPr sz="1400" b="1" i="0" dirty="0" err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선행→후행</a:t>
                      </a:r>
                      <a:r>
                        <a:rPr sz="1400" b="1" i="0" dirty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)</a:t>
                      </a:r>
                    </a:p>
                  </a:txBody>
                  <a:tcPr marL="63500" marR="63500" marT="25400" marB="25400" anchor="ctr">
                    <a:solidFill>
                      <a:srgbClr val="081F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i="0" dirty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#테이블</a:t>
                      </a:r>
                    </a:p>
                  </a:txBody>
                  <a:tcPr marL="63500" marR="63500" marT="25400" marB="25400" anchor="ctr">
                    <a:solidFill>
                      <a:srgbClr val="081F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i="0" dirty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support</a:t>
                      </a:r>
                    </a:p>
                  </a:txBody>
                  <a:tcPr marL="63500" marR="63500" marT="25400" marB="25400" anchor="ctr">
                    <a:solidFill>
                      <a:srgbClr val="081F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i="0" dirty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conf</a:t>
                      </a:r>
                    </a:p>
                  </a:txBody>
                  <a:tcPr marL="63500" marR="63500" marT="25400" marB="25400" anchor="ctr">
                    <a:solidFill>
                      <a:srgbClr val="081F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i="0" dirty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lift</a:t>
                      </a:r>
                    </a:p>
                  </a:txBody>
                  <a:tcPr marL="63500" marR="63500" marT="25400" marB="25400" anchor="ctr">
                    <a:solidFill>
                      <a:srgbClr val="081F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leverage</a:t>
                      </a:r>
                    </a:p>
                  </a:txBody>
                  <a:tcPr marL="63500" marR="63500" marT="25400" marB="25400" anchor="ctr">
                    <a:solidFill>
                      <a:srgbClr val="081F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i="0" dirty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conviction</a:t>
                      </a:r>
                    </a:p>
                  </a:txBody>
                  <a:tcPr marL="63500" marR="63500" marT="25400" marB="25400" anchor="ctr">
                    <a:solidFill>
                      <a:srgbClr val="081F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086">
                <a:tc>
                  <a:txBody>
                    <a:bodyPr/>
                    <a:lstStyle/>
                    <a:p>
                      <a:pPr algn="ctr"/>
                      <a:r>
                        <a:rPr sz="1200" b="0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지리좌표쌍</a:t>
                      </a:r>
                      <a:endParaRPr sz="1200" b="0" i="0" dirty="0">
                        <a:solidFill>
                          <a:srgbClr val="282D37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경도→위도</a:t>
                      </a:r>
                      <a:endParaRPr sz="1200" b="0" i="0" dirty="0">
                        <a:solidFill>
                          <a:srgbClr val="282D37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44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0.044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1.00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22.7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0.0421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∞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086">
                <a:tc>
                  <a:txBody>
                    <a:bodyPr/>
                    <a:lstStyle/>
                    <a:p>
                      <a:pPr algn="ctr"/>
                      <a:r>
                        <a:rPr sz="1200" b="0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기간쌍</a:t>
                      </a:r>
                      <a:endParaRPr sz="1200" b="0" i="0" dirty="0">
                        <a:solidFill>
                          <a:srgbClr val="282D37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교육시작일→교육종료일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10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0.010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1.00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90.8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0.0099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∞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086"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행정구역계층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시도명→시군구명</a:t>
                      </a:r>
                      <a:endParaRPr sz="1200" b="0" i="0" dirty="0">
                        <a:solidFill>
                          <a:srgbClr val="282D37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15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0.015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0.94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39.0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0.0146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15.6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086"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주소이중표기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지번주소→도로명주소</a:t>
                      </a:r>
                      <a:endParaRPr sz="1200" b="0" i="0" dirty="0">
                        <a:solidFill>
                          <a:srgbClr val="282D37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16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0.016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0.94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22.9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0.0153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16.3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086"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소재지주소(공공행정)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소재지지번주소→소재지도로명주소</a:t>
                      </a:r>
                      <a:endParaRPr sz="1200" b="0" i="0" dirty="0">
                        <a:solidFill>
                          <a:srgbClr val="282D37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11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0.011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0.92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36.6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0.0107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11.7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086">
                <a:tc>
                  <a:txBody>
                    <a:bodyPr/>
                    <a:lstStyle/>
                    <a:p>
                      <a:pPr algn="ctr"/>
                      <a:r>
                        <a:rPr sz="1200" b="0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인구통계</a:t>
                      </a:r>
                      <a:endParaRPr sz="1200" b="0" i="0" dirty="0">
                        <a:solidFill>
                          <a:srgbClr val="282D37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연령대→성별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11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0.011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0.85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35.2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0.0107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6.3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086">
                <a:tc>
                  <a:txBody>
                    <a:bodyPr/>
                    <a:lstStyle/>
                    <a:p>
                      <a:pPr algn="ctr"/>
                      <a:r>
                        <a:rPr sz="1200" b="1" i="1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의료기관</a:t>
                      </a:r>
                      <a:endParaRPr sz="1200" b="1" i="1" dirty="0">
                        <a:solidFill>
                          <a:srgbClr val="282D37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1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의료기관전화번호→의료기관명+의료기관주소</a:t>
                      </a:r>
                      <a:endParaRPr sz="1200" b="1" i="1" dirty="0">
                        <a:solidFill>
                          <a:srgbClr val="282D37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1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15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1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0.015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1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0.88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1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46.4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1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0.0147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1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8.3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086"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교육스키마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교과목코드→분반</a:t>
                      </a:r>
                      <a:endParaRPr sz="1200" b="0" i="0" dirty="0">
                        <a:solidFill>
                          <a:srgbClr val="282D37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8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0.008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1.00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124.9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0.0079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∞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0086"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교육스키마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학종→학교명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11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0.011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1.00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23.8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0.0105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∞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0089"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사학재정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연구비→일반기부금+지정기부금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8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0.008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1.00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111.0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0.0079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∞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617" name="metric-bg"/>
          <p:cNvSpPr/>
          <p:nvPr/>
        </p:nvSpPr>
        <p:spPr>
          <a:xfrm>
            <a:off x="566928" y="1115568"/>
            <a:ext cx="11055096" cy="676656"/>
          </a:xfrm>
          <a:prstGeom prst="roundRect">
            <a:avLst/>
          </a:prstGeom>
          <a:solidFill>
            <a:srgbClr val="E8F5F0"/>
          </a:solidFill>
          <a:ln w="9525">
            <a:solidFill>
              <a:srgbClr val="C7DE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620" name="metric-desc"/>
          <p:cNvSpPr txBox="1"/>
          <p:nvPr/>
        </p:nvSpPr>
        <p:spPr>
          <a:xfrm>
            <a:off x="658091" y="1243584"/>
            <a:ext cx="10753621" cy="420624"/>
          </a:xfrm>
          <a:prstGeom prst="rect">
            <a:avLst/>
          </a:prstGeom>
          <a:noFill/>
        </p:spPr>
        <p:txBody>
          <a:bodyPr wrap="square" lIns="54864" tIns="6350" rIns="54864" bIns="6350" anchor="ctr">
            <a:normAutofit/>
          </a:bodyPr>
          <a:lstStyle/>
          <a:p>
            <a:pPr>
              <a:lnSpc>
                <a:spcPct val="110000"/>
              </a:lnSpc>
            </a:pPr>
            <a:r>
              <a:rPr lang="ko-KR" altLang="en-US" b="1" dirty="0">
                <a:solidFill>
                  <a:srgbClr val="00965F"/>
                </a:solidFill>
                <a:latin typeface="맑은 고딕"/>
                <a:ea typeface="맑은 고딕"/>
              </a:rPr>
              <a:t>발견 패턴  ▸  </a:t>
            </a:r>
            <a:r>
              <a:rPr lang="ko-KR" altLang="en-US" b="1" dirty="0">
                <a:solidFill>
                  <a:srgbClr val="505050"/>
                </a:solidFill>
                <a:latin typeface="맑은 고딕"/>
                <a:ea typeface="맑은 고딕"/>
              </a:rPr>
              <a:t>컬럼 장바구니 연관규칙 </a:t>
            </a:r>
            <a:r>
              <a:rPr lang="en-US" altLang="ko-KR" b="1" dirty="0">
                <a:solidFill>
                  <a:srgbClr val="505050"/>
                </a:solidFill>
                <a:latin typeface="맑은 고딕"/>
                <a:ea typeface="맑은 고딕"/>
              </a:rPr>
              <a:t>(</a:t>
            </a:r>
            <a:r>
              <a:rPr lang="en-US" altLang="ko-KR" b="1" dirty="0" err="1">
                <a:solidFill>
                  <a:srgbClr val="505050"/>
                </a:solidFill>
                <a:latin typeface="맑은 고딕"/>
                <a:ea typeface="맑은 고딕"/>
              </a:rPr>
              <a:t>FP-Growth·lift</a:t>
            </a:r>
            <a:r>
              <a:rPr lang="en-US" altLang="ko-KR" b="1" dirty="0">
                <a:solidFill>
                  <a:srgbClr val="505050"/>
                </a:solidFill>
                <a:latin typeface="맑은 고딕"/>
                <a:ea typeface="맑은 고딕"/>
              </a:rPr>
              <a:t>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109728"/>
            <a:ext cx="11057839" cy="237744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965F"/>
                </a:solidFill>
                <a:latin typeface="맑은 고딕"/>
                <a:ea typeface="맑은 고딕"/>
              </a:rPr>
              <a:t>탐사 대상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498839"/>
            <a:ext cx="11057839" cy="410497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 dirty="0" err="1">
                <a:solidFill>
                  <a:srgbClr val="081F46"/>
                </a:solidFill>
                <a:latin typeface="맑은 고딕"/>
                <a:ea typeface="맑은 고딕"/>
              </a:rPr>
              <a:t>탐사</a:t>
            </a:r>
            <a:r>
              <a:rPr sz="2600" b="1" i="0" dirty="0">
                <a:solidFill>
                  <a:srgbClr val="081F46"/>
                </a:solidFill>
                <a:latin typeface="맑은 고딕"/>
                <a:ea typeface="맑은 고딕"/>
              </a:rPr>
              <a:t> </a:t>
            </a:r>
            <a:r>
              <a:rPr sz="2600" b="1" i="0" dirty="0" err="1">
                <a:solidFill>
                  <a:srgbClr val="081F46"/>
                </a:solidFill>
                <a:latin typeface="맑은 고딕"/>
                <a:ea typeface="맑은 고딕"/>
              </a:rPr>
              <a:t>대상</a:t>
            </a:r>
            <a:r>
              <a:rPr sz="2600" b="1" i="0" dirty="0">
                <a:solidFill>
                  <a:srgbClr val="081F46"/>
                </a:solidFill>
                <a:latin typeface="맑은 고딕"/>
                <a:ea typeface="맑은 고딕"/>
              </a:rPr>
              <a:t> </a:t>
            </a:r>
            <a:r>
              <a:rPr sz="2600" b="1" i="0" dirty="0" err="1">
                <a:solidFill>
                  <a:srgbClr val="081F46"/>
                </a:solidFill>
                <a:latin typeface="맑은 고딕"/>
                <a:ea typeface="맑은 고딕"/>
              </a:rPr>
              <a:t>규칙</a:t>
            </a:r>
            <a:r>
              <a:rPr lang="en-US" sz="2600" b="1" i="0" dirty="0">
                <a:solidFill>
                  <a:srgbClr val="081F46"/>
                </a:solidFill>
                <a:latin typeface="맑은 고딕"/>
                <a:ea typeface="맑은 고딕"/>
              </a:rPr>
              <a:t>: </a:t>
            </a:r>
            <a:r>
              <a:rPr sz="2600" b="1" i="0" dirty="0" err="1">
                <a:solidFill>
                  <a:srgbClr val="081F46"/>
                </a:solidFill>
                <a:latin typeface="맑은 고딕"/>
                <a:ea typeface="맑은 고딕"/>
              </a:rPr>
              <a:t>적절한</a:t>
            </a:r>
            <a:r>
              <a:rPr sz="2600" b="1" i="0" dirty="0">
                <a:solidFill>
                  <a:srgbClr val="081F46"/>
                </a:solidFill>
                <a:latin typeface="맑은 고딕"/>
                <a:ea typeface="맑은 고딕"/>
              </a:rPr>
              <a:t> lift </a:t>
            </a:r>
            <a:r>
              <a:rPr sz="2600" b="1" i="0" dirty="0" err="1">
                <a:solidFill>
                  <a:srgbClr val="081F46"/>
                </a:solidFill>
                <a:latin typeface="맑은 고딕"/>
                <a:ea typeface="맑은 고딕"/>
              </a:rPr>
              <a:t>구간</a:t>
            </a:r>
            <a:r>
              <a:rPr sz="2600" b="1" i="0" dirty="0">
                <a:solidFill>
                  <a:srgbClr val="081F46"/>
                </a:solidFill>
                <a:latin typeface="맑은 고딕"/>
                <a:ea typeface="맑은 고딕"/>
              </a:rPr>
              <a:t> </a:t>
            </a:r>
            <a:r>
              <a:rPr lang="ko-KR" altLang="en-US" sz="2600" b="1" i="0" dirty="0">
                <a:solidFill>
                  <a:srgbClr val="081F46"/>
                </a:solidFill>
                <a:latin typeface="맑은 고딕"/>
                <a:ea typeface="맑은 고딕"/>
              </a:rPr>
              <a:t>선정</a:t>
            </a:r>
            <a:endParaRPr sz="2600" b="1" i="0" dirty="0">
              <a:solidFill>
                <a:srgbClr val="081F46"/>
              </a:solidFill>
              <a:latin typeface="맑은 고딕"/>
              <a:ea typeface="맑은 고딕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66928" y="1060704"/>
            <a:ext cx="11057839" cy="27940"/>
          </a:xfrm>
          <a:prstGeom prst="rect">
            <a:avLst/>
          </a:prstGeom>
          <a:solidFill>
            <a:srgbClr val="081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25000" lnSpcReduction="20000"/>
          </a:bodyPr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094415" y="6437376"/>
            <a:ext cx="82296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87878"/>
                </a:solidFill>
                <a:latin typeface="맑은 고딕"/>
                <a:ea typeface="맑은 고딕"/>
              </a:rPr>
              <a:t>10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59174344"/>
              </p:ext>
            </p:extLst>
          </p:nvPr>
        </p:nvGraphicFramePr>
        <p:xfrm>
          <a:off x="566928" y="2078182"/>
          <a:ext cx="11057835" cy="313138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8443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854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0951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525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6164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6164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100996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148866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413206">
                <a:tc>
                  <a:txBody>
                    <a:bodyPr/>
                    <a:lstStyle/>
                    <a:p>
                      <a:pPr algn="ctr"/>
                      <a:r>
                        <a:rPr sz="1400" b="1" i="0" dirty="0" err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주제</a:t>
                      </a:r>
                      <a:endParaRPr sz="1400" b="1" i="0" dirty="0">
                        <a:solidFill>
                          <a:srgbClr val="FFFFFF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63500" marR="63500" marT="25400" marB="25400" anchor="ctr">
                    <a:solidFill>
                      <a:srgbClr val="081F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i="0" dirty="0" err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규칙</a:t>
                      </a:r>
                      <a:r>
                        <a:rPr sz="1400" b="1" i="0" dirty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(</a:t>
                      </a:r>
                      <a:r>
                        <a:rPr sz="1400" b="1" i="0" dirty="0" err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선행→후행</a:t>
                      </a:r>
                      <a:r>
                        <a:rPr sz="1400" b="1" i="0" dirty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)</a:t>
                      </a:r>
                    </a:p>
                  </a:txBody>
                  <a:tcPr marL="63500" marR="63500" marT="25400" marB="25400" anchor="ctr">
                    <a:solidFill>
                      <a:srgbClr val="081F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i="0" dirty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#테이블</a:t>
                      </a:r>
                    </a:p>
                  </a:txBody>
                  <a:tcPr marL="63500" marR="63500" marT="25400" marB="25400" anchor="ctr">
                    <a:solidFill>
                      <a:srgbClr val="081F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i="0" dirty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support</a:t>
                      </a:r>
                    </a:p>
                  </a:txBody>
                  <a:tcPr marL="63500" marR="63500" marT="25400" marB="25400" anchor="ctr">
                    <a:solidFill>
                      <a:srgbClr val="081F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i="0" dirty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conf</a:t>
                      </a:r>
                    </a:p>
                  </a:txBody>
                  <a:tcPr marL="63500" marR="63500" marT="25400" marB="25400" anchor="ctr">
                    <a:solidFill>
                      <a:srgbClr val="081F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i="0" dirty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lift</a:t>
                      </a:r>
                    </a:p>
                  </a:txBody>
                  <a:tcPr marL="63500" marR="63500" marT="25400" marB="25400" anchor="ctr">
                    <a:solidFill>
                      <a:srgbClr val="081F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leverage</a:t>
                      </a:r>
                    </a:p>
                  </a:txBody>
                  <a:tcPr marL="63500" marR="63500" marT="25400" marB="25400" anchor="ctr">
                    <a:solidFill>
                      <a:srgbClr val="081F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i="0" dirty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conviction</a:t>
                      </a:r>
                    </a:p>
                  </a:txBody>
                  <a:tcPr marL="63500" marR="63500" marT="25400" marB="25400" anchor="ctr">
                    <a:solidFill>
                      <a:srgbClr val="081F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3206">
                <a:tc>
                  <a:txBody>
                    <a:bodyPr/>
                    <a:lstStyle/>
                    <a:p>
                      <a:pPr algn="ctr"/>
                      <a:r>
                        <a:rPr sz="1200" b="0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도서관</a:t>
                      </a:r>
                      <a:endParaRPr sz="1200" b="0" i="0" dirty="0">
                        <a:solidFill>
                          <a:srgbClr val="282D37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36000" marR="360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출판사 → 저자</a:t>
                      </a:r>
                      <a:endParaRPr sz="1200" b="0" i="0" dirty="0">
                        <a:solidFill>
                          <a:srgbClr val="282D37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36000" marR="360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12</a:t>
                      </a:r>
                    </a:p>
                  </a:txBody>
                  <a:tcPr marL="36000" marR="360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0.012</a:t>
                      </a:r>
                    </a:p>
                  </a:txBody>
                  <a:tcPr marL="36000" marR="360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0.71</a:t>
                      </a:r>
                    </a:p>
                  </a:txBody>
                  <a:tcPr marL="36000" marR="360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47.0</a:t>
                      </a:r>
                    </a:p>
                  </a:txBody>
                  <a:tcPr marL="36000" marR="360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0.0118</a:t>
                      </a:r>
                    </a:p>
                  </a:txBody>
                  <a:tcPr marL="36000" marR="360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3.3</a:t>
                      </a:r>
                    </a:p>
                  </a:txBody>
                  <a:tcPr marL="36000" marR="360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3206">
                <a:tc>
                  <a:txBody>
                    <a:bodyPr/>
                    <a:lstStyle/>
                    <a:p>
                      <a:pPr algn="ctr"/>
                      <a:r>
                        <a:rPr sz="1200" b="0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보건통계</a:t>
                      </a:r>
                      <a:endParaRPr sz="1200" b="0" i="0" dirty="0">
                        <a:solidFill>
                          <a:srgbClr val="282D37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36000" marR="360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확진자수</a:t>
                      </a:r>
                      <a:r>
                        <a:rPr sz="1200" b="0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 → </a:t>
                      </a:r>
                      <a:r>
                        <a:rPr sz="1200" b="0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사망자수</a:t>
                      </a:r>
                      <a:endParaRPr sz="1200" b="0" i="0" dirty="0">
                        <a:solidFill>
                          <a:srgbClr val="282D37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36000" marR="360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10</a:t>
                      </a:r>
                    </a:p>
                  </a:txBody>
                  <a:tcPr marL="36000" marR="360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0.010</a:t>
                      </a:r>
                    </a:p>
                  </a:txBody>
                  <a:tcPr marL="36000" marR="360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0.62</a:t>
                      </a:r>
                    </a:p>
                  </a:txBody>
                  <a:tcPr marL="36000" marR="360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39.0</a:t>
                      </a:r>
                    </a:p>
                  </a:txBody>
                  <a:tcPr marL="36000" marR="360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0.0098</a:t>
                      </a:r>
                    </a:p>
                  </a:txBody>
                  <a:tcPr marL="36000" marR="360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2.6</a:t>
                      </a:r>
                    </a:p>
                  </a:txBody>
                  <a:tcPr marL="36000" marR="36000" marT="25400" marB="25400" anchor="ctr"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8353">
                <a:tc>
                  <a:txBody>
                    <a:bodyPr/>
                    <a:lstStyle/>
                    <a:p>
                      <a:pPr algn="ctr"/>
                      <a:r>
                        <a:rPr sz="1200" b="0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행정구역</a:t>
                      </a:r>
                      <a:endParaRPr sz="1200" b="0" i="0" dirty="0">
                        <a:solidFill>
                          <a:srgbClr val="282D37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시도명 → 시군구명</a:t>
                      </a:r>
                      <a:endParaRPr sz="1200" b="0" i="0" dirty="0">
                        <a:solidFill>
                          <a:srgbClr val="282D37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15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0.015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0.94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39.0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0.0146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15.6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72103648"/>
                  </a:ext>
                </a:extLst>
              </a:tr>
              <a:tr h="378353">
                <a:tc>
                  <a:txBody>
                    <a:bodyPr/>
                    <a:lstStyle/>
                    <a:p>
                      <a:pPr algn="ctr"/>
                      <a:r>
                        <a:rPr sz="1200" b="0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인구통계</a:t>
                      </a:r>
                      <a:endParaRPr sz="1200" b="0" i="0" dirty="0">
                        <a:solidFill>
                          <a:srgbClr val="282D37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연령대 → 성별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11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0.011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0.85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35.2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0.0107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6.3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66471082"/>
                  </a:ext>
                </a:extLst>
              </a:tr>
              <a:tr h="378353">
                <a:tc>
                  <a:txBody>
                    <a:bodyPr/>
                    <a:lstStyle/>
                    <a:p>
                      <a:pPr algn="ctr"/>
                      <a:r>
                        <a:rPr sz="1200" b="0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교육</a:t>
                      </a:r>
                      <a:endParaRPr sz="1200" b="0" i="0" dirty="0">
                        <a:solidFill>
                          <a:srgbClr val="282D37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설립 → 학교명</a:t>
                      </a:r>
                      <a:endParaRPr sz="1200" b="0" i="0" dirty="0">
                        <a:solidFill>
                          <a:srgbClr val="282D37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9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0.009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0.90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21.4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0.0086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9.6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23524925"/>
                  </a:ext>
                </a:extLst>
              </a:tr>
              <a:tr h="378353">
                <a:tc>
                  <a:txBody>
                    <a:bodyPr/>
                    <a:lstStyle/>
                    <a:p>
                      <a:pPr algn="ctr"/>
                      <a:r>
                        <a:rPr sz="1200" b="1" i="1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거버넌스</a:t>
                      </a:r>
                      <a:endParaRPr sz="1200" b="1" i="1" dirty="0">
                        <a:solidFill>
                          <a:srgbClr val="282D37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1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유아및초·중등교육</a:t>
                      </a:r>
                      <a:r>
                        <a:rPr sz="1200" b="1" i="1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 → </a:t>
                      </a:r>
                      <a:r>
                        <a:rPr sz="1200" b="1" i="1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기관</a:t>
                      </a:r>
                      <a:r>
                        <a:rPr sz="1200" b="1" i="1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=</a:t>
                      </a:r>
                      <a:r>
                        <a:rPr sz="1200" b="1" i="1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미상</a:t>
                      </a:r>
                      <a:r>
                        <a:rPr sz="1200" b="1" i="1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(</a:t>
                      </a:r>
                      <a:r>
                        <a:rPr sz="1200" b="1" i="1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소스</a:t>
                      </a:r>
                      <a:r>
                        <a:rPr sz="1200" b="1" i="1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)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100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1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0.100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1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1.00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1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6.89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1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0.0856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1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∞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10396159"/>
                  </a:ext>
                </a:extLst>
              </a:tr>
              <a:tr h="378353">
                <a:tc>
                  <a:txBody>
                    <a:bodyPr/>
                    <a:lstStyle/>
                    <a:p>
                      <a:pPr algn="ctr"/>
                      <a:r>
                        <a:rPr sz="1200" b="0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속성원형</a:t>
                      </a:r>
                      <a:endParaRPr sz="1200" b="0" i="0" dirty="0">
                        <a:solidFill>
                          <a:srgbClr val="282D37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{보건·유일키·협소폭} → {보건의료·상수없음}</a:t>
                      </a:r>
                      <a:endParaRPr sz="1200" b="0" i="0" dirty="0">
                        <a:solidFill>
                          <a:srgbClr val="282D37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68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0.068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0.65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4.5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0.0530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2.4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359813"/>
                  </a:ext>
                </a:extLst>
              </a:tr>
            </a:tbl>
          </a:graphicData>
        </a:graphic>
      </p:graphicFrame>
      <p:sp>
        <p:nvSpPr>
          <p:cNvPr id="617" name="metric-bg"/>
          <p:cNvSpPr/>
          <p:nvPr/>
        </p:nvSpPr>
        <p:spPr>
          <a:xfrm>
            <a:off x="566928" y="1115568"/>
            <a:ext cx="11055096" cy="676656"/>
          </a:xfrm>
          <a:prstGeom prst="roundRect">
            <a:avLst/>
          </a:prstGeom>
          <a:solidFill>
            <a:srgbClr val="E8F5F0"/>
          </a:solidFill>
          <a:ln w="9525">
            <a:solidFill>
              <a:srgbClr val="C7DE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620" name="metric-desc"/>
          <p:cNvSpPr txBox="1"/>
          <p:nvPr/>
        </p:nvSpPr>
        <p:spPr>
          <a:xfrm>
            <a:off x="658091" y="1143508"/>
            <a:ext cx="10753621" cy="620776"/>
          </a:xfrm>
          <a:prstGeom prst="rect">
            <a:avLst/>
          </a:prstGeom>
          <a:noFill/>
        </p:spPr>
        <p:txBody>
          <a:bodyPr wrap="square" lIns="54864" tIns="6350" rIns="54864" bIns="6350" anchor="ctr">
            <a:noAutofit/>
          </a:bodyPr>
          <a:lstStyle/>
          <a:p>
            <a:pPr>
              <a:lnSpc>
                <a:spcPct val="110000"/>
              </a:lnSpc>
            </a:pPr>
            <a:r>
              <a:rPr lang="ko-KR" altLang="en-US" b="1" dirty="0">
                <a:solidFill>
                  <a:srgbClr val="00965F"/>
                </a:solidFill>
                <a:latin typeface="맑은 고딕"/>
                <a:ea typeface="맑은 고딕"/>
              </a:rPr>
              <a:t>발견 패턴 ▸ lift 매우 높음(예 교과목코드↔분반 125)은 단일 템플릿 내 자명한 동반 </a:t>
            </a:r>
            <a:endParaRPr lang="en-US" altLang="ko-KR" b="1" dirty="0">
              <a:solidFill>
                <a:srgbClr val="00965F"/>
              </a:solidFill>
              <a:latin typeface="맑은 고딕"/>
              <a:ea typeface="맑은 고딕"/>
            </a:endParaRPr>
          </a:p>
          <a:p>
            <a:pPr>
              <a:lnSpc>
                <a:spcPct val="110000"/>
              </a:lnSpc>
            </a:pPr>
            <a:r>
              <a:rPr lang="ko-KR" altLang="en-US" b="1" dirty="0">
                <a:solidFill>
                  <a:srgbClr val="00965F"/>
                </a:solidFill>
                <a:latin typeface="맑은 고딕"/>
                <a:ea typeface="맑은 고딕"/>
              </a:rPr>
              <a:t>→ </a:t>
            </a:r>
            <a:r>
              <a:rPr lang="ko-KR" altLang="en-US" b="1" u="sng" dirty="0">
                <a:solidFill>
                  <a:srgbClr val="FF0000"/>
                </a:solidFill>
                <a:latin typeface="맑은 고딕"/>
                <a:ea typeface="맑은 고딕"/>
              </a:rPr>
              <a:t>적절 구간(lift 4~50)의 비자명 규칙을 탐사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109728"/>
            <a:ext cx="11057839" cy="237744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965F"/>
                </a:solidFill>
                <a:latin typeface="맑은 고딕"/>
                <a:ea typeface="맑은 고딕"/>
              </a:rPr>
              <a:t>거버넌스 이슈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498839"/>
            <a:ext cx="11057839" cy="410497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 dirty="0" err="1">
                <a:solidFill>
                  <a:srgbClr val="081F46"/>
                </a:solidFill>
                <a:latin typeface="맑은 고딕"/>
                <a:ea typeface="맑은 고딕"/>
              </a:rPr>
              <a:t>거버넌스</a:t>
            </a:r>
            <a:r>
              <a:rPr sz="2600" b="1" i="0" dirty="0">
                <a:solidFill>
                  <a:srgbClr val="081F46"/>
                </a:solidFill>
                <a:latin typeface="맑은 고딕"/>
                <a:ea typeface="맑은 고딕"/>
              </a:rPr>
              <a:t> </a:t>
            </a:r>
            <a:r>
              <a:rPr sz="2600" b="1" i="0" dirty="0" err="1">
                <a:solidFill>
                  <a:srgbClr val="081F46"/>
                </a:solidFill>
                <a:latin typeface="맑은 고딕"/>
                <a:ea typeface="맑은 고딕"/>
              </a:rPr>
              <a:t>출처</a:t>
            </a:r>
            <a:r>
              <a:rPr sz="2600" b="1" i="0" dirty="0">
                <a:solidFill>
                  <a:srgbClr val="081F46"/>
                </a:solidFill>
                <a:latin typeface="맑은 고딕"/>
                <a:ea typeface="맑은 고딕"/>
              </a:rPr>
              <a:t> </a:t>
            </a:r>
            <a:r>
              <a:rPr lang="ko-KR" altLang="en-US" sz="2600" b="1" i="0" dirty="0">
                <a:solidFill>
                  <a:srgbClr val="081F46"/>
                </a:solidFill>
                <a:latin typeface="맑은 고딕"/>
                <a:ea typeface="맑은 고딕"/>
              </a:rPr>
              <a:t>누락 공통성</a:t>
            </a:r>
            <a:endParaRPr sz="2600" b="1" i="0" dirty="0">
              <a:solidFill>
                <a:srgbClr val="081F46"/>
              </a:solidFill>
              <a:latin typeface="맑은 고딕"/>
              <a:ea typeface="맑은 고딕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66928" y="1060704"/>
            <a:ext cx="11057839" cy="27940"/>
          </a:xfrm>
          <a:prstGeom prst="rect">
            <a:avLst/>
          </a:prstGeom>
          <a:solidFill>
            <a:srgbClr val="081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25000" lnSpcReduction="20000"/>
          </a:bodyPr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094415" y="6446429"/>
            <a:ext cx="82296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dirty="0">
                <a:solidFill>
                  <a:srgbClr val="787878"/>
                </a:solidFill>
                <a:latin typeface="맑은 고딕"/>
                <a:ea typeface="맑은 고딕"/>
              </a:rPr>
              <a:t>11</a:t>
            </a:r>
          </a:p>
        </p:txBody>
      </p:sp>
      <p:sp>
        <p:nvSpPr>
          <p:cNvPr id="505" name="g1-bg"/>
          <p:cNvSpPr/>
          <p:nvPr/>
        </p:nvSpPr>
        <p:spPr>
          <a:xfrm>
            <a:off x="566928" y="3630122"/>
            <a:ext cx="5285232" cy="2852928"/>
          </a:xfrm>
          <a:prstGeom prst="roundRect">
            <a:avLst/>
          </a:prstGeom>
          <a:solidFill>
            <a:srgbClr val="EEF2F8"/>
          </a:solidFill>
          <a:ln w="9525">
            <a:solidFill>
              <a:srgbClr val="D0D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506" name="g1-hdr"/>
          <p:cNvSpPr/>
          <p:nvPr/>
        </p:nvSpPr>
        <p:spPr>
          <a:xfrm>
            <a:off x="566928" y="3630122"/>
            <a:ext cx="5285232" cy="310896"/>
          </a:xfrm>
          <a:prstGeom prst="roundRect">
            <a:avLst/>
          </a:prstGeom>
          <a:solidFill>
            <a:srgbClr val="081F46"/>
          </a:solidFill>
          <a:ln w="9525">
            <a:solidFill>
              <a:srgbClr val="081F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85000" lnSpcReduction="20000"/>
          </a:bodyPr>
          <a:lstStyle/>
          <a:p>
            <a:pPr algn="ctr"/>
            <a:endParaRPr/>
          </a:p>
        </p:txBody>
      </p:sp>
      <p:sp>
        <p:nvSpPr>
          <p:cNvPr id="507" name="g1-title"/>
          <p:cNvSpPr txBox="1"/>
          <p:nvPr/>
        </p:nvSpPr>
        <p:spPr>
          <a:xfrm>
            <a:off x="566928" y="3630122"/>
            <a:ext cx="5285232" cy="310896"/>
          </a:xfrm>
          <a:prstGeom prst="rect">
            <a:avLst/>
          </a:prstGeom>
          <a:noFill/>
        </p:spPr>
        <p:txBody>
          <a:bodyPr wrap="square" lIns="109728" tIns="6350" rIns="109728" bIns="6350" anchor="ctr">
            <a:norm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 dirty="0" err="1">
                <a:solidFill>
                  <a:srgbClr val="FFFFFF"/>
                </a:solidFill>
                <a:latin typeface="맑은 고딕"/>
                <a:ea typeface="맑은 고딕"/>
              </a:rPr>
              <a:t>예시</a:t>
            </a:r>
            <a:r>
              <a:rPr sz="1400" b="1" i="0" dirty="0">
                <a:solidFill>
                  <a:srgbClr val="FFFFFF"/>
                </a:solidFill>
                <a:latin typeface="맑은 고딕"/>
                <a:ea typeface="맑은 고딕"/>
              </a:rPr>
              <a:t> </a:t>
            </a:r>
            <a:r>
              <a:rPr sz="1400" b="1" i="0" dirty="0" err="1">
                <a:solidFill>
                  <a:srgbClr val="FFFFFF"/>
                </a:solidFill>
                <a:latin typeface="맑은 고딕"/>
                <a:ea typeface="맑은 고딕"/>
              </a:rPr>
              <a:t>데이터</a:t>
            </a:r>
            <a:r>
              <a:rPr sz="1400" b="1" i="0" dirty="0">
                <a:solidFill>
                  <a:srgbClr val="FFFFFF"/>
                </a:solidFill>
                <a:latin typeface="맑은 고딕"/>
                <a:ea typeface="맑은 고딕"/>
              </a:rPr>
              <a:t> — </a:t>
            </a:r>
            <a:r>
              <a:rPr sz="1400" b="1" i="0" dirty="0" err="1">
                <a:solidFill>
                  <a:srgbClr val="FFFFFF"/>
                </a:solidFill>
                <a:latin typeface="맑은 고딕"/>
                <a:ea typeface="맑은 고딕"/>
              </a:rPr>
              <a:t>무엇이</a:t>
            </a:r>
            <a:r>
              <a:rPr sz="1400" b="1" i="0" dirty="0">
                <a:solidFill>
                  <a:srgbClr val="FFFFFF"/>
                </a:solidFill>
                <a:latin typeface="맑은 고딕"/>
                <a:ea typeface="맑은 고딕"/>
              </a:rPr>
              <a:t> </a:t>
            </a:r>
            <a:r>
              <a:rPr sz="1400" b="1" i="0" dirty="0" err="1">
                <a:solidFill>
                  <a:srgbClr val="FFFFFF"/>
                </a:solidFill>
                <a:latin typeface="맑은 고딕"/>
                <a:ea typeface="맑은 고딕"/>
              </a:rPr>
              <a:t>누락됐나</a:t>
            </a:r>
            <a:endParaRPr sz="1400" b="1" i="0" dirty="0">
              <a:solidFill>
                <a:srgbClr val="FFFFFF"/>
              </a:solidFill>
              <a:latin typeface="맑은 고딕"/>
              <a:ea typeface="맑은 고딕"/>
            </a:endParaRPr>
          </a:p>
        </p:txBody>
      </p:sp>
      <p:sp>
        <p:nvSpPr>
          <p:cNvPr id="508" name="g1-ex-sub"/>
          <p:cNvSpPr txBox="1"/>
          <p:nvPr/>
        </p:nvSpPr>
        <p:spPr>
          <a:xfrm>
            <a:off x="676656" y="3977594"/>
            <a:ext cx="5065776" cy="365760"/>
          </a:xfrm>
          <a:prstGeom prst="rect">
            <a:avLst/>
          </a:prstGeom>
          <a:noFill/>
        </p:spPr>
        <p:txBody>
          <a:bodyPr wrap="square" lIns="12700" tIns="6350" rIns="12700" bIns="6350" anchor="t">
            <a:norm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 dirty="0" err="1">
                <a:solidFill>
                  <a:srgbClr val="081F46"/>
                </a:solidFill>
                <a:latin typeface="맑은 고딕"/>
                <a:ea typeface="맑은 고딕"/>
              </a:rPr>
              <a:t>예시</a:t>
            </a:r>
            <a:r>
              <a:rPr sz="1000" b="1" i="0" dirty="0">
                <a:solidFill>
                  <a:srgbClr val="081F46"/>
                </a:solidFill>
                <a:latin typeface="맑은 고딕"/>
                <a:ea typeface="맑은 고딕"/>
              </a:rPr>
              <a:t> 1건:  </a:t>
            </a:r>
            <a:r>
              <a:rPr sz="10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광주광역시</a:t>
            </a:r>
            <a:r>
              <a:rPr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0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남구_어린이집</a:t>
            </a:r>
            <a:r>
              <a:rPr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 현황_20230712.csv</a:t>
            </a:r>
          </a:p>
        </p:txBody>
      </p:sp>
      <p:sp>
        <p:nvSpPr>
          <p:cNvPr id="509" name="g1-f0"/>
          <p:cNvSpPr txBox="1"/>
          <p:nvPr/>
        </p:nvSpPr>
        <p:spPr>
          <a:xfrm>
            <a:off x="713232" y="4506676"/>
            <a:ext cx="1874520" cy="315468"/>
          </a:xfrm>
          <a:prstGeom prst="rect">
            <a:avLst/>
          </a:prstGeom>
          <a:noFill/>
        </p:spPr>
        <p:txBody>
          <a:bodyPr wrap="square" lIns="6350" tIns="6350" rIns="6350" bIns="6350" anchor="ctr">
            <a:norm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 dirty="0" err="1">
                <a:solidFill>
                  <a:srgbClr val="081F46"/>
                </a:solidFill>
                <a:latin typeface="맑은 고딕"/>
                <a:ea typeface="맑은 고딕"/>
              </a:rPr>
              <a:t>table_source</a:t>
            </a:r>
            <a:r>
              <a:rPr sz="1000" b="1" i="0" dirty="0">
                <a:solidFill>
                  <a:srgbClr val="081F46"/>
                </a:solidFill>
                <a:latin typeface="맑은 고딕"/>
                <a:ea typeface="맑은 고딕"/>
              </a:rPr>
              <a:t> (</a:t>
            </a:r>
            <a:r>
              <a:rPr sz="1000" b="1" i="0" dirty="0" err="1">
                <a:solidFill>
                  <a:srgbClr val="081F46"/>
                </a:solidFill>
                <a:latin typeface="맑은 고딕"/>
                <a:ea typeface="맑은 고딕"/>
              </a:rPr>
              <a:t>출처</a:t>
            </a:r>
            <a:r>
              <a:rPr sz="1000" b="1" i="0" dirty="0">
                <a:solidFill>
                  <a:srgbClr val="081F46"/>
                </a:solidFill>
                <a:latin typeface="맑은 고딕"/>
                <a:ea typeface="맑은 고딕"/>
              </a:rPr>
              <a:t>)</a:t>
            </a:r>
          </a:p>
        </p:txBody>
      </p:sp>
      <p:sp>
        <p:nvSpPr>
          <p:cNvPr id="510" name="g1-v0"/>
          <p:cNvSpPr txBox="1"/>
          <p:nvPr/>
        </p:nvSpPr>
        <p:spPr>
          <a:xfrm>
            <a:off x="2587752" y="4506676"/>
            <a:ext cx="3118104" cy="315468"/>
          </a:xfrm>
          <a:prstGeom prst="rect">
            <a:avLst/>
          </a:prstGeom>
          <a:noFill/>
        </p:spPr>
        <p:txBody>
          <a:bodyPr wrap="square" lIns="6350" tIns="6350" rIns="6350" bIns="6350" anchor="ctr">
            <a:norm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 dirty="0">
                <a:solidFill>
                  <a:srgbClr val="C0392B"/>
                </a:solidFill>
                <a:latin typeface="맑은 고딕"/>
                <a:ea typeface="맑은 고딕"/>
              </a:rPr>
              <a:t>‘</a:t>
            </a:r>
            <a:r>
              <a:rPr sz="1000" b="1" i="0" dirty="0" err="1">
                <a:solidFill>
                  <a:srgbClr val="C0392B"/>
                </a:solidFill>
                <a:latin typeface="맑은 고딕"/>
                <a:ea typeface="맑은 고딕"/>
              </a:rPr>
              <a:t>소스</a:t>
            </a:r>
            <a:r>
              <a:rPr sz="1000" b="1" i="0" dirty="0">
                <a:solidFill>
                  <a:srgbClr val="C0392B"/>
                </a:solidFill>
                <a:latin typeface="맑은 고딕"/>
                <a:ea typeface="맑은 고딕"/>
              </a:rPr>
              <a:t>’</a:t>
            </a:r>
            <a:r>
              <a:rPr sz="1000" b="0" i="0" dirty="0">
                <a:solidFill>
                  <a:srgbClr val="C0392B"/>
                </a:solidFill>
                <a:latin typeface="맑은 고딕"/>
                <a:ea typeface="맑은 고딕"/>
              </a:rPr>
              <a:t>   ✗ placeholder (</a:t>
            </a:r>
            <a:r>
              <a:rPr sz="1000" b="0" i="0" dirty="0" err="1">
                <a:solidFill>
                  <a:srgbClr val="C0392B"/>
                </a:solidFill>
                <a:latin typeface="맑은 고딕"/>
                <a:ea typeface="맑은 고딕"/>
              </a:rPr>
              <a:t>기관명</a:t>
            </a:r>
            <a:r>
              <a:rPr sz="1000" b="0" i="0" dirty="0">
                <a:solidFill>
                  <a:srgbClr val="C0392B"/>
                </a:solidFill>
                <a:latin typeface="맑은 고딕"/>
                <a:ea typeface="맑은 고딕"/>
              </a:rPr>
              <a:t> </a:t>
            </a:r>
            <a:r>
              <a:rPr sz="1000" b="0" i="0" dirty="0" err="1">
                <a:solidFill>
                  <a:srgbClr val="C0392B"/>
                </a:solidFill>
                <a:latin typeface="맑은 고딕"/>
                <a:ea typeface="맑은 고딕"/>
              </a:rPr>
              <a:t>소실</a:t>
            </a:r>
            <a:r>
              <a:rPr sz="1000" b="0" i="0" dirty="0">
                <a:solidFill>
                  <a:srgbClr val="C0392B"/>
                </a:solidFill>
                <a:latin typeface="맑은 고딕"/>
                <a:ea typeface="맑은 고딕"/>
              </a:rPr>
              <a:t>)</a:t>
            </a:r>
          </a:p>
        </p:txBody>
      </p:sp>
      <p:sp>
        <p:nvSpPr>
          <p:cNvPr id="511" name="g1-f1"/>
          <p:cNvSpPr txBox="1"/>
          <p:nvPr/>
        </p:nvSpPr>
        <p:spPr>
          <a:xfrm>
            <a:off x="713232" y="4822144"/>
            <a:ext cx="1874520" cy="315468"/>
          </a:xfrm>
          <a:prstGeom prst="rect">
            <a:avLst/>
          </a:prstGeom>
          <a:noFill/>
        </p:spPr>
        <p:txBody>
          <a:bodyPr wrap="square" lIns="6350" tIns="6350" rIns="6350" bIns="6350" anchor="ctr">
            <a:norm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 dirty="0" err="1">
                <a:solidFill>
                  <a:srgbClr val="081F46"/>
                </a:solidFill>
                <a:latin typeface="맑은 고딕"/>
                <a:ea typeface="맑은 고딕"/>
              </a:rPr>
              <a:t>url</a:t>
            </a:r>
            <a:r>
              <a:rPr sz="1000" b="1" i="0" dirty="0">
                <a:solidFill>
                  <a:srgbClr val="081F46"/>
                </a:solidFill>
                <a:latin typeface="맑은 고딕"/>
                <a:ea typeface="맑은 고딕"/>
              </a:rPr>
              <a:t> (</a:t>
            </a:r>
            <a:r>
              <a:rPr sz="1000" b="1" i="0" dirty="0" err="1">
                <a:solidFill>
                  <a:srgbClr val="081F46"/>
                </a:solidFill>
                <a:latin typeface="맑은 고딕"/>
                <a:ea typeface="맑은 고딕"/>
              </a:rPr>
              <a:t>원본</a:t>
            </a:r>
            <a:r>
              <a:rPr sz="1000" b="1" i="0" dirty="0">
                <a:solidFill>
                  <a:srgbClr val="081F46"/>
                </a:solidFill>
                <a:latin typeface="맑은 고딕"/>
                <a:ea typeface="맑은 고딕"/>
              </a:rPr>
              <a:t> </a:t>
            </a:r>
            <a:r>
              <a:rPr sz="1000" b="1" i="0" dirty="0" err="1">
                <a:solidFill>
                  <a:srgbClr val="081F46"/>
                </a:solidFill>
                <a:latin typeface="맑은 고딕"/>
                <a:ea typeface="맑은 고딕"/>
              </a:rPr>
              <a:t>링크</a:t>
            </a:r>
            <a:r>
              <a:rPr sz="1000" b="1" i="0" dirty="0">
                <a:solidFill>
                  <a:srgbClr val="081F46"/>
                </a:solidFill>
                <a:latin typeface="맑은 고딕"/>
                <a:ea typeface="맑은 고딕"/>
              </a:rPr>
              <a:t>)</a:t>
            </a:r>
          </a:p>
        </p:txBody>
      </p:sp>
      <p:sp>
        <p:nvSpPr>
          <p:cNvPr id="512" name="g1-v1"/>
          <p:cNvSpPr txBox="1"/>
          <p:nvPr/>
        </p:nvSpPr>
        <p:spPr>
          <a:xfrm>
            <a:off x="2587752" y="4822144"/>
            <a:ext cx="3118104" cy="315468"/>
          </a:xfrm>
          <a:prstGeom prst="rect">
            <a:avLst/>
          </a:prstGeom>
          <a:noFill/>
        </p:spPr>
        <p:txBody>
          <a:bodyPr wrap="square" lIns="6350" tIns="6350" rIns="6350" bIns="6350" anchor="ctr">
            <a:norm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 dirty="0">
                <a:solidFill>
                  <a:srgbClr val="C0392B"/>
                </a:solidFill>
                <a:latin typeface="맑은 고딕"/>
                <a:ea typeface="맑은 고딕"/>
              </a:rPr>
              <a:t>‘</a:t>
            </a:r>
            <a:r>
              <a:rPr sz="1000" b="1" i="0" dirty="0" err="1">
                <a:solidFill>
                  <a:srgbClr val="C0392B"/>
                </a:solidFill>
                <a:latin typeface="맑은 고딕"/>
                <a:ea typeface="맑은 고딕"/>
              </a:rPr>
              <a:t>url</a:t>
            </a:r>
            <a:r>
              <a:rPr sz="1000" b="1" i="0" dirty="0">
                <a:solidFill>
                  <a:srgbClr val="C0392B"/>
                </a:solidFill>
                <a:latin typeface="맑은 고딕"/>
                <a:ea typeface="맑은 고딕"/>
              </a:rPr>
              <a:t>’</a:t>
            </a:r>
            <a:r>
              <a:rPr sz="1000" b="0" i="0" dirty="0">
                <a:solidFill>
                  <a:srgbClr val="C0392B"/>
                </a:solidFill>
                <a:latin typeface="맑은 고딕"/>
                <a:ea typeface="맑은 고딕"/>
              </a:rPr>
              <a:t>   ✗ placeholder</a:t>
            </a:r>
          </a:p>
        </p:txBody>
      </p:sp>
      <p:sp>
        <p:nvSpPr>
          <p:cNvPr id="513" name="g1-f2"/>
          <p:cNvSpPr txBox="1"/>
          <p:nvPr/>
        </p:nvSpPr>
        <p:spPr>
          <a:xfrm>
            <a:off x="713232" y="5137612"/>
            <a:ext cx="1874520" cy="315468"/>
          </a:xfrm>
          <a:prstGeom prst="rect">
            <a:avLst/>
          </a:prstGeom>
          <a:noFill/>
        </p:spPr>
        <p:txBody>
          <a:bodyPr wrap="square" lIns="6350" tIns="6350" rIns="6350" bIns="6350" anchor="ctr">
            <a:norm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81F46"/>
                </a:solidFill>
                <a:latin typeface="맑은 고딕"/>
                <a:ea typeface="맑은 고딕"/>
              </a:rPr>
              <a:t>table_nm (파일명)</a:t>
            </a:r>
          </a:p>
        </p:txBody>
      </p:sp>
      <p:sp>
        <p:nvSpPr>
          <p:cNvPr id="514" name="g1-v2"/>
          <p:cNvSpPr txBox="1"/>
          <p:nvPr/>
        </p:nvSpPr>
        <p:spPr>
          <a:xfrm>
            <a:off x="2587752" y="5137612"/>
            <a:ext cx="3118104" cy="315468"/>
          </a:xfrm>
          <a:prstGeom prst="rect">
            <a:avLst/>
          </a:prstGeom>
          <a:noFill/>
        </p:spPr>
        <p:txBody>
          <a:bodyPr wrap="square" lIns="6350" tIns="6350" rIns="6350" bIns="6350" anchor="ctr">
            <a:norm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82D37"/>
                </a:solidFill>
                <a:latin typeface="맑은 고딕"/>
                <a:ea typeface="맑은 고딕"/>
              </a:rPr>
              <a:t>‘광주광역시 남구…’</a:t>
            </a:r>
            <a:r>
              <a:rPr sz="1000" b="1" i="0">
                <a:solidFill>
                  <a:srgbClr val="00965F"/>
                </a:solidFill>
                <a:latin typeface="맑은 고딕"/>
                <a:ea typeface="맑은 고딕"/>
              </a:rPr>
              <a:t>   ✓ 기관명 존재</a:t>
            </a:r>
          </a:p>
        </p:txBody>
      </p:sp>
      <p:sp>
        <p:nvSpPr>
          <p:cNvPr id="515" name="g1-f3"/>
          <p:cNvSpPr txBox="1"/>
          <p:nvPr/>
        </p:nvSpPr>
        <p:spPr>
          <a:xfrm>
            <a:off x="713232" y="5453080"/>
            <a:ext cx="1874520" cy="315468"/>
          </a:xfrm>
          <a:prstGeom prst="rect">
            <a:avLst/>
          </a:prstGeom>
          <a:noFill/>
        </p:spPr>
        <p:txBody>
          <a:bodyPr wrap="square" lIns="6350" tIns="6350" rIns="6350" bIns="6350" anchor="ctr">
            <a:norm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81F46"/>
                </a:solidFill>
                <a:latin typeface="맑은 고딕"/>
                <a:ea typeface="맑은 고딕"/>
              </a:rPr>
              <a:t>regi_date (등록)</a:t>
            </a:r>
          </a:p>
        </p:txBody>
      </p:sp>
      <p:sp>
        <p:nvSpPr>
          <p:cNvPr id="516" name="g1-v3"/>
          <p:cNvSpPr txBox="1"/>
          <p:nvPr/>
        </p:nvSpPr>
        <p:spPr>
          <a:xfrm>
            <a:off x="2587752" y="5453080"/>
            <a:ext cx="3118104" cy="315468"/>
          </a:xfrm>
          <a:prstGeom prst="rect">
            <a:avLst/>
          </a:prstGeom>
          <a:noFill/>
        </p:spPr>
        <p:txBody>
          <a:bodyPr wrap="square" lIns="6350" tIns="6350" rIns="6350" bIns="6350" anchor="ctr">
            <a:norm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2026-03-30</a:t>
            </a:r>
            <a:r>
              <a:rPr sz="1000" b="0" i="0" dirty="0">
                <a:solidFill>
                  <a:srgbClr val="505050"/>
                </a:solidFill>
                <a:latin typeface="맑은 고딕"/>
                <a:ea typeface="맑은 고딕"/>
              </a:rPr>
              <a:t>   (100건 </a:t>
            </a:r>
            <a:r>
              <a:rPr sz="1000" b="0" i="0" dirty="0" err="1">
                <a:solidFill>
                  <a:srgbClr val="505050"/>
                </a:solidFill>
                <a:latin typeface="맑은 고딕"/>
                <a:ea typeface="맑은 고딕"/>
              </a:rPr>
              <a:t>전부</a:t>
            </a:r>
            <a:r>
              <a:rPr sz="1000" b="0" i="0" dirty="0">
                <a:solidFill>
                  <a:srgbClr val="505050"/>
                </a:solidFill>
                <a:latin typeface="맑은 고딕"/>
                <a:ea typeface="맑은 고딕"/>
              </a:rPr>
              <a:t> </a:t>
            </a:r>
            <a:r>
              <a:rPr sz="1000" b="0" i="0" dirty="0" err="1">
                <a:solidFill>
                  <a:srgbClr val="505050"/>
                </a:solidFill>
                <a:latin typeface="맑은 고딕"/>
                <a:ea typeface="맑은 고딕"/>
              </a:rPr>
              <a:t>동일</a:t>
            </a:r>
            <a:r>
              <a:rPr sz="1000" b="0" i="0" dirty="0">
                <a:solidFill>
                  <a:srgbClr val="505050"/>
                </a:solidFill>
                <a:latin typeface="맑은 고딕"/>
                <a:ea typeface="맑은 고딕"/>
              </a:rPr>
              <a:t>)</a:t>
            </a:r>
          </a:p>
        </p:txBody>
      </p:sp>
      <p:sp>
        <p:nvSpPr>
          <p:cNvPr id="517" name="g1-f4"/>
          <p:cNvSpPr txBox="1"/>
          <p:nvPr/>
        </p:nvSpPr>
        <p:spPr>
          <a:xfrm>
            <a:off x="713232" y="5768548"/>
            <a:ext cx="1874520" cy="315468"/>
          </a:xfrm>
          <a:prstGeom prst="rect">
            <a:avLst/>
          </a:prstGeom>
          <a:noFill/>
        </p:spPr>
        <p:txBody>
          <a:bodyPr wrap="square" lIns="6350" tIns="6350" rIns="6350" bIns="6350" anchor="ctr">
            <a:norm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81F46"/>
                </a:solidFill>
                <a:latin typeface="맑은 고딕"/>
                <a:ea typeface="맑은 고딕"/>
              </a:rPr>
              <a:t>src_platform</a:t>
            </a:r>
          </a:p>
        </p:txBody>
      </p:sp>
      <p:sp>
        <p:nvSpPr>
          <p:cNvPr id="518" name="g1-v4"/>
          <p:cNvSpPr txBox="1"/>
          <p:nvPr/>
        </p:nvSpPr>
        <p:spPr>
          <a:xfrm>
            <a:off x="2587752" y="5768548"/>
            <a:ext cx="3118104" cy="315468"/>
          </a:xfrm>
          <a:prstGeom prst="rect">
            <a:avLst/>
          </a:prstGeom>
          <a:noFill/>
        </p:spPr>
        <p:txBody>
          <a:bodyPr wrap="square" lIns="6350" tIns="6350" rIns="6350" bIns="6350" anchor="ctr">
            <a:norm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82D37"/>
                </a:solidFill>
                <a:latin typeface="맑은 고딕"/>
                <a:ea typeface="맑은 고딕"/>
              </a:rPr>
              <a:t>공공데이터포털</a:t>
            </a:r>
            <a:r>
              <a:rPr sz="1000" b="1" i="0">
                <a:solidFill>
                  <a:srgbClr val="00965F"/>
                </a:solidFill>
                <a:latin typeface="맑은 고딕"/>
                <a:ea typeface="맑은 고딕"/>
              </a:rPr>
              <a:t>   ✓ 정상</a:t>
            </a:r>
          </a:p>
        </p:txBody>
      </p:sp>
      <p:sp>
        <p:nvSpPr>
          <p:cNvPr id="520" name="g1-bg"/>
          <p:cNvSpPr/>
          <p:nvPr/>
        </p:nvSpPr>
        <p:spPr>
          <a:xfrm>
            <a:off x="6053328" y="1991758"/>
            <a:ext cx="5568696" cy="2724912"/>
          </a:xfrm>
          <a:prstGeom prst="roundRect">
            <a:avLst/>
          </a:prstGeom>
          <a:solidFill>
            <a:srgbClr val="EEF2F8"/>
          </a:solidFill>
          <a:ln w="9525">
            <a:solidFill>
              <a:srgbClr val="D0D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521" name="g1-hdr"/>
          <p:cNvSpPr/>
          <p:nvPr/>
        </p:nvSpPr>
        <p:spPr>
          <a:xfrm>
            <a:off x="6053328" y="1991758"/>
            <a:ext cx="5568696" cy="310896"/>
          </a:xfrm>
          <a:prstGeom prst="roundRect">
            <a:avLst/>
          </a:prstGeom>
          <a:solidFill>
            <a:srgbClr val="081F46"/>
          </a:solidFill>
          <a:ln w="9525">
            <a:solidFill>
              <a:srgbClr val="081F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85000" lnSpcReduction="20000"/>
          </a:bodyPr>
          <a:lstStyle/>
          <a:p>
            <a:pPr algn="ctr"/>
            <a:endParaRPr/>
          </a:p>
        </p:txBody>
      </p:sp>
      <p:sp>
        <p:nvSpPr>
          <p:cNvPr id="522" name="g1-title"/>
          <p:cNvSpPr txBox="1"/>
          <p:nvPr/>
        </p:nvSpPr>
        <p:spPr>
          <a:xfrm>
            <a:off x="6053328" y="1991758"/>
            <a:ext cx="5568696" cy="310896"/>
          </a:xfrm>
          <a:prstGeom prst="rect">
            <a:avLst/>
          </a:prstGeom>
          <a:noFill/>
        </p:spPr>
        <p:txBody>
          <a:bodyPr wrap="square" lIns="109728" tIns="6350" rIns="109728" bIns="6350" anchor="ctr">
            <a:normAutofit/>
          </a:bodyPr>
          <a:lstStyle/>
          <a:p>
            <a:pPr>
              <a:lnSpc>
                <a:spcPct val="118000"/>
              </a:lnSpc>
            </a:pPr>
            <a:r>
              <a:rPr lang="ko-KR" altLang="en-US" sz="1400" b="1" dirty="0">
                <a:solidFill>
                  <a:srgbClr val="FFFFFF"/>
                </a:solidFill>
                <a:latin typeface="맑은 고딕"/>
                <a:ea typeface="맑은 고딕"/>
              </a:rPr>
              <a:t>① </a:t>
            </a:r>
            <a:r>
              <a:rPr sz="1400" b="1" i="0" dirty="0" err="1">
                <a:solidFill>
                  <a:srgbClr val="FFFFFF"/>
                </a:solidFill>
                <a:latin typeface="맑은 고딕"/>
                <a:ea typeface="맑은 고딕"/>
              </a:rPr>
              <a:t>의미</a:t>
            </a:r>
            <a:r>
              <a:rPr sz="1400" b="1" i="0" dirty="0">
                <a:solidFill>
                  <a:srgbClr val="FFFFFF"/>
                </a:solidFill>
                <a:latin typeface="맑은 고딕"/>
                <a:ea typeface="맑은 고딕"/>
              </a:rPr>
              <a:t> </a:t>
            </a:r>
            <a:r>
              <a:rPr sz="1400" b="1" i="0" dirty="0" err="1">
                <a:solidFill>
                  <a:srgbClr val="FFFFFF"/>
                </a:solidFill>
                <a:latin typeface="맑은 고딕"/>
                <a:ea typeface="맑은 고딕"/>
              </a:rPr>
              <a:t>분석</a:t>
            </a:r>
            <a:r>
              <a:rPr sz="1400" b="1" i="0" dirty="0">
                <a:solidFill>
                  <a:srgbClr val="FFFFFF"/>
                </a:solidFill>
                <a:latin typeface="맑은 고딕"/>
                <a:ea typeface="맑은 고딕"/>
              </a:rPr>
              <a:t> (</a:t>
            </a:r>
            <a:r>
              <a:rPr sz="1400" b="1" i="0" dirty="0" err="1">
                <a:solidFill>
                  <a:srgbClr val="FFFFFF"/>
                </a:solidFill>
                <a:latin typeface="맑은 고딕"/>
                <a:ea typeface="맑은 고딕"/>
              </a:rPr>
              <a:t>구체</a:t>
            </a:r>
            <a:r>
              <a:rPr sz="1400" b="1" i="0" dirty="0">
                <a:solidFill>
                  <a:srgbClr val="FFFFFF"/>
                </a:solidFill>
                <a:latin typeface="맑은 고딕"/>
                <a:ea typeface="맑은 고딕"/>
              </a:rPr>
              <a:t>)</a:t>
            </a:r>
          </a:p>
        </p:txBody>
      </p:sp>
      <p:sp>
        <p:nvSpPr>
          <p:cNvPr id="523" name="g1-mean"/>
          <p:cNvSpPr txBox="1"/>
          <p:nvPr/>
        </p:nvSpPr>
        <p:spPr>
          <a:xfrm>
            <a:off x="6163056" y="2348374"/>
            <a:ext cx="5367528" cy="2322576"/>
          </a:xfrm>
          <a:prstGeom prst="rect">
            <a:avLst/>
          </a:prstGeom>
          <a:noFill/>
        </p:spPr>
        <p:txBody>
          <a:bodyPr wrap="square" lIns="12700" tIns="6350" rIns="12700" bIns="6350" anchor="t">
            <a:norm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"/>
              </a:spcAft>
            </a:pPr>
            <a:r>
              <a:rPr sz="1000" b="1" i="0" dirty="0">
                <a:solidFill>
                  <a:srgbClr val="081F46"/>
                </a:solidFill>
                <a:latin typeface="맑은 고딕"/>
                <a:ea typeface="맑은 고딕"/>
              </a:rPr>
              <a:t>① </a:t>
            </a:r>
            <a:r>
              <a:rPr sz="1000" b="1" i="0" dirty="0" err="1">
                <a:solidFill>
                  <a:srgbClr val="081F46"/>
                </a:solidFill>
                <a:latin typeface="맑은 고딕"/>
                <a:ea typeface="맑은 고딕"/>
              </a:rPr>
              <a:t>누락</a:t>
            </a:r>
            <a:r>
              <a:rPr sz="1000" b="1" i="0" dirty="0">
                <a:solidFill>
                  <a:srgbClr val="081F46"/>
                </a:solidFill>
                <a:latin typeface="맑은 고딕"/>
                <a:ea typeface="맑은 고딕"/>
              </a:rPr>
              <a:t> 값: </a:t>
            </a:r>
            <a:r>
              <a:rPr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table_source→‘</a:t>
            </a:r>
            <a:r>
              <a:rPr sz="10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소스</a:t>
            </a:r>
            <a:r>
              <a:rPr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’, </a:t>
            </a:r>
            <a:r>
              <a:rPr sz="10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url</a:t>
            </a:r>
            <a:r>
              <a:rPr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→‘</a:t>
            </a:r>
            <a:r>
              <a:rPr sz="10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url</a:t>
            </a:r>
            <a:r>
              <a:rPr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’ — 두 </a:t>
            </a:r>
            <a:r>
              <a:rPr sz="10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메타필드가</a:t>
            </a:r>
            <a:r>
              <a:rPr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0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더미로</a:t>
            </a:r>
            <a:r>
              <a:rPr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0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덮임</a:t>
            </a:r>
            <a:r>
              <a:rPr lang="en-US"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.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"/>
              </a:spcAft>
            </a:pPr>
            <a:endParaRPr sz="10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"/>
              </a:spcAft>
            </a:pPr>
            <a:r>
              <a:rPr sz="1000" b="1" i="0" dirty="0">
                <a:solidFill>
                  <a:srgbClr val="081F46"/>
                </a:solidFill>
                <a:latin typeface="맑은 고딕"/>
                <a:ea typeface="맑은 고딕"/>
              </a:rPr>
              <a:t>② </a:t>
            </a:r>
            <a:r>
              <a:rPr lang="ko-KR" altLang="en-US" sz="1000" b="1" i="0" dirty="0">
                <a:solidFill>
                  <a:srgbClr val="081F46"/>
                </a:solidFill>
                <a:latin typeface="맑은 고딕"/>
                <a:ea typeface="맑은 고딕"/>
              </a:rPr>
              <a:t>공통성</a:t>
            </a:r>
            <a:r>
              <a:rPr sz="1000" b="1" i="0" dirty="0">
                <a:solidFill>
                  <a:srgbClr val="081F46"/>
                </a:solidFill>
                <a:latin typeface="맑은 고딕"/>
                <a:ea typeface="맑은 고딕"/>
              </a:rPr>
              <a:t>: </a:t>
            </a:r>
            <a:r>
              <a:rPr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placeholder 145건 중 100건이 </a:t>
            </a:r>
            <a:r>
              <a:rPr sz="10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전부</a:t>
            </a:r>
            <a:r>
              <a:rPr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 ‘</a:t>
            </a:r>
            <a:r>
              <a:rPr sz="1000" b="1" i="0" u="sng" dirty="0" err="1">
                <a:solidFill>
                  <a:srgbClr val="282D37"/>
                </a:solidFill>
                <a:latin typeface="맑은 고딕"/>
                <a:ea typeface="맑은 고딕"/>
              </a:rPr>
              <a:t>유아및초·중등교육</a:t>
            </a:r>
            <a:r>
              <a:rPr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’(이 </a:t>
            </a:r>
            <a:r>
              <a:rPr sz="10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분류</a:t>
            </a:r>
            <a:r>
              <a:rPr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 100% </a:t>
            </a:r>
            <a:r>
              <a:rPr sz="10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소실</a:t>
            </a:r>
            <a:r>
              <a:rPr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, </a:t>
            </a:r>
            <a:endParaRPr lang="en-US" sz="10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"/>
              </a:spcAft>
            </a:pPr>
            <a:r>
              <a:rPr lang="en-US" sz="1000" dirty="0">
                <a:solidFill>
                  <a:srgbClr val="282D37"/>
                </a:solidFill>
                <a:latin typeface="맑은 고딕"/>
                <a:ea typeface="맑은 고딕"/>
              </a:rPr>
              <a:t>   </a:t>
            </a:r>
            <a:r>
              <a:rPr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타 </a:t>
            </a:r>
            <a:r>
              <a:rPr sz="10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분류</a:t>
            </a:r>
            <a:r>
              <a:rPr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 1~15%)</a:t>
            </a:r>
            <a:endParaRPr lang="en-US" sz="10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"/>
              </a:spcAft>
            </a:pPr>
            <a:endParaRPr sz="10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"/>
              </a:spcAft>
            </a:pPr>
            <a:r>
              <a:rPr sz="1000" b="1" i="0" dirty="0">
                <a:solidFill>
                  <a:srgbClr val="081F46"/>
                </a:solidFill>
                <a:latin typeface="맑은 고딕"/>
                <a:ea typeface="맑은 고딕"/>
              </a:rPr>
              <a:t>③ </a:t>
            </a:r>
            <a:r>
              <a:rPr sz="1000" b="1" i="0" dirty="0" err="1">
                <a:solidFill>
                  <a:srgbClr val="081F46"/>
                </a:solidFill>
                <a:latin typeface="맑은 고딕"/>
                <a:ea typeface="맑은 고딕"/>
              </a:rPr>
              <a:t>단일</a:t>
            </a:r>
            <a:r>
              <a:rPr sz="1000" b="1" i="0" dirty="0">
                <a:solidFill>
                  <a:srgbClr val="081F46"/>
                </a:solidFill>
                <a:latin typeface="맑은 고딕"/>
                <a:ea typeface="맑은 고딕"/>
              </a:rPr>
              <a:t> </a:t>
            </a:r>
            <a:r>
              <a:rPr sz="1000" b="1" i="0" dirty="0" err="1">
                <a:solidFill>
                  <a:srgbClr val="081F46"/>
                </a:solidFill>
                <a:latin typeface="맑은 고딕"/>
                <a:ea typeface="맑은 고딕"/>
              </a:rPr>
              <a:t>배치</a:t>
            </a:r>
            <a:r>
              <a:rPr sz="1000" b="1" i="0" dirty="0">
                <a:solidFill>
                  <a:srgbClr val="081F46"/>
                </a:solidFill>
                <a:latin typeface="맑은 고딕"/>
                <a:ea typeface="맑은 고딕"/>
              </a:rPr>
              <a:t>: </a:t>
            </a:r>
            <a:r>
              <a:rPr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100건 </a:t>
            </a:r>
            <a:r>
              <a:rPr sz="10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모두</a:t>
            </a:r>
            <a:r>
              <a:rPr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000" b="1" i="0" u="sng" dirty="0" err="1">
                <a:solidFill>
                  <a:srgbClr val="282D37"/>
                </a:solidFill>
                <a:latin typeface="맑은 고딕"/>
                <a:ea typeface="맑은 고딕"/>
              </a:rPr>
              <a:t>regi_date</a:t>
            </a:r>
            <a:r>
              <a:rPr sz="1000" b="1" i="0" u="sng" dirty="0">
                <a:solidFill>
                  <a:srgbClr val="282D37"/>
                </a:solidFill>
                <a:latin typeface="맑은 고딕"/>
                <a:ea typeface="맑은 고딕"/>
              </a:rPr>
              <a:t>=2026-03-30 </a:t>
            </a:r>
            <a:r>
              <a:rPr sz="1000" b="1" i="0" u="sng" dirty="0" err="1">
                <a:solidFill>
                  <a:srgbClr val="282D37"/>
                </a:solidFill>
                <a:latin typeface="맑은 고딕"/>
                <a:ea typeface="맑은 고딕"/>
              </a:rPr>
              <a:t>동일</a:t>
            </a:r>
            <a:r>
              <a:rPr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 → 한 </a:t>
            </a:r>
            <a:r>
              <a:rPr sz="10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번의</a:t>
            </a:r>
            <a:r>
              <a:rPr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0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적재에서</a:t>
            </a:r>
            <a:r>
              <a:rPr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0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일괄</a:t>
            </a:r>
            <a:r>
              <a:rPr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 placeholder</a:t>
            </a:r>
            <a:endParaRPr lang="en-US" sz="10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"/>
              </a:spcAft>
            </a:pPr>
            <a:r>
              <a:rPr lang="en-US" sz="1000" dirty="0">
                <a:solidFill>
                  <a:srgbClr val="282D37"/>
                </a:solidFill>
                <a:latin typeface="맑은 고딕"/>
                <a:ea typeface="맑은 고딕"/>
              </a:rPr>
              <a:t>  </a:t>
            </a:r>
            <a:r>
              <a:rPr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0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처리</a:t>
            </a:r>
            <a:r>
              <a:rPr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(</a:t>
            </a:r>
            <a:r>
              <a:rPr sz="10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우연</a:t>
            </a:r>
            <a:r>
              <a:rPr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0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아님</a:t>
            </a:r>
            <a:r>
              <a:rPr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)</a:t>
            </a:r>
            <a:endParaRPr lang="en-US" sz="10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"/>
              </a:spcAft>
            </a:pPr>
            <a:endParaRPr sz="10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>
              <a:lnSpc>
                <a:spcPct val="118000"/>
              </a:lnSpc>
              <a:spcAft>
                <a:spcPts val="40"/>
              </a:spcAft>
            </a:pPr>
            <a:r>
              <a:rPr lang="ko-KR" altLang="en-US" sz="1000" b="1" dirty="0">
                <a:solidFill>
                  <a:srgbClr val="081F46"/>
                </a:solidFill>
                <a:latin typeface="맑은 고딕"/>
                <a:ea typeface="맑은 고딕"/>
              </a:rPr>
              <a:t>④</a:t>
            </a:r>
            <a:r>
              <a:rPr sz="1000" b="1" i="0" dirty="0">
                <a:solidFill>
                  <a:srgbClr val="081F46"/>
                </a:solidFill>
                <a:latin typeface="맑은 고딕"/>
                <a:ea typeface="맑은 고딕"/>
              </a:rPr>
              <a:t> </a:t>
            </a:r>
            <a:r>
              <a:rPr sz="1000" b="1" i="0" dirty="0" err="1">
                <a:solidFill>
                  <a:srgbClr val="081F46"/>
                </a:solidFill>
                <a:latin typeface="맑은 고딕"/>
                <a:ea typeface="맑은 고딕"/>
              </a:rPr>
              <a:t>영향</a:t>
            </a:r>
            <a:r>
              <a:rPr sz="1000" b="1" i="0" dirty="0">
                <a:solidFill>
                  <a:srgbClr val="081F46"/>
                </a:solidFill>
                <a:latin typeface="맑은 고딕"/>
                <a:ea typeface="맑은 고딕"/>
              </a:rPr>
              <a:t>: </a:t>
            </a:r>
            <a:r>
              <a:rPr sz="10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출처</a:t>
            </a:r>
            <a:r>
              <a:rPr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0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기반</a:t>
            </a:r>
            <a:r>
              <a:rPr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0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신뢰성·책임추적</a:t>
            </a:r>
            <a:r>
              <a:rPr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(provenance) </a:t>
            </a:r>
            <a:r>
              <a:rPr sz="10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붕괴</a:t>
            </a:r>
            <a:r>
              <a:rPr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. 단, </a:t>
            </a:r>
            <a:r>
              <a:rPr sz="10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파일명에</a:t>
            </a:r>
            <a:r>
              <a:rPr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0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기관명</a:t>
            </a:r>
            <a:r>
              <a:rPr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0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잔존</a:t>
            </a:r>
            <a:r>
              <a:rPr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 → </a:t>
            </a:r>
            <a:r>
              <a:rPr sz="10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복구</a:t>
            </a:r>
            <a:r>
              <a:rPr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0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가능</a:t>
            </a:r>
            <a:endParaRPr sz="1000" b="0" i="0" dirty="0">
              <a:solidFill>
                <a:srgbClr val="282D37"/>
              </a:solidFill>
              <a:latin typeface="맑은 고딕"/>
              <a:ea typeface="맑은 고딕"/>
            </a:endParaRPr>
          </a:p>
        </p:txBody>
      </p:sp>
      <p:sp>
        <p:nvSpPr>
          <p:cNvPr id="524" name="g1-bg"/>
          <p:cNvSpPr/>
          <p:nvPr/>
        </p:nvSpPr>
        <p:spPr>
          <a:xfrm>
            <a:off x="6053328" y="4808110"/>
            <a:ext cx="5568696" cy="1664208"/>
          </a:xfrm>
          <a:prstGeom prst="roundRect">
            <a:avLst/>
          </a:prstGeom>
          <a:solidFill>
            <a:srgbClr val="E8F5F0"/>
          </a:solidFill>
          <a:ln w="9525">
            <a:solidFill>
              <a:srgbClr val="D0D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525" name="g1-hdr"/>
          <p:cNvSpPr/>
          <p:nvPr/>
        </p:nvSpPr>
        <p:spPr>
          <a:xfrm>
            <a:off x="6053328" y="4808110"/>
            <a:ext cx="5568696" cy="310896"/>
          </a:xfrm>
          <a:prstGeom prst="roundRect">
            <a:avLst/>
          </a:prstGeom>
          <a:solidFill>
            <a:srgbClr val="00965F"/>
          </a:solidFill>
          <a:ln w="9525">
            <a:solidFill>
              <a:srgbClr val="0096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85000" lnSpcReduction="20000"/>
          </a:bodyPr>
          <a:lstStyle/>
          <a:p>
            <a:pPr algn="ctr"/>
            <a:endParaRPr/>
          </a:p>
        </p:txBody>
      </p:sp>
      <p:sp>
        <p:nvSpPr>
          <p:cNvPr id="526" name="g1-title"/>
          <p:cNvSpPr txBox="1"/>
          <p:nvPr/>
        </p:nvSpPr>
        <p:spPr>
          <a:xfrm>
            <a:off x="6053328" y="4808110"/>
            <a:ext cx="5568696" cy="310896"/>
          </a:xfrm>
          <a:prstGeom prst="rect">
            <a:avLst/>
          </a:prstGeom>
          <a:noFill/>
        </p:spPr>
        <p:txBody>
          <a:bodyPr wrap="square" lIns="109728" tIns="6350" rIns="109728" bIns="6350" anchor="ctr">
            <a:normAutofit/>
          </a:bodyPr>
          <a:lstStyle/>
          <a:p>
            <a:pPr>
              <a:lnSpc>
                <a:spcPct val="118000"/>
              </a:lnSpc>
            </a:pPr>
            <a:r>
              <a:rPr lang="ko-KR" altLang="en-US" sz="1400" b="1" dirty="0">
                <a:solidFill>
                  <a:srgbClr val="FFFFFF"/>
                </a:solidFill>
                <a:latin typeface="맑은 고딕"/>
                <a:ea typeface="맑은 고딕"/>
              </a:rPr>
              <a:t>② </a:t>
            </a:r>
            <a:r>
              <a:rPr sz="1400" b="1" i="0" dirty="0" err="1">
                <a:solidFill>
                  <a:srgbClr val="FFFFFF"/>
                </a:solidFill>
                <a:latin typeface="맑은 고딕"/>
                <a:ea typeface="맑은 고딕"/>
              </a:rPr>
              <a:t>처리</a:t>
            </a:r>
            <a:r>
              <a:rPr sz="1400" b="1" i="0" dirty="0">
                <a:solidFill>
                  <a:srgbClr val="FFFFFF"/>
                </a:solidFill>
                <a:latin typeface="맑은 고딕"/>
                <a:ea typeface="맑은 고딕"/>
              </a:rPr>
              <a:t> · ③ </a:t>
            </a:r>
            <a:r>
              <a:rPr sz="1400" b="1" i="0" dirty="0" err="1">
                <a:solidFill>
                  <a:srgbClr val="FFFFFF"/>
                </a:solidFill>
                <a:latin typeface="맑은 고딕"/>
                <a:ea typeface="맑은 고딕"/>
              </a:rPr>
              <a:t>대책</a:t>
            </a:r>
            <a:r>
              <a:rPr sz="1400" b="1" i="0" dirty="0">
                <a:solidFill>
                  <a:srgbClr val="FFFFFF"/>
                </a:solidFill>
                <a:latin typeface="맑은 고딕"/>
                <a:ea typeface="맑은 고딕"/>
              </a:rPr>
              <a:t> · ④ </a:t>
            </a:r>
            <a:r>
              <a:rPr sz="1400" b="1" i="0" dirty="0" err="1">
                <a:solidFill>
                  <a:srgbClr val="FFFFFF"/>
                </a:solidFill>
                <a:latin typeface="맑은 고딕"/>
                <a:ea typeface="맑은 고딕"/>
              </a:rPr>
              <a:t>추가</a:t>
            </a:r>
            <a:r>
              <a:rPr sz="1400" b="1" i="0" dirty="0">
                <a:solidFill>
                  <a:srgbClr val="FFFFFF"/>
                </a:solidFill>
                <a:latin typeface="맑은 고딕"/>
                <a:ea typeface="맑은 고딕"/>
              </a:rPr>
              <a:t> </a:t>
            </a:r>
            <a:r>
              <a:rPr sz="1400" b="1" i="0" dirty="0" err="1">
                <a:solidFill>
                  <a:srgbClr val="FFFFFF"/>
                </a:solidFill>
                <a:latin typeface="맑은 고딕"/>
                <a:ea typeface="맑은 고딕"/>
              </a:rPr>
              <a:t>분석</a:t>
            </a:r>
            <a:endParaRPr sz="1400" b="1" i="0" dirty="0">
              <a:solidFill>
                <a:srgbClr val="FFFFFF"/>
              </a:solidFill>
              <a:latin typeface="맑은 고딕"/>
              <a:ea typeface="맑은 고딕"/>
            </a:endParaRPr>
          </a:p>
        </p:txBody>
      </p:sp>
      <p:sp>
        <p:nvSpPr>
          <p:cNvPr id="527" name="g1-action"/>
          <p:cNvSpPr txBox="1"/>
          <p:nvPr/>
        </p:nvSpPr>
        <p:spPr>
          <a:xfrm>
            <a:off x="6163056" y="5164726"/>
            <a:ext cx="5367528" cy="1261872"/>
          </a:xfrm>
          <a:prstGeom prst="rect">
            <a:avLst/>
          </a:prstGeom>
          <a:noFill/>
        </p:spPr>
        <p:txBody>
          <a:bodyPr wrap="square" lIns="12700" tIns="6350" rIns="12700" bIns="6350" anchor="t">
            <a:norm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30"/>
              </a:spcAft>
            </a:pPr>
            <a:r>
              <a:rPr sz="1000" b="1" i="0" dirty="0" err="1">
                <a:solidFill>
                  <a:srgbClr val="081F46"/>
                </a:solidFill>
                <a:latin typeface="맑은 고딕"/>
                <a:ea typeface="맑은 고딕"/>
              </a:rPr>
              <a:t>처리</a:t>
            </a:r>
            <a:r>
              <a:rPr sz="1000" b="1" i="0" dirty="0">
                <a:solidFill>
                  <a:srgbClr val="081F46"/>
                </a:solidFill>
                <a:latin typeface="맑은 고딕"/>
                <a:ea typeface="맑은 고딕"/>
              </a:rPr>
              <a:t>: </a:t>
            </a:r>
            <a:r>
              <a:rPr sz="10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AOI로</a:t>
            </a:r>
            <a:r>
              <a:rPr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 ‘</a:t>
            </a:r>
            <a:r>
              <a:rPr sz="10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소스</a:t>
            </a:r>
            <a:r>
              <a:rPr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’=</a:t>
            </a:r>
            <a:r>
              <a:rPr sz="10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미상</a:t>
            </a:r>
            <a:r>
              <a:rPr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0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식별</a:t>
            </a:r>
            <a:r>
              <a:rPr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 → cate2별 </a:t>
            </a:r>
            <a:r>
              <a:rPr sz="10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교차표</a:t>
            </a:r>
            <a:r>
              <a:rPr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lang="en-US"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→ </a:t>
            </a:r>
            <a:r>
              <a:rPr sz="10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결합</a:t>
            </a:r>
            <a:r>
              <a:rPr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0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포착</a:t>
            </a:r>
            <a:r>
              <a:rPr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(lift 6.89)</a:t>
            </a:r>
            <a:endParaRPr lang="en-US" sz="10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30"/>
              </a:spcAft>
            </a:pPr>
            <a:endParaRPr sz="10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30"/>
              </a:spcAft>
            </a:pPr>
            <a:r>
              <a:rPr sz="1000" b="1" i="0" dirty="0" err="1">
                <a:solidFill>
                  <a:srgbClr val="00965F"/>
                </a:solidFill>
                <a:latin typeface="맑은 고딕"/>
                <a:ea typeface="맑은 고딕"/>
              </a:rPr>
              <a:t>대책</a:t>
            </a:r>
            <a:r>
              <a:rPr sz="1000" b="1" i="0" dirty="0">
                <a:solidFill>
                  <a:srgbClr val="00965F"/>
                </a:solidFill>
                <a:latin typeface="맑은 고딕"/>
                <a:ea typeface="맑은 고딕"/>
              </a:rPr>
              <a:t>: </a:t>
            </a:r>
            <a:r>
              <a:rPr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①</a:t>
            </a:r>
            <a:r>
              <a:rPr sz="10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파일명에서</a:t>
            </a:r>
            <a:r>
              <a:rPr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0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출처</a:t>
            </a:r>
            <a:r>
              <a:rPr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0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복구</a:t>
            </a:r>
            <a:r>
              <a:rPr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(1순위) ②</a:t>
            </a:r>
            <a:r>
              <a:rPr sz="10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적재</a:t>
            </a:r>
            <a:r>
              <a:rPr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 시 </a:t>
            </a:r>
            <a:r>
              <a:rPr lang="ko-KR" altLang="en-US"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출처 표기 등록 로직 점검</a:t>
            </a:r>
            <a:r>
              <a:rPr lang="en-US" altLang="ko-KR" sz="100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③</a:t>
            </a:r>
            <a:r>
              <a:rPr sz="10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출처</a:t>
            </a:r>
            <a:r>
              <a:rPr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0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표준코드</a:t>
            </a:r>
            <a:endParaRPr lang="en-US" sz="10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30"/>
              </a:spcAft>
            </a:pPr>
            <a:endParaRPr sz="10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30"/>
              </a:spcAft>
            </a:pPr>
            <a:r>
              <a:rPr sz="1000" b="1" i="0" dirty="0" err="1">
                <a:solidFill>
                  <a:srgbClr val="00965F"/>
                </a:solidFill>
                <a:latin typeface="맑은 고딕"/>
                <a:ea typeface="맑은 고딕"/>
              </a:rPr>
              <a:t>추가</a:t>
            </a:r>
            <a:r>
              <a:rPr sz="1000" b="1" i="0" dirty="0">
                <a:solidFill>
                  <a:srgbClr val="00965F"/>
                </a:solidFill>
                <a:latin typeface="맑은 고딕"/>
                <a:ea typeface="맑은 고딕"/>
              </a:rPr>
              <a:t>: </a:t>
            </a:r>
            <a:r>
              <a:rPr sz="10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regi_date·url로</a:t>
            </a:r>
            <a:r>
              <a:rPr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0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배치</a:t>
            </a:r>
            <a:r>
              <a:rPr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0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역추적</a:t>
            </a:r>
            <a:endParaRPr sz="1000" b="0" i="0" dirty="0">
              <a:solidFill>
                <a:srgbClr val="282D37"/>
              </a:solidFill>
              <a:latin typeface="맑은 고딕"/>
              <a:ea typeface="맑은 고딕"/>
            </a:endParaRPr>
          </a:p>
        </p:txBody>
      </p:sp>
      <p:sp>
        <p:nvSpPr>
          <p:cNvPr id="601" name="metric-bg"/>
          <p:cNvSpPr/>
          <p:nvPr/>
        </p:nvSpPr>
        <p:spPr>
          <a:xfrm>
            <a:off x="566928" y="1115568"/>
            <a:ext cx="11055096" cy="676656"/>
          </a:xfrm>
          <a:prstGeom prst="roundRect">
            <a:avLst/>
          </a:prstGeom>
          <a:solidFill>
            <a:srgbClr val="EEF2F8"/>
          </a:solidFill>
          <a:ln w="9525">
            <a:solidFill>
              <a:srgbClr val="D0D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602" name="metric-pattern"/>
          <p:cNvSpPr txBox="1"/>
          <p:nvPr/>
        </p:nvSpPr>
        <p:spPr>
          <a:xfrm>
            <a:off x="804672" y="1161288"/>
            <a:ext cx="10597896" cy="182880"/>
          </a:xfrm>
          <a:prstGeom prst="rect">
            <a:avLst/>
          </a:prstGeom>
          <a:noFill/>
        </p:spPr>
        <p:txBody>
          <a:bodyPr wrap="square" lIns="36576" tIns="6350" rIns="36576" bIns="6350" anchor="t">
            <a:norm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 dirty="0" err="1">
                <a:solidFill>
                  <a:srgbClr val="081F46"/>
                </a:solidFill>
                <a:latin typeface="맑은 고딕"/>
                <a:ea typeface="맑은 고딕"/>
              </a:rPr>
              <a:t>발견</a:t>
            </a:r>
            <a:r>
              <a:rPr sz="1000" b="1" i="0" dirty="0">
                <a:solidFill>
                  <a:srgbClr val="081F46"/>
                </a:solidFill>
                <a:latin typeface="맑은 고딕"/>
                <a:ea typeface="맑은 고딕"/>
              </a:rPr>
              <a:t> </a:t>
            </a:r>
            <a:r>
              <a:rPr sz="1000" b="1" i="0" dirty="0" err="1">
                <a:solidFill>
                  <a:srgbClr val="081F46"/>
                </a:solidFill>
                <a:latin typeface="맑은 고딕"/>
                <a:ea typeface="맑은 고딕"/>
              </a:rPr>
              <a:t>패턴</a:t>
            </a:r>
            <a:r>
              <a:rPr sz="1000" b="1" i="0" dirty="0">
                <a:solidFill>
                  <a:srgbClr val="081F46"/>
                </a:solidFill>
                <a:latin typeface="맑은 고딕"/>
                <a:ea typeface="맑은 고딕"/>
              </a:rPr>
              <a:t>  ▸  </a:t>
            </a:r>
            <a:r>
              <a:rPr lang="en-US" sz="1000" b="1" i="0" dirty="0">
                <a:solidFill>
                  <a:srgbClr val="505050"/>
                </a:solidFill>
                <a:latin typeface="맑은 고딕"/>
                <a:ea typeface="맑은 고딕"/>
              </a:rPr>
              <a:t>cate2 = </a:t>
            </a:r>
            <a:r>
              <a:rPr lang="ko-KR" altLang="en-US" sz="1000" b="1" i="0" dirty="0" err="1">
                <a:solidFill>
                  <a:srgbClr val="505050"/>
                </a:solidFill>
                <a:latin typeface="맑은 고딕"/>
                <a:ea typeface="맑은 고딕"/>
              </a:rPr>
              <a:t>유아및초</a:t>
            </a:r>
            <a:r>
              <a:rPr lang="ko-KR" altLang="en-US" sz="1000" b="1" dirty="0" err="1">
                <a:solidFill>
                  <a:srgbClr val="505050"/>
                </a:solidFill>
                <a:latin typeface="맑은 고딕"/>
                <a:ea typeface="맑은 고딕"/>
              </a:rPr>
              <a:t>중등교육</a:t>
            </a:r>
            <a:r>
              <a:rPr lang="ko-KR" altLang="en-US" sz="1000" b="1" dirty="0">
                <a:solidFill>
                  <a:srgbClr val="505050"/>
                </a:solidFill>
                <a:latin typeface="맑은 고딕"/>
                <a:ea typeface="맑은 고딕"/>
              </a:rPr>
              <a:t> </a:t>
            </a:r>
            <a:r>
              <a:rPr lang="en-US" altLang="ko-KR" sz="1000" b="1" dirty="0">
                <a:solidFill>
                  <a:srgbClr val="505050"/>
                </a:solidFill>
                <a:latin typeface="맑은 고딕"/>
                <a:ea typeface="맑은 고딕"/>
                <a:sym typeface="Wingdings" panose="05000000000000000000" pitchFamily="2" charset="2"/>
              </a:rPr>
              <a:t> </a:t>
            </a:r>
            <a:r>
              <a:rPr lang="ko-KR" altLang="en-US" sz="1000" b="1" dirty="0">
                <a:solidFill>
                  <a:srgbClr val="505050"/>
                </a:solidFill>
                <a:latin typeface="맑은 고딕"/>
                <a:ea typeface="맑은 고딕"/>
                <a:sym typeface="Wingdings" panose="05000000000000000000" pitchFamily="2" charset="2"/>
              </a:rPr>
              <a:t>기관 </a:t>
            </a:r>
            <a:r>
              <a:rPr lang="en-US" altLang="ko-KR" sz="1000" b="1" dirty="0">
                <a:solidFill>
                  <a:srgbClr val="505050"/>
                </a:solidFill>
                <a:latin typeface="맑은 고딕"/>
                <a:ea typeface="맑은 고딕"/>
                <a:sym typeface="Wingdings" panose="05000000000000000000" pitchFamily="2" charset="2"/>
              </a:rPr>
              <a:t>= </a:t>
            </a:r>
            <a:r>
              <a:rPr lang="ko-KR" altLang="en-US" sz="1000" b="1" dirty="0">
                <a:solidFill>
                  <a:srgbClr val="505050"/>
                </a:solidFill>
                <a:latin typeface="맑은 고딕"/>
                <a:ea typeface="맑은 고딕"/>
                <a:sym typeface="Wingdings" panose="05000000000000000000" pitchFamily="2" charset="2"/>
              </a:rPr>
              <a:t>미상</a:t>
            </a:r>
            <a:r>
              <a:rPr sz="1000" b="1" i="0" dirty="0">
                <a:solidFill>
                  <a:srgbClr val="505050"/>
                </a:solidFill>
                <a:latin typeface="맑은 고딕"/>
                <a:ea typeface="맑은 고딕"/>
              </a:rPr>
              <a:t> (lift 6.89·conf 1.0)</a:t>
            </a:r>
          </a:p>
        </p:txBody>
      </p:sp>
      <p:sp>
        <p:nvSpPr>
          <p:cNvPr id="603" name="metric-number"/>
          <p:cNvSpPr txBox="1"/>
          <p:nvPr/>
        </p:nvSpPr>
        <p:spPr>
          <a:xfrm>
            <a:off x="786384" y="1339596"/>
            <a:ext cx="3154680" cy="420624"/>
          </a:xfrm>
          <a:prstGeom prst="rect">
            <a:avLst/>
          </a:prstGeom>
          <a:noFill/>
        </p:spPr>
        <p:txBody>
          <a:bodyPr wrap="square" lIns="36576" tIns="6350" rIns="36576" bIns="6350" anchor="ctr">
            <a:normAutofit fontScale="77500" lnSpcReduction="20000"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 i="0" dirty="0">
                <a:solidFill>
                  <a:srgbClr val="081F46"/>
                </a:solidFill>
                <a:latin typeface="맑은 고딕"/>
                <a:ea typeface="맑은 고딕"/>
              </a:rPr>
              <a:t>100%</a:t>
            </a:r>
          </a:p>
        </p:txBody>
      </p:sp>
      <p:sp>
        <p:nvSpPr>
          <p:cNvPr id="604" name="metric-desc"/>
          <p:cNvSpPr txBox="1"/>
          <p:nvPr/>
        </p:nvSpPr>
        <p:spPr>
          <a:xfrm>
            <a:off x="2084832" y="1320673"/>
            <a:ext cx="9336024" cy="420624"/>
          </a:xfrm>
          <a:prstGeom prst="rect">
            <a:avLst/>
          </a:prstGeom>
          <a:noFill/>
        </p:spPr>
        <p:txBody>
          <a:bodyPr wrap="square" lIns="54864" tIns="6350" rIns="54864" bIns="635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b="1" dirty="0" err="1">
                <a:solidFill>
                  <a:srgbClr val="282D37"/>
                </a:solidFill>
                <a:latin typeface="맑은 고딕"/>
                <a:ea typeface="맑은 고딕"/>
              </a:rPr>
              <a:t>출처</a:t>
            </a:r>
            <a:r>
              <a:rPr b="1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b="1" dirty="0" err="1">
                <a:solidFill>
                  <a:srgbClr val="282D37"/>
                </a:solidFill>
                <a:latin typeface="맑은 고딕"/>
                <a:ea typeface="맑은 고딕"/>
              </a:rPr>
              <a:t>누락은</a:t>
            </a:r>
            <a:r>
              <a:rPr b="1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b="1" dirty="0" err="1">
                <a:solidFill>
                  <a:srgbClr val="282D37"/>
                </a:solidFill>
                <a:latin typeface="맑은 고딕"/>
                <a:ea typeface="맑은 고딕"/>
              </a:rPr>
              <a:t>무작위가</a:t>
            </a:r>
            <a:r>
              <a:rPr b="1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b="1" dirty="0" err="1">
                <a:solidFill>
                  <a:srgbClr val="282D37"/>
                </a:solidFill>
                <a:latin typeface="맑은 고딕"/>
                <a:ea typeface="맑은 고딕"/>
              </a:rPr>
              <a:t>아니라</a:t>
            </a:r>
            <a:r>
              <a:rPr b="1" dirty="0">
                <a:solidFill>
                  <a:srgbClr val="282D37"/>
                </a:solidFill>
                <a:latin typeface="맑은 고딕"/>
                <a:ea typeface="맑은 고딕"/>
              </a:rPr>
              <a:t> “</a:t>
            </a:r>
            <a:r>
              <a:rPr b="1" dirty="0" err="1">
                <a:solidFill>
                  <a:srgbClr val="282D37"/>
                </a:solidFill>
                <a:latin typeface="맑은 고딕"/>
                <a:ea typeface="맑은 고딕"/>
              </a:rPr>
              <a:t>유아및초·중등교육”에</a:t>
            </a:r>
            <a:r>
              <a:rPr b="1" dirty="0">
                <a:solidFill>
                  <a:srgbClr val="282D37"/>
                </a:solidFill>
                <a:latin typeface="맑은 고딕"/>
                <a:ea typeface="맑은 고딕"/>
              </a:rPr>
              <a:t> 100% </a:t>
            </a:r>
            <a:r>
              <a:rPr b="1" dirty="0" err="1">
                <a:solidFill>
                  <a:srgbClr val="282D37"/>
                </a:solidFill>
                <a:latin typeface="맑은 고딕"/>
                <a:ea typeface="맑은 고딕"/>
              </a:rPr>
              <a:t>집중된</a:t>
            </a:r>
            <a:r>
              <a:rPr lang="en-US" b="1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lang="ko-KR" altLang="en-US" b="1" dirty="0">
                <a:solidFill>
                  <a:srgbClr val="282D37"/>
                </a:solidFill>
                <a:latin typeface="맑은 고딕"/>
                <a:ea typeface="맑은 고딕"/>
              </a:rPr>
              <a:t>공통 특성을 가짐</a:t>
            </a:r>
            <a:r>
              <a:rPr lang="en-US" altLang="ko-KR" b="1" dirty="0">
                <a:solidFill>
                  <a:srgbClr val="282D37"/>
                </a:solidFill>
                <a:latin typeface="맑은 고딕"/>
                <a:ea typeface="맑은 고딕"/>
              </a:rPr>
              <a:t>.</a:t>
            </a:r>
            <a:endParaRPr b="1" dirty="0">
              <a:solidFill>
                <a:srgbClr val="282D37"/>
              </a:solidFill>
              <a:latin typeface="맑은 고딕"/>
              <a:ea typeface="맑은 고딕"/>
            </a:endParaRPr>
          </a:p>
        </p:txBody>
      </p:sp>
      <p:sp>
        <p:nvSpPr>
          <p:cNvPr id="701" name="a1-bg"/>
          <p:cNvSpPr/>
          <p:nvPr/>
        </p:nvSpPr>
        <p:spPr>
          <a:xfrm>
            <a:off x="566928" y="1991758"/>
            <a:ext cx="5285232" cy="1554480"/>
          </a:xfrm>
          <a:prstGeom prst="roundRect">
            <a:avLst/>
          </a:prstGeom>
          <a:solidFill>
            <a:srgbClr val="EEF2F8"/>
          </a:solidFill>
          <a:ln w="9525">
            <a:solidFill>
              <a:srgbClr val="D0D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702" name="a1-hdr"/>
          <p:cNvSpPr/>
          <p:nvPr/>
        </p:nvSpPr>
        <p:spPr>
          <a:xfrm>
            <a:off x="566928" y="1991758"/>
            <a:ext cx="5285232" cy="310896"/>
          </a:xfrm>
          <a:prstGeom prst="roundRect">
            <a:avLst/>
          </a:prstGeom>
          <a:solidFill>
            <a:srgbClr val="081F46"/>
          </a:solidFill>
          <a:ln w="9525">
            <a:solidFill>
              <a:srgbClr val="081F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85000" lnSpcReduction="20000"/>
          </a:bodyPr>
          <a:lstStyle/>
          <a:p>
            <a:pPr algn="ctr"/>
            <a:endParaRPr/>
          </a:p>
        </p:txBody>
      </p:sp>
      <p:sp>
        <p:nvSpPr>
          <p:cNvPr id="703" name="a1-title"/>
          <p:cNvSpPr txBox="1"/>
          <p:nvPr/>
        </p:nvSpPr>
        <p:spPr>
          <a:xfrm>
            <a:off x="566928" y="1991758"/>
            <a:ext cx="5285232" cy="310896"/>
          </a:xfrm>
          <a:prstGeom prst="rect">
            <a:avLst/>
          </a:prstGeom>
          <a:noFill/>
        </p:spPr>
        <p:txBody>
          <a:bodyPr wrap="square" lIns="109728" tIns="6350" rIns="109728" bIns="6350" anchor="ctr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1400" b="1" i="0" dirty="0">
                <a:solidFill>
                  <a:srgbClr val="FFFFFF"/>
                </a:solidFill>
                <a:latin typeface="맑은 고딕"/>
                <a:ea typeface="맑은 고딕"/>
              </a:rPr>
              <a:t>관련 트랜잭션 아이템 및 연관 규칙</a:t>
            </a:r>
            <a:endParaRPr sz="1400" b="1" i="0" dirty="0">
              <a:solidFill>
                <a:srgbClr val="FFFFFF"/>
              </a:solidFill>
              <a:latin typeface="맑은 고딕"/>
              <a:ea typeface="맑은 고딕"/>
            </a:endParaRPr>
          </a:p>
        </p:txBody>
      </p:sp>
      <p:sp>
        <p:nvSpPr>
          <p:cNvPr id="704" name="a1-text"/>
          <p:cNvSpPr txBox="1"/>
          <p:nvPr/>
        </p:nvSpPr>
        <p:spPr>
          <a:xfrm>
            <a:off x="676656" y="2330086"/>
            <a:ext cx="5084064" cy="603504"/>
          </a:xfrm>
          <a:prstGeom prst="rect">
            <a:avLst/>
          </a:prstGeom>
          <a:noFill/>
        </p:spPr>
        <p:txBody>
          <a:bodyPr wrap="square" lIns="12700" tIns="6350" rIns="12700" bIns="635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0"/>
              </a:spcAft>
            </a:pPr>
            <a:r>
              <a:rPr sz="1000" b="1" i="0" dirty="0">
                <a:solidFill>
                  <a:srgbClr val="081F46"/>
                </a:solidFill>
                <a:latin typeface="맑은 고딕"/>
                <a:ea typeface="맑은 고딕"/>
              </a:rPr>
              <a:t>· </a:t>
            </a:r>
            <a:r>
              <a:rPr sz="1000" b="1" i="0" dirty="0" err="1">
                <a:solidFill>
                  <a:srgbClr val="081F46"/>
                </a:solidFill>
                <a:latin typeface="맑은 고딕"/>
                <a:ea typeface="맑은 고딕"/>
              </a:rPr>
              <a:t>트랜잭션</a:t>
            </a:r>
            <a:r>
              <a:rPr sz="1000" b="1" i="0" dirty="0">
                <a:solidFill>
                  <a:srgbClr val="081F46"/>
                </a:solidFill>
                <a:latin typeface="맑은 고딕"/>
                <a:ea typeface="맑은 고딕"/>
              </a:rPr>
              <a:t> = </a:t>
            </a:r>
            <a:r>
              <a:rPr sz="10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테이블</a:t>
            </a:r>
            <a:r>
              <a:rPr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 1건(</a:t>
            </a:r>
            <a:r>
              <a:rPr sz="10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속성</a:t>
            </a:r>
            <a:r>
              <a:rPr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0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트랜잭션</a:t>
            </a:r>
            <a:r>
              <a:rPr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 A)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0"/>
              </a:spcAft>
            </a:pPr>
            <a:r>
              <a:rPr sz="1000" b="1" i="0" dirty="0">
                <a:solidFill>
                  <a:srgbClr val="081F46"/>
                </a:solidFill>
                <a:latin typeface="맑은 고딕"/>
                <a:ea typeface="맑은 고딕"/>
              </a:rPr>
              <a:t>· </a:t>
            </a:r>
            <a:r>
              <a:rPr sz="1000" b="1" i="0" dirty="0" err="1">
                <a:solidFill>
                  <a:srgbClr val="081F46"/>
                </a:solidFill>
                <a:latin typeface="맑은 고딕"/>
                <a:ea typeface="맑은 고딕"/>
              </a:rPr>
              <a:t>아이템</a:t>
            </a:r>
            <a:r>
              <a:rPr sz="1000" b="1" i="0" dirty="0">
                <a:solidFill>
                  <a:srgbClr val="081F46"/>
                </a:solidFill>
                <a:latin typeface="맑은 고딕"/>
                <a:ea typeface="맑은 고딕"/>
              </a:rPr>
              <a:t> = </a:t>
            </a:r>
            <a:r>
              <a:rPr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‘</a:t>
            </a:r>
            <a:r>
              <a:rPr sz="10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속성</a:t>
            </a:r>
            <a:r>
              <a:rPr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=값’ 8종 — cate1·cate2·기관(AOI)·</a:t>
            </a:r>
            <a:r>
              <a:rPr sz="10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레코드·컬럼폭·수치비·유일키·상수컬럼</a:t>
            </a:r>
            <a:endParaRPr sz="10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sz="1000" b="1" dirty="0">
                <a:solidFill>
                  <a:srgbClr val="081F46"/>
                </a:solidFill>
                <a:latin typeface="맑은 고딕"/>
                <a:ea typeface="맑은 고딕"/>
              </a:rPr>
              <a:t>※ </a:t>
            </a:r>
            <a:r>
              <a:rPr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이 </a:t>
            </a:r>
            <a:r>
              <a:rPr sz="10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아이템들</a:t>
            </a:r>
            <a:r>
              <a:rPr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0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사이</a:t>
            </a:r>
            <a:r>
              <a:rPr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0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규칙</a:t>
            </a:r>
            <a:r>
              <a:rPr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 중 cate1↔cate2</a:t>
            </a:r>
            <a:r>
              <a:rPr lang="ko-KR" altLang="en-US"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과 같은 명백한 규칙은 제외</a:t>
            </a:r>
            <a:endParaRPr sz="1000" b="0" i="0" dirty="0">
              <a:solidFill>
                <a:srgbClr val="282D37"/>
              </a:solidFill>
              <a:latin typeface="맑은 고딕"/>
              <a:ea typeface="맑은 고딕"/>
            </a:endParaRPr>
          </a:p>
        </p:txBody>
      </p:sp>
      <p:sp>
        <p:nvSpPr>
          <p:cNvPr id="705" name="a1-chip"/>
          <p:cNvSpPr/>
          <p:nvPr/>
        </p:nvSpPr>
        <p:spPr>
          <a:xfrm>
            <a:off x="713232" y="2948363"/>
            <a:ext cx="2743200" cy="292608"/>
          </a:xfrm>
          <a:prstGeom prst="roundRect">
            <a:avLst/>
          </a:prstGeom>
          <a:solidFill>
            <a:srgbClr val="E8F5F0"/>
          </a:solidFill>
          <a:ln w="9525">
            <a:solidFill>
              <a:srgbClr val="0096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70000" lnSpcReduction="20000"/>
          </a:bodyPr>
          <a:lstStyle/>
          <a:p>
            <a:pPr algn="ctr"/>
            <a:endParaRPr/>
          </a:p>
        </p:txBody>
      </p:sp>
      <p:sp>
        <p:nvSpPr>
          <p:cNvPr id="706" name="a1-chiptx"/>
          <p:cNvSpPr txBox="1"/>
          <p:nvPr/>
        </p:nvSpPr>
        <p:spPr>
          <a:xfrm>
            <a:off x="713232" y="2948363"/>
            <a:ext cx="2743200" cy="292608"/>
          </a:xfrm>
          <a:prstGeom prst="rect">
            <a:avLst/>
          </a:prstGeom>
          <a:noFill/>
        </p:spPr>
        <p:txBody>
          <a:bodyPr wrap="square" lIns="6350" tIns="6350" rIns="6350" bIns="6350" anchor="ctr">
            <a:norm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0965F"/>
                </a:solidFill>
                <a:latin typeface="맑은 고딕"/>
                <a:ea typeface="맑은 고딕"/>
              </a:rPr>
              <a:t>cate2 = </a:t>
            </a:r>
            <a:r>
              <a:rPr sz="1400" b="1" i="0" dirty="0" err="1">
                <a:solidFill>
                  <a:srgbClr val="00965F"/>
                </a:solidFill>
                <a:latin typeface="맑은 고딕"/>
                <a:ea typeface="맑은 고딕"/>
              </a:rPr>
              <a:t>유아및초·중등교육</a:t>
            </a:r>
            <a:endParaRPr sz="1400" b="1" i="0" dirty="0">
              <a:solidFill>
                <a:srgbClr val="00965F"/>
              </a:solidFill>
              <a:latin typeface="맑은 고딕"/>
              <a:ea typeface="맑은 고딕"/>
            </a:endParaRPr>
          </a:p>
        </p:txBody>
      </p:sp>
      <p:sp>
        <p:nvSpPr>
          <p:cNvPr id="707" name="a1-arrow"/>
          <p:cNvSpPr txBox="1"/>
          <p:nvPr/>
        </p:nvSpPr>
        <p:spPr>
          <a:xfrm>
            <a:off x="3474720" y="2948363"/>
            <a:ext cx="310896" cy="292608"/>
          </a:xfrm>
          <a:prstGeom prst="rect">
            <a:avLst/>
          </a:prstGeom>
          <a:noFill/>
        </p:spPr>
        <p:txBody>
          <a:bodyPr wrap="square" lIns="0" tIns="6350" rIns="0" bIns="6350" anchor="ctr">
            <a:norm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505050"/>
                </a:solidFill>
                <a:latin typeface="맑은 고딕"/>
                <a:ea typeface="맑은 고딕"/>
              </a:rPr>
              <a:t>▶</a:t>
            </a:r>
          </a:p>
        </p:txBody>
      </p:sp>
      <p:sp>
        <p:nvSpPr>
          <p:cNvPr id="708" name="a1-chip"/>
          <p:cNvSpPr/>
          <p:nvPr/>
        </p:nvSpPr>
        <p:spPr>
          <a:xfrm>
            <a:off x="3803904" y="2948363"/>
            <a:ext cx="1810512" cy="292608"/>
          </a:xfrm>
          <a:prstGeom prst="roundRect">
            <a:avLst/>
          </a:prstGeom>
          <a:solidFill>
            <a:srgbClr val="FCE8E6"/>
          </a:solidFill>
          <a:ln w="9525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70000" lnSpcReduction="20000"/>
          </a:bodyPr>
          <a:lstStyle/>
          <a:p>
            <a:pPr algn="ctr"/>
            <a:endParaRPr/>
          </a:p>
        </p:txBody>
      </p:sp>
      <p:sp>
        <p:nvSpPr>
          <p:cNvPr id="709" name="a1-chiptx"/>
          <p:cNvSpPr txBox="1"/>
          <p:nvPr/>
        </p:nvSpPr>
        <p:spPr>
          <a:xfrm>
            <a:off x="3803904" y="2948363"/>
            <a:ext cx="1810512" cy="292608"/>
          </a:xfrm>
          <a:prstGeom prst="rect">
            <a:avLst/>
          </a:prstGeom>
          <a:noFill/>
        </p:spPr>
        <p:txBody>
          <a:bodyPr wrap="square" lIns="6350" tIns="6350" rIns="6350" bIns="6350" anchor="ctr">
            <a:norm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C0392B"/>
                </a:solidFill>
                <a:latin typeface="맑은 고딕"/>
                <a:ea typeface="맑은 고딕"/>
              </a:rPr>
              <a:t>기관 = 미상(소스)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00E1BD3-E64C-17A6-9A6D-C255C5076C59}"/>
              </a:ext>
            </a:extLst>
          </p:cNvPr>
          <p:cNvSpPr txBox="1"/>
          <p:nvPr/>
        </p:nvSpPr>
        <p:spPr>
          <a:xfrm>
            <a:off x="3720794" y="3265892"/>
            <a:ext cx="205160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b="1" i="0" dirty="0">
                <a:solidFill>
                  <a:srgbClr val="505050"/>
                </a:solidFill>
                <a:latin typeface="맑은 고딕"/>
                <a:ea typeface="맑은 고딕"/>
              </a:rPr>
              <a:t>lift 6.89·conf 1.0</a:t>
            </a:r>
            <a:endParaRPr lang="ko-KR" alt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109728"/>
            <a:ext cx="11057839" cy="237744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965F"/>
                </a:solidFill>
                <a:latin typeface="맑은 고딕"/>
                <a:ea typeface="맑은 고딕"/>
              </a:rPr>
              <a:t>거버넌스 이슈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498839"/>
            <a:ext cx="11057839" cy="410497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 dirty="0" err="1">
                <a:solidFill>
                  <a:srgbClr val="081F46"/>
                </a:solidFill>
                <a:latin typeface="맑은 고딕"/>
                <a:ea typeface="맑은 고딕"/>
              </a:rPr>
              <a:t>거버넌스</a:t>
            </a:r>
            <a:r>
              <a:rPr sz="2600" b="1" i="0" dirty="0">
                <a:solidFill>
                  <a:srgbClr val="081F46"/>
                </a:solidFill>
                <a:latin typeface="맑은 고딕"/>
                <a:ea typeface="맑은 고딕"/>
              </a:rPr>
              <a:t> </a:t>
            </a:r>
            <a:r>
              <a:rPr sz="2600" b="1" i="0" dirty="0" err="1">
                <a:solidFill>
                  <a:srgbClr val="081F46"/>
                </a:solidFill>
                <a:latin typeface="맑은 고딕"/>
                <a:ea typeface="맑은 고딕"/>
              </a:rPr>
              <a:t>출처</a:t>
            </a:r>
            <a:r>
              <a:rPr sz="2600" b="1" i="0" dirty="0">
                <a:solidFill>
                  <a:srgbClr val="081F46"/>
                </a:solidFill>
                <a:latin typeface="맑은 고딕"/>
                <a:ea typeface="맑은 고딕"/>
              </a:rPr>
              <a:t> </a:t>
            </a:r>
            <a:r>
              <a:rPr sz="2600" b="1" i="0" dirty="0" err="1">
                <a:solidFill>
                  <a:srgbClr val="081F46"/>
                </a:solidFill>
                <a:latin typeface="맑은 고딕"/>
                <a:ea typeface="맑은 고딕"/>
              </a:rPr>
              <a:t>누락</a:t>
            </a:r>
            <a:r>
              <a:rPr sz="2600" b="1" i="0" dirty="0">
                <a:solidFill>
                  <a:srgbClr val="081F46"/>
                </a:solidFill>
                <a:latin typeface="맑은 고딕"/>
                <a:ea typeface="맑은 고딕"/>
              </a:rPr>
              <a:t> </a:t>
            </a:r>
            <a:r>
              <a:rPr sz="2600" b="1" i="0" dirty="0" err="1">
                <a:solidFill>
                  <a:srgbClr val="081F46"/>
                </a:solidFill>
                <a:latin typeface="맑은 고딕"/>
                <a:ea typeface="맑은 고딕"/>
              </a:rPr>
              <a:t>심화</a:t>
            </a:r>
            <a:r>
              <a:rPr lang="en-US" sz="2600" b="1" i="0" dirty="0">
                <a:solidFill>
                  <a:srgbClr val="081F46"/>
                </a:solidFill>
                <a:latin typeface="맑은 고딕"/>
                <a:ea typeface="맑은 고딕"/>
              </a:rPr>
              <a:t> </a:t>
            </a:r>
            <a:r>
              <a:rPr lang="ko-KR" altLang="en-US" sz="2600" b="1" i="0" dirty="0">
                <a:solidFill>
                  <a:srgbClr val="081F46"/>
                </a:solidFill>
                <a:latin typeface="맑은 고딕"/>
                <a:ea typeface="맑은 고딕"/>
              </a:rPr>
              <a:t>분석</a:t>
            </a:r>
            <a:r>
              <a:rPr sz="2600" b="1" i="0" dirty="0">
                <a:solidFill>
                  <a:srgbClr val="081F46"/>
                </a:solidFill>
                <a:latin typeface="맑은 고딕"/>
                <a:ea typeface="맑은 고딕"/>
              </a:rPr>
              <a:t> (</a:t>
            </a:r>
            <a:r>
              <a:rPr sz="2600" b="1" i="0" dirty="0" err="1">
                <a:solidFill>
                  <a:srgbClr val="081F46"/>
                </a:solidFill>
                <a:latin typeface="맑은 고딕"/>
                <a:ea typeface="맑은 고딕"/>
              </a:rPr>
              <a:t>적재</a:t>
            </a:r>
            <a:r>
              <a:rPr sz="2600" b="1" i="0" dirty="0">
                <a:solidFill>
                  <a:srgbClr val="081F46"/>
                </a:solidFill>
                <a:latin typeface="맑은 고딕"/>
                <a:ea typeface="맑은 고딕"/>
              </a:rPr>
              <a:t> </a:t>
            </a:r>
            <a:r>
              <a:rPr sz="2600" b="1" i="0" dirty="0" err="1">
                <a:solidFill>
                  <a:srgbClr val="081F46"/>
                </a:solidFill>
                <a:latin typeface="맑은 고딕"/>
                <a:ea typeface="맑은 고딕"/>
              </a:rPr>
              <a:t>배치</a:t>
            </a:r>
            <a:r>
              <a:rPr sz="2600" b="1" i="0" dirty="0">
                <a:solidFill>
                  <a:srgbClr val="081F46"/>
                </a:solidFill>
                <a:latin typeface="맑은 고딕"/>
                <a:ea typeface="맑은 고딕"/>
              </a:rPr>
              <a:t> · </a:t>
            </a:r>
            <a:r>
              <a:rPr sz="2600" b="1" i="0" dirty="0" err="1">
                <a:solidFill>
                  <a:srgbClr val="081F46"/>
                </a:solidFill>
                <a:latin typeface="맑은 고딕"/>
                <a:ea typeface="맑은 고딕"/>
              </a:rPr>
              <a:t>도메인</a:t>
            </a:r>
            <a:r>
              <a:rPr sz="2600" b="1" i="0" dirty="0">
                <a:solidFill>
                  <a:srgbClr val="081F46"/>
                </a:solidFill>
                <a:latin typeface="맑은 고딕"/>
                <a:ea typeface="맑은 고딕"/>
              </a:rPr>
              <a:t> </a:t>
            </a:r>
            <a:r>
              <a:rPr sz="2600" b="1" i="0" dirty="0" err="1">
                <a:solidFill>
                  <a:srgbClr val="081F46"/>
                </a:solidFill>
                <a:latin typeface="맑은 고딕"/>
                <a:ea typeface="맑은 고딕"/>
              </a:rPr>
              <a:t>비교</a:t>
            </a:r>
            <a:r>
              <a:rPr sz="2600" b="1" i="0" dirty="0">
                <a:solidFill>
                  <a:srgbClr val="081F46"/>
                </a:solidFill>
                <a:latin typeface="맑은 고딕"/>
                <a:ea typeface="맑은 고딕"/>
              </a:rPr>
              <a:t>)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60704"/>
            <a:ext cx="11057839" cy="27940"/>
          </a:xfrm>
          <a:prstGeom prst="rect">
            <a:avLst/>
          </a:prstGeom>
          <a:solidFill>
            <a:srgbClr val="081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25000" lnSpcReduction="20000"/>
          </a:bodyPr>
          <a:lstStyle/>
          <a:p>
            <a:pPr algn="ctr"/>
            <a:endParaRPr/>
          </a:p>
        </p:txBody>
      </p:sp>
      <p:sp>
        <p:nvSpPr>
          <p:cNvPr id="601" name="metric-bg"/>
          <p:cNvSpPr/>
          <p:nvPr/>
        </p:nvSpPr>
        <p:spPr>
          <a:xfrm>
            <a:off x="557197" y="1143507"/>
            <a:ext cx="11055096" cy="806597"/>
          </a:xfrm>
          <a:prstGeom prst="roundRect">
            <a:avLst/>
          </a:prstGeom>
          <a:solidFill>
            <a:srgbClr val="EEF2F8"/>
          </a:solidFill>
          <a:ln w="9525">
            <a:solidFill>
              <a:srgbClr val="D0D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602" name="metric-pattern"/>
          <p:cNvSpPr txBox="1"/>
          <p:nvPr/>
        </p:nvSpPr>
        <p:spPr>
          <a:xfrm>
            <a:off x="804672" y="1161288"/>
            <a:ext cx="10597896" cy="182880"/>
          </a:xfrm>
          <a:prstGeom prst="rect">
            <a:avLst/>
          </a:prstGeom>
          <a:noFill/>
        </p:spPr>
        <p:txBody>
          <a:bodyPr wrap="square" lIns="36576" tIns="6350" rIns="36576" bIns="6350" anchor="t">
            <a:norm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 dirty="0" err="1">
                <a:solidFill>
                  <a:srgbClr val="081F46"/>
                </a:solidFill>
                <a:latin typeface="맑은 고딕"/>
                <a:ea typeface="맑은 고딕"/>
              </a:rPr>
              <a:t>발견 패턴 ▸ 적재 순서 연속 100건 = 단일 배치</a:t>
            </a:r>
          </a:p>
        </p:txBody>
      </p:sp>
      <p:sp>
        <p:nvSpPr>
          <p:cNvPr id="603" name="metric-number"/>
          <p:cNvSpPr txBox="1"/>
          <p:nvPr/>
        </p:nvSpPr>
        <p:spPr>
          <a:xfrm>
            <a:off x="786384" y="1339596"/>
            <a:ext cx="3154680" cy="420624"/>
          </a:xfrm>
          <a:prstGeom prst="rect">
            <a:avLst/>
          </a:prstGeom>
          <a:noFill/>
        </p:spPr>
        <p:txBody>
          <a:bodyPr wrap="square" lIns="36576" tIns="6350" rIns="36576" bIns="6350" anchor="ctr">
            <a:normAutofit fontScale="77500" lnSpcReduction="20000"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 i="0" dirty="0">
                <a:solidFill>
                  <a:srgbClr val="081F46"/>
                </a:solidFill>
                <a:latin typeface="맑은 고딕"/>
                <a:ea typeface="맑은 고딕"/>
              </a:rPr>
              <a:t>100건</a:t>
            </a:r>
          </a:p>
        </p:txBody>
      </p:sp>
      <p:sp>
        <p:nvSpPr>
          <p:cNvPr id="604" name="metric-desc"/>
          <p:cNvSpPr txBox="1"/>
          <p:nvPr/>
        </p:nvSpPr>
        <p:spPr>
          <a:xfrm>
            <a:off x="2084832" y="1422612"/>
            <a:ext cx="9336024" cy="420624"/>
          </a:xfrm>
          <a:prstGeom prst="rect">
            <a:avLst/>
          </a:prstGeom>
          <a:noFill/>
        </p:spPr>
        <p:txBody>
          <a:bodyPr wrap="square" lIns="54864" tIns="6350" rIns="54864" bIns="635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b="1" dirty="0" err="1">
                <a:solidFill>
                  <a:srgbClr val="282D37"/>
                </a:solidFill>
                <a:latin typeface="맑은 고딕"/>
                <a:ea typeface="맑은 고딕"/>
              </a:rPr>
              <a:t>적재</a:t>
            </a:r>
            <a:r>
              <a:rPr b="1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b="1" dirty="0" err="1">
                <a:solidFill>
                  <a:srgbClr val="282D37"/>
                </a:solidFill>
                <a:latin typeface="맑은 고딕"/>
                <a:ea typeface="맑은 고딕"/>
              </a:rPr>
              <a:t>순서</a:t>
            </a:r>
            <a:r>
              <a:rPr b="1" dirty="0">
                <a:solidFill>
                  <a:srgbClr val="282D37"/>
                </a:solidFill>
                <a:latin typeface="맑은 고딕"/>
                <a:ea typeface="맑은 고딕"/>
              </a:rPr>
              <a:t> 499~598(</a:t>
            </a:r>
            <a:r>
              <a:rPr b="1" dirty="0" err="1">
                <a:solidFill>
                  <a:srgbClr val="282D37"/>
                </a:solidFill>
                <a:latin typeface="맑은 고딕"/>
                <a:ea typeface="맑은 고딕"/>
              </a:rPr>
              <a:t>연속</a:t>
            </a:r>
            <a:r>
              <a:rPr b="1" dirty="0">
                <a:solidFill>
                  <a:srgbClr val="282D37"/>
                </a:solidFill>
                <a:latin typeface="맑은 고딕"/>
                <a:ea typeface="맑은 고딕"/>
              </a:rPr>
              <a:t> 100건)이 </a:t>
            </a:r>
            <a:r>
              <a:rPr b="1" dirty="0" err="1">
                <a:solidFill>
                  <a:srgbClr val="282D37"/>
                </a:solidFill>
                <a:latin typeface="맑은 고딕"/>
                <a:ea typeface="맑은 고딕"/>
              </a:rPr>
              <a:t>모두</a:t>
            </a:r>
            <a:r>
              <a:rPr b="1" dirty="0">
                <a:solidFill>
                  <a:srgbClr val="282D37"/>
                </a:solidFill>
                <a:latin typeface="맑은 고딕"/>
                <a:ea typeface="맑은 고딕"/>
              </a:rPr>
              <a:t> ‘</a:t>
            </a:r>
            <a:r>
              <a:rPr b="1" dirty="0" err="1">
                <a:solidFill>
                  <a:srgbClr val="282D37"/>
                </a:solidFill>
                <a:latin typeface="맑은 고딕"/>
                <a:ea typeface="맑은 고딕"/>
              </a:rPr>
              <a:t>유아및초·중등교육</a:t>
            </a:r>
            <a:r>
              <a:rPr b="1" dirty="0">
                <a:solidFill>
                  <a:srgbClr val="282D37"/>
                </a:solidFill>
                <a:latin typeface="맑은 고딕"/>
                <a:ea typeface="맑은 고딕"/>
              </a:rPr>
              <a:t>’ </a:t>
            </a:r>
            <a:endParaRPr lang="en-US" b="1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lang="en-US" b="1" dirty="0">
                <a:solidFill>
                  <a:srgbClr val="282D37"/>
                </a:solidFill>
                <a:latin typeface="맑은 고딕"/>
                <a:ea typeface="맑은 고딕"/>
                <a:sym typeface="Wingdings" panose="05000000000000000000" pitchFamily="2" charset="2"/>
              </a:rPr>
              <a:t> </a:t>
            </a:r>
            <a:r>
              <a:rPr b="1" dirty="0" err="1">
                <a:solidFill>
                  <a:srgbClr val="282D37"/>
                </a:solidFill>
                <a:latin typeface="맑은 고딕"/>
                <a:ea typeface="맑은 고딕"/>
              </a:rPr>
              <a:t>단일</a:t>
            </a:r>
            <a:r>
              <a:rPr b="1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b="1" dirty="0" err="1">
                <a:solidFill>
                  <a:srgbClr val="282D37"/>
                </a:solidFill>
                <a:latin typeface="맑은 고딕"/>
                <a:ea typeface="맑은 고딕"/>
              </a:rPr>
              <a:t>수집</a:t>
            </a:r>
            <a:r>
              <a:rPr b="1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b="1" dirty="0" err="1">
                <a:solidFill>
                  <a:srgbClr val="282D37"/>
                </a:solidFill>
                <a:latin typeface="맑은 고딕"/>
                <a:ea typeface="맑은 고딕"/>
              </a:rPr>
              <a:t>배치에서</a:t>
            </a:r>
            <a:r>
              <a:rPr b="1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b="1" dirty="0" err="1">
                <a:solidFill>
                  <a:srgbClr val="282D37"/>
                </a:solidFill>
                <a:latin typeface="맑은 고딕"/>
                <a:ea typeface="맑은 고딕"/>
              </a:rPr>
              <a:t>출처</a:t>
            </a:r>
            <a:r>
              <a:rPr b="1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b="1" dirty="0" err="1">
                <a:solidFill>
                  <a:srgbClr val="282D37"/>
                </a:solidFill>
                <a:latin typeface="맑은 고딕"/>
                <a:ea typeface="맑은 고딕"/>
              </a:rPr>
              <a:t>일괄</a:t>
            </a:r>
            <a:r>
              <a:rPr b="1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b="1" dirty="0" err="1">
                <a:solidFill>
                  <a:srgbClr val="282D37"/>
                </a:solidFill>
                <a:latin typeface="맑은 고딕"/>
                <a:ea typeface="맑은 고딕"/>
              </a:rPr>
              <a:t>소실</a:t>
            </a:r>
            <a:r>
              <a:rPr lang="en-US" b="1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lang="ko-KR" altLang="en-US" b="1" dirty="0">
                <a:solidFill>
                  <a:srgbClr val="282D37"/>
                </a:solidFill>
                <a:latin typeface="맑은 고딕"/>
                <a:ea typeface="맑은 고딕"/>
              </a:rPr>
              <a:t>의심</a:t>
            </a:r>
            <a:endParaRPr b="1" dirty="0">
              <a:solidFill>
                <a:srgbClr val="282D37"/>
              </a:solidFill>
              <a:latin typeface="맑은 고딕"/>
              <a:ea typeface="맑은 고딕"/>
            </a:endParaRPr>
          </a:p>
        </p:txBody>
      </p:sp>
      <p:sp>
        <p:nvSpPr>
          <p:cNvPr id="7001" name="f-bg"/>
          <p:cNvSpPr/>
          <p:nvPr/>
        </p:nvSpPr>
        <p:spPr>
          <a:xfrm>
            <a:off x="566928" y="2097248"/>
            <a:ext cx="5349240" cy="4480560"/>
          </a:xfrm>
          <a:prstGeom prst="roundRect">
            <a:avLst/>
          </a:prstGeom>
          <a:solidFill>
            <a:srgbClr val="EEF2F8"/>
          </a:solidFill>
          <a:ln w="9525">
            <a:solidFill>
              <a:srgbClr val="D0D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7002" name="f-hdr"/>
          <p:cNvSpPr/>
          <p:nvPr/>
        </p:nvSpPr>
        <p:spPr>
          <a:xfrm>
            <a:off x="566928" y="2097248"/>
            <a:ext cx="5349240" cy="329184"/>
          </a:xfrm>
          <a:prstGeom prst="roundRect">
            <a:avLst/>
          </a:prstGeom>
          <a:solidFill>
            <a:srgbClr val="081F46"/>
          </a:solidFill>
          <a:ln w="9525">
            <a:solidFill>
              <a:srgbClr val="081F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85000" lnSpcReduction="20000"/>
          </a:bodyPr>
          <a:lstStyle/>
          <a:p>
            <a:pPr algn="ctr"/>
            <a:endParaRPr/>
          </a:p>
        </p:txBody>
      </p:sp>
      <p:sp>
        <p:nvSpPr>
          <p:cNvPr id="7003" name="f-title"/>
          <p:cNvSpPr txBox="1"/>
          <p:nvPr/>
        </p:nvSpPr>
        <p:spPr>
          <a:xfrm>
            <a:off x="566928" y="2097248"/>
            <a:ext cx="5349240" cy="329184"/>
          </a:xfrm>
          <a:prstGeom prst="rect">
            <a:avLst/>
          </a:prstGeom>
          <a:noFill/>
        </p:spPr>
        <p:txBody>
          <a:bodyPr wrap="square" lIns="118872" tIns="6350" rIns="118872" bIns="6350" anchor="ctr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1" i="0">
                <a:solidFill>
                  <a:srgbClr val="FFFFFF"/>
                </a:solidFill>
                <a:latin typeface="맑은 고딕"/>
                <a:ea typeface="맑은 고딕"/>
              </a:rPr>
              <a:t>① </a:t>
            </a:r>
            <a:r>
              <a:rPr sz="1400" b="1" i="0" dirty="0" err="1">
                <a:solidFill>
                  <a:srgbClr val="FFFFFF"/>
                </a:solidFill>
                <a:latin typeface="맑은 고딕"/>
                <a:ea typeface="맑은 고딕"/>
              </a:rPr>
              <a:t>적재</a:t>
            </a:r>
            <a:r>
              <a:rPr sz="1400" b="1" i="0" dirty="0">
                <a:solidFill>
                  <a:srgbClr val="FFFFFF"/>
                </a:solidFill>
                <a:latin typeface="맑은 고딕"/>
                <a:ea typeface="맑은 고딕"/>
              </a:rPr>
              <a:t> </a:t>
            </a:r>
            <a:r>
              <a:rPr sz="1400" b="1" i="0" dirty="0" err="1">
                <a:solidFill>
                  <a:srgbClr val="FFFFFF"/>
                </a:solidFill>
                <a:latin typeface="맑은 고딕"/>
                <a:ea typeface="맑은 고딕"/>
              </a:rPr>
              <a:t>배치</a:t>
            </a:r>
            <a:r>
              <a:rPr sz="1400" b="1" i="0" dirty="0">
                <a:solidFill>
                  <a:srgbClr val="FFFFFF"/>
                </a:solidFill>
                <a:latin typeface="맑은 고딕"/>
                <a:ea typeface="맑은 고딕"/>
              </a:rPr>
              <a:t> </a:t>
            </a:r>
            <a:r>
              <a:rPr sz="1400" b="1" i="0" dirty="0" err="1">
                <a:solidFill>
                  <a:srgbClr val="FFFFFF"/>
                </a:solidFill>
                <a:latin typeface="맑은 고딕"/>
                <a:ea typeface="맑은 고딕"/>
              </a:rPr>
              <a:t>추적</a:t>
            </a:r>
            <a:r>
              <a:rPr sz="1400" b="1" i="0" dirty="0">
                <a:solidFill>
                  <a:srgbClr val="FFFFFF"/>
                </a:solidFill>
                <a:latin typeface="맑은 고딕"/>
                <a:ea typeface="맑은 고딕"/>
              </a:rPr>
              <a:t> (</a:t>
            </a:r>
            <a:r>
              <a:rPr sz="1400" b="1" i="0" dirty="0" err="1">
                <a:solidFill>
                  <a:srgbClr val="FFFFFF"/>
                </a:solidFill>
                <a:latin typeface="맑은 고딕"/>
                <a:ea typeface="맑은 고딕"/>
              </a:rPr>
              <a:t>regi_date</a:t>
            </a:r>
            <a:r>
              <a:rPr sz="1400" b="1" i="0" dirty="0">
                <a:solidFill>
                  <a:srgbClr val="FFFFFF"/>
                </a:solidFill>
                <a:latin typeface="맑은 고딕"/>
                <a:ea typeface="맑은 고딕"/>
              </a:rPr>
              <a:t> · </a:t>
            </a:r>
            <a:r>
              <a:rPr sz="1400" b="1" i="0" dirty="0" err="1">
                <a:solidFill>
                  <a:srgbClr val="FFFFFF"/>
                </a:solidFill>
                <a:latin typeface="맑은 고딕"/>
                <a:ea typeface="맑은 고딕"/>
              </a:rPr>
              <a:t>url</a:t>
            </a:r>
            <a:r>
              <a:rPr sz="1400" b="1" i="0" dirty="0">
                <a:solidFill>
                  <a:srgbClr val="FFFFFF"/>
                </a:solidFill>
                <a:latin typeface="맑은 고딕"/>
                <a:ea typeface="맑은 고딕"/>
              </a:rPr>
              <a:t>)</a:t>
            </a:r>
          </a:p>
        </p:txBody>
      </p:sp>
      <p:sp>
        <p:nvSpPr>
          <p:cNvPr id="7004" name="dd-regi"/>
          <p:cNvSpPr txBox="1"/>
          <p:nvPr/>
        </p:nvSpPr>
        <p:spPr>
          <a:xfrm>
            <a:off x="694944" y="2481296"/>
            <a:ext cx="5221224" cy="4041648"/>
          </a:xfrm>
          <a:prstGeom prst="rect">
            <a:avLst/>
          </a:prstGeom>
          <a:noFill/>
        </p:spPr>
        <p:txBody>
          <a:bodyPr wrap="square" lIns="12700" tIns="6350" rIns="12700" bIns="6350" anchor="t">
            <a:normAutofit/>
          </a:bodyPr>
          <a:lstStyle/>
          <a:p>
            <a:pPr marL="171450" indent="-171450" algn="l">
              <a:lnSpc>
                <a:spcPct val="150000"/>
              </a:lnSpc>
              <a:spcBef>
                <a:spcPts val="0"/>
              </a:spcBef>
              <a:spcAft>
                <a:spcPts val="9"/>
              </a:spcAft>
              <a:buFont typeface="Arial" panose="020B0604020202020204" pitchFamily="34" charset="0"/>
              <a:buChar char="•"/>
            </a:pPr>
            <a:r>
              <a:rPr sz="1200" b="1" i="0" dirty="0" err="1">
                <a:solidFill>
                  <a:srgbClr val="081F46"/>
                </a:solidFill>
                <a:latin typeface="맑은 고딕"/>
                <a:ea typeface="맑은 고딕"/>
              </a:rPr>
              <a:t>전체</a:t>
            </a:r>
            <a:r>
              <a:rPr sz="1200" b="1" i="0" dirty="0">
                <a:solidFill>
                  <a:srgbClr val="081F46"/>
                </a:solidFill>
                <a:latin typeface="맑은 고딕"/>
                <a:ea typeface="맑은 고딕"/>
              </a:rPr>
              <a:t> 999건 </a:t>
            </a:r>
            <a:r>
              <a:rPr sz="1200" b="1" i="0" dirty="0" err="1">
                <a:solidFill>
                  <a:srgbClr val="081F46"/>
                </a:solidFill>
                <a:latin typeface="맑은 고딕"/>
                <a:ea typeface="맑은 고딕"/>
              </a:rPr>
              <a:t>regi_date</a:t>
            </a:r>
            <a:r>
              <a:rPr sz="1200" b="1" i="0" dirty="0">
                <a:solidFill>
                  <a:srgbClr val="081F46"/>
                </a:solidFill>
                <a:latin typeface="맑은 고딕"/>
                <a:ea typeface="맑은 고딕"/>
              </a:rPr>
              <a:t> = 2026-03-30 </a:t>
            </a:r>
            <a:r>
              <a:rPr sz="1200" b="0" i="0" dirty="0">
                <a:solidFill>
                  <a:srgbClr val="505050"/>
                </a:solidFill>
                <a:latin typeface="맑은 고딕"/>
                <a:ea typeface="맑은 고딕"/>
              </a:rPr>
              <a:t>(</a:t>
            </a:r>
            <a:r>
              <a:rPr sz="1200" b="0" i="0" dirty="0" err="1">
                <a:solidFill>
                  <a:srgbClr val="505050"/>
                </a:solidFill>
                <a:latin typeface="맑은 고딕"/>
                <a:ea typeface="맑은 고딕"/>
              </a:rPr>
              <a:t>카탈로그</a:t>
            </a:r>
            <a:r>
              <a:rPr sz="1200" b="0" i="0" dirty="0">
                <a:solidFill>
                  <a:srgbClr val="505050"/>
                </a:solidFill>
                <a:latin typeface="맑은 고딕"/>
                <a:ea typeface="맑은 고딕"/>
              </a:rPr>
              <a:t> </a:t>
            </a:r>
            <a:r>
              <a:rPr sz="1200" b="0" i="0" dirty="0" err="1">
                <a:solidFill>
                  <a:srgbClr val="505050"/>
                </a:solidFill>
                <a:latin typeface="맑은 고딕"/>
                <a:ea typeface="맑은 고딕"/>
              </a:rPr>
              <a:t>일괄</a:t>
            </a:r>
            <a:r>
              <a:rPr sz="1200" b="0" i="0" dirty="0">
                <a:solidFill>
                  <a:srgbClr val="505050"/>
                </a:solidFill>
                <a:latin typeface="맑은 고딕"/>
                <a:ea typeface="맑은 고딕"/>
              </a:rPr>
              <a:t> </a:t>
            </a:r>
            <a:r>
              <a:rPr sz="1200" b="0" i="0" dirty="0" err="1">
                <a:solidFill>
                  <a:srgbClr val="505050"/>
                </a:solidFill>
                <a:latin typeface="맑은 고딕"/>
                <a:ea typeface="맑은 고딕"/>
              </a:rPr>
              <a:t>적재</a:t>
            </a:r>
            <a:r>
              <a:rPr sz="1200" b="0" i="0" dirty="0">
                <a:solidFill>
                  <a:srgbClr val="505050"/>
                </a:solidFill>
                <a:latin typeface="맑은 고딕"/>
                <a:ea typeface="맑은 고딕"/>
              </a:rPr>
              <a:t>)</a:t>
            </a:r>
            <a:endParaRPr lang="en-US" sz="1200" b="0" i="0" dirty="0">
              <a:solidFill>
                <a:srgbClr val="505050"/>
              </a:solidFill>
              <a:latin typeface="맑은 고딕"/>
              <a:ea typeface="맑은 고딕"/>
            </a:endParaRPr>
          </a:p>
          <a:p>
            <a:pPr marL="171450" indent="-171450" algn="l">
              <a:lnSpc>
                <a:spcPct val="150000"/>
              </a:lnSpc>
              <a:spcBef>
                <a:spcPts val="0"/>
              </a:spcBef>
              <a:spcAft>
                <a:spcPts val="9"/>
              </a:spcAft>
              <a:buFont typeface="Arial" panose="020B0604020202020204" pitchFamily="34" charset="0"/>
              <a:buChar char="•"/>
            </a:pPr>
            <a:endParaRPr sz="1200" b="0" i="0" dirty="0">
              <a:solidFill>
                <a:srgbClr val="505050"/>
              </a:solidFill>
              <a:latin typeface="맑은 고딕"/>
              <a:ea typeface="맑은 고딕"/>
            </a:endParaRPr>
          </a:p>
          <a:p>
            <a:pPr marL="171450" indent="-171450" algn="l">
              <a:lnSpc>
                <a:spcPct val="150000"/>
              </a:lnSpc>
              <a:spcBef>
                <a:spcPts val="0"/>
              </a:spcBef>
              <a:spcAft>
                <a:spcPts val="9"/>
              </a:spcAft>
              <a:buFont typeface="Arial" panose="020B0604020202020204" pitchFamily="34" charset="0"/>
              <a:buChar char="•"/>
            </a:pPr>
            <a:r>
              <a:rPr sz="12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적재</a:t>
            </a: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2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순서</a:t>
            </a: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 499~598번 = </a:t>
            </a:r>
            <a:r>
              <a:rPr sz="12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연속</a:t>
            </a: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 100건이 </a:t>
            </a:r>
            <a:r>
              <a:rPr sz="1200" b="1" i="0" dirty="0" err="1">
                <a:solidFill>
                  <a:srgbClr val="C0392B"/>
                </a:solidFill>
                <a:latin typeface="맑은 고딕"/>
                <a:ea typeface="맑은 고딕"/>
              </a:rPr>
              <a:t>모두</a:t>
            </a:r>
            <a:r>
              <a:rPr sz="1200" b="1" i="0" dirty="0">
                <a:solidFill>
                  <a:srgbClr val="C0392B"/>
                </a:solidFill>
                <a:latin typeface="맑은 고딕"/>
                <a:ea typeface="맑은 고딕"/>
              </a:rPr>
              <a:t> ‘</a:t>
            </a:r>
            <a:r>
              <a:rPr sz="1200" b="1" i="0" dirty="0" err="1">
                <a:solidFill>
                  <a:srgbClr val="C0392B"/>
                </a:solidFill>
                <a:latin typeface="맑은 고딕"/>
                <a:ea typeface="맑은 고딕"/>
              </a:rPr>
              <a:t>유아및초·중등교육</a:t>
            </a:r>
            <a:r>
              <a:rPr sz="1200" b="1" i="0" dirty="0">
                <a:solidFill>
                  <a:srgbClr val="C0392B"/>
                </a:solidFill>
                <a:latin typeface="맑은 고딕"/>
                <a:ea typeface="맑은 고딕"/>
              </a:rPr>
              <a:t>’</a:t>
            </a:r>
            <a:r>
              <a:rPr sz="1200" b="0" i="0" dirty="0">
                <a:solidFill>
                  <a:srgbClr val="505050"/>
                </a:solidFill>
                <a:latin typeface="맑은 고딕"/>
                <a:ea typeface="맑은 고딕"/>
              </a:rPr>
              <a:t> </a:t>
            </a:r>
            <a:endParaRPr lang="en-US" sz="1200" b="0" i="0" dirty="0">
              <a:solidFill>
                <a:srgbClr val="505050"/>
              </a:solidFill>
              <a:latin typeface="맑은 고딕"/>
              <a:ea typeface="맑은 고딕"/>
            </a:endParaRPr>
          </a:p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9"/>
              </a:spcAft>
            </a:pPr>
            <a:r>
              <a:rPr lang="en-US" sz="1200" dirty="0">
                <a:solidFill>
                  <a:srgbClr val="505050"/>
                </a:solidFill>
                <a:latin typeface="맑은 고딕"/>
                <a:ea typeface="맑은 고딕"/>
              </a:rPr>
              <a:t>   </a:t>
            </a:r>
            <a:r>
              <a:rPr sz="1200" b="0" i="0" dirty="0">
                <a:solidFill>
                  <a:srgbClr val="505050"/>
                </a:solidFill>
                <a:latin typeface="맑은 고딕"/>
                <a:ea typeface="맑은 고딕"/>
              </a:rPr>
              <a:t>(타 </a:t>
            </a:r>
            <a:r>
              <a:rPr sz="1200" b="0" i="0" dirty="0" err="1">
                <a:solidFill>
                  <a:srgbClr val="505050"/>
                </a:solidFill>
                <a:latin typeface="맑은 고딕"/>
                <a:ea typeface="맑은 고딕"/>
              </a:rPr>
              <a:t>분류</a:t>
            </a:r>
            <a:r>
              <a:rPr sz="1200" b="0" i="0" dirty="0">
                <a:solidFill>
                  <a:srgbClr val="505050"/>
                </a:solidFill>
                <a:latin typeface="맑은 고딕"/>
                <a:ea typeface="맑은 고딕"/>
              </a:rPr>
              <a:t> 0건 </a:t>
            </a:r>
            <a:r>
              <a:rPr sz="1200" b="0" i="0" dirty="0" err="1">
                <a:solidFill>
                  <a:srgbClr val="505050"/>
                </a:solidFill>
                <a:latin typeface="맑은 고딕"/>
                <a:ea typeface="맑은 고딕"/>
              </a:rPr>
              <a:t>혼입</a:t>
            </a:r>
            <a:r>
              <a:rPr sz="1200" b="0" i="0" dirty="0">
                <a:solidFill>
                  <a:srgbClr val="505050"/>
                </a:solidFill>
                <a:latin typeface="맑은 고딕"/>
                <a:ea typeface="맑은 고딕"/>
              </a:rPr>
              <a:t>)</a:t>
            </a:r>
            <a:endParaRPr lang="en-US" sz="1200" b="0" i="0" dirty="0">
              <a:solidFill>
                <a:srgbClr val="505050"/>
              </a:solidFill>
              <a:latin typeface="맑은 고딕"/>
              <a:ea typeface="맑은 고딕"/>
            </a:endParaRPr>
          </a:p>
          <a:p>
            <a:pPr marL="171450" indent="-171450" algn="l">
              <a:lnSpc>
                <a:spcPct val="150000"/>
              </a:lnSpc>
              <a:spcBef>
                <a:spcPts val="0"/>
              </a:spcBef>
              <a:spcAft>
                <a:spcPts val="9"/>
              </a:spcAft>
              <a:buFont typeface="Arial" panose="020B0604020202020204" pitchFamily="34" charset="0"/>
              <a:buChar char="•"/>
            </a:pPr>
            <a:endParaRPr sz="1200" b="0" i="0" dirty="0">
              <a:solidFill>
                <a:srgbClr val="505050"/>
              </a:solidFill>
              <a:latin typeface="맑은 고딕"/>
              <a:ea typeface="맑은 고딕"/>
            </a:endParaRPr>
          </a:p>
          <a:p>
            <a:pPr marL="171450" indent="-171450" algn="l">
              <a:lnSpc>
                <a:spcPct val="150000"/>
              </a:lnSpc>
              <a:spcBef>
                <a:spcPts val="0"/>
              </a:spcBef>
              <a:spcAft>
                <a:spcPts val="9"/>
              </a:spcAft>
              <a:buFont typeface="Arial" panose="020B0604020202020204" pitchFamily="34" charset="0"/>
              <a:buChar char="•"/>
            </a:pPr>
            <a:r>
              <a:rPr sz="1200" b="1" i="0" dirty="0">
                <a:solidFill>
                  <a:srgbClr val="282D37"/>
                </a:solidFill>
                <a:latin typeface="맑은 고딕"/>
                <a:ea typeface="맑은 고딕"/>
              </a:rPr>
              <a:t>11:28~11:37 (9분) </a:t>
            </a:r>
            <a:r>
              <a:rPr sz="1200" b="1" i="0" dirty="0" err="1">
                <a:solidFill>
                  <a:srgbClr val="282D37"/>
                </a:solidFill>
                <a:latin typeface="맑은 고딕"/>
                <a:ea typeface="맑은 고딕"/>
              </a:rPr>
              <a:t>연속</a:t>
            </a: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 → </a:t>
            </a:r>
            <a:r>
              <a:rPr sz="1200" b="1" i="0" dirty="0" err="1">
                <a:solidFill>
                  <a:srgbClr val="081F46"/>
                </a:solidFill>
                <a:latin typeface="맑은 고딕"/>
                <a:ea typeface="맑은 고딕"/>
              </a:rPr>
              <a:t>단일</a:t>
            </a:r>
            <a:r>
              <a:rPr sz="1200" b="1" i="0" dirty="0">
                <a:solidFill>
                  <a:srgbClr val="081F46"/>
                </a:solidFill>
                <a:latin typeface="맑은 고딕"/>
                <a:ea typeface="맑은 고딕"/>
              </a:rPr>
              <a:t> </a:t>
            </a:r>
            <a:r>
              <a:rPr sz="1200" b="1" i="0" dirty="0" err="1">
                <a:solidFill>
                  <a:srgbClr val="081F46"/>
                </a:solidFill>
                <a:latin typeface="맑은 고딕"/>
                <a:ea typeface="맑은 고딕"/>
              </a:rPr>
              <a:t>수집</a:t>
            </a:r>
            <a:r>
              <a:rPr sz="1200" b="1" i="0" dirty="0">
                <a:solidFill>
                  <a:srgbClr val="081F46"/>
                </a:solidFill>
                <a:latin typeface="맑은 고딕"/>
                <a:ea typeface="맑은 고딕"/>
              </a:rPr>
              <a:t> </a:t>
            </a:r>
            <a:r>
              <a:rPr sz="1200" b="1" i="0" dirty="0" err="1">
                <a:solidFill>
                  <a:srgbClr val="081F46"/>
                </a:solidFill>
                <a:latin typeface="맑은 고딕"/>
                <a:ea typeface="맑은 고딕"/>
              </a:rPr>
              <a:t>배치에서</a:t>
            </a:r>
            <a:r>
              <a:rPr sz="1200" b="1" i="0" dirty="0">
                <a:solidFill>
                  <a:srgbClr val="081F46"/>
                </a:solidFill>
                <a:latin typeface="맑은 고딕"/>
                <a:ea typeface="맑은 고딕"/>
              </a:rPr>
              <a:t> </a:t>
            </a:r>
            <a:r>
              <a:rPr sz="1200" b="1" i="0" dirty="0" err="1">
                <a:solidFill>
                  <a:srgbClr val="081F46"/>
                </a:solidFill>
                <a:latin typeface="맑은 고딕"/>
                <a:ea typeface="맑은 고딕"/>
              </a:rPr>
              <a:t>table_source</a:t>
            </a:r>
            <a:r>
              <a:rPr sz="1200" b="1" i="0" dirty="0">
                <a:solidFill>
                  <a:srgbClr val="081F46"/>
                </a:solidFill>
                <a:latin typeface="맑은 고딕"/>
                <a:ea typeface="맑은 고딕"/>
              </a:rPr>
              <a:t> </a:t>
            </a:r>
            <a:r>
              <a:rPr sz="1200" b="1" i="0" dirty="0" err="1">
                <a:solidFill>
                  <a:srgbClr val="081F46"/>
                </a:solidFill>
                <a:latin typeface="맑은 고딕"/>
                <a:ea typeface="맑은 고딕"/>
              </a:rPr>
              <a:t>소실</a:t>
            </a:r>
            <a:r>
              <a:rPr sz="1200" b="1" i="0" dirty="0">
                <a:solidFill>
                  <a:srgbClr val="081F46"/>
                </a:solidFill>
                <a:latin typeface="맑은 고딕"/>
                <a:ea typeface="맑은 고딕"/>
              </a:rPr>
              <a:t> </a:t>
            </a:r>
            <a:r>
              <a:rPr sz="1200" b="1" i="0" dirty="0" err="1">
                <a:solidFill>
                  <a:srgbClr val="081F46"/>
                </a:solidFill>
                <a:latin typeface="맑은 고딕"/>
                <a:ea typeface="맑은 고딕"/>
              </a:rPr>
              <a:t>확증</a:t>
            </a:r>
            <a:endParaRPr sz="1200" b="1" i="0" dirty="0">
              <a:solidFill>
                <a:srgbClr val="081F46"/>
              </a:solidFill>
              <a:latin typeface="맑은 고딕"/>
              <a:ea typeface="맑은 고딕"/>
            </a:endParaRPr>
          </a:p>
          <a:p>
            <a:pPr marL="171450" indent="-171450" algn="l">
              <a:lnSpc>
                <a:spcPct val="150000"/>
              </a:lnSpc>
              <a:spcBef>
                <a:spcPts val="0"/>
              </a:spcBef>
              <a:spcAft>
                <a:spcPts val="9"/>
              </a:spcAft>
              <a:buFont typeface="Arial" panose="020B0604020202020204" pitchFamily="34" charset="0"/>
              <a:buChar char="•"/>
            </a:pPr>
            <a:endParaRPr lang="en-US" sz="1200" b="1" i="0" dirty="0">
              <a:solidFill>
                <a:srgbClr val="081F46"/>
              </a:solidFill>
              <a:latin typeface="맑은 고딕"/>
              <a:ea typeface="맑은 고딕"/>
            </a:endParaRPr>
          </a:p>
          <a:p>
            <a:pPr marL="171450" indent="-171450" algn="l">
              <a:lnSpc>
                <a:spcPct val="150000"/>
              </a:lnSpc>
              <a:spcBef>
                <a:spcPts val="0"/>
              </a:spcBef>
              <a:spcAft>
                <a:spcPts val="9"/>
              </a:spcAft>
              <a:buFont typeface="Arial" panose="020B0604020202020204" pitchFamily="34" charset="0"/>
              <a:buChar char="•"/>
            </a:pPr>
            <a:r>
              <a:rPr sz="1200" b="1" i="0" dirty="0" err="1">
                <a:solidFill>
                  <a:srgbClr val="081F46"/>
                </a:solidFill>
                <a:latin typeface="맑은 고딕"/>
                <a:ea typeface="맑은 고딕"/>
              </a:rPr>
              <a:t>url</a:t>
            </a:r>
            <a:r>
              <a:rPr sz="1200" b="1" i="0" dirty="0">
                <a:solidFill>
                  <a:srgbClr val="081F46"/>
                </a:solidFill>
                <a:latin typeface="맑은 고딕"/>
                <a:ea typeface="맑은 고딕"/>
              </a:rPr>
              <a:t> </a:t>
            </a:r>
            <a:r>
              <a:rPr sz="1200" b="1" i="0" dirty="0" err="1">
                <a:solidFill>
                  <a:srgbClr val="081F46"/>
                </a:solidFill>
                <a:latin typeface="맑은 고딕"/>
                <a:ea typeface="맑은 고딕"/>
              </a:rPr>
              <a:t>필드도</a:t>
            </a:r>
            <a:r>
              <a:rPr sz="1200" b="1" i="0" dirty="0">
                <a:solidFill>
                  <a:srgbClr val="081F46"/>
                </a:solidFill>
                <a:latin typeface="맑은 고딕"/>
                <a:ea typeface="맑은 고딕"/>
              </a:rPr>
              <a:t> 999건 </a:t>
            </a:r>
            <a:r>
              <a:rPr sz="1200" b="1" i="0" dirty="0" err="1">
                <a:solidFill>
                  <a:srgbClr val="081F46"/>
                </a:solidFill>
                <a:latin typeface="맑은 고딕"/>
                <a:ea typeface="맑은 고딕"/>
              </a:rPr>
              <a:t>전부</a:t>
            </a:r>
            <a:r>
              <a:rPr sz="1200" b="1" i="0" dirty="0">
                <a:solidFill>
                  <a:srgbClr val="081F46"/>
                </a:solidFill>
                <a:latin typeface="맑은 고딕"/>
                <a:ea typeface="맑은 고딕"/>
              </a:rPr>
              <a:t> ‘</a:t>
            </a:r>
            <a:r>
              <a:rPr sz="1200" b="1" i="0" dirty="0" err="1">
                <a:solidFill>
                  <a:srgbClr val="081F46"/>
                </a:solidFill>
                <a:latin typeface="맑은 고딕"/>
                <a:ea typeface="맑은 고딕"/>
              </a:rPr>
              <a:t>url</a:t>
            </a:r>
            <a:r>
              <a:rPr sz="1200" b="1" i="0" dirty="0">
                <a:solidFill>
                  <a:srgbClr val="081F46"/>
                </a:solidFill>
                <a:latin typeface="맑은 고딕"/>
                <a:ea typeface="맑은 고딕"/>
              </a:rPr>
              <a:t>’ placeholder </a:t>
            </a:r>
            <a:r>
              <a:rPr sz="1200" b="0" i="0" dirty="0">
                <a:solidFill>
                  <a:srgbClr val="505050"/>
                </a:solidFill>
                <a:latin typeface="맑은 고딕"/>
                <a:ea typeface="맑은 고딕"/>
              </a:rPr>
              <a:t>= </a:t>
            </a:r>
            <a:r>
              <a:rPr sz="1200" b="0" i="0" dirty="0" err="1">
                <a:solidFill>
                  <a:srgbClr val="505050"/>
                </a:solidFill>
                <a:latin typeface="맑은 고딕"/>
                <a:ea typeface="맑은 고딕"/>
              </a:rPr>
              <a:t>카탈로그</a:t>
            </a:r>
            <a:r>
              <a:rPr sz="1200" b="0" i="0" dirty="0">
                <a:solidFill>
                  <a:srgbClr val="505050"/>
                </a:solidFill>
                <a:latin typeface="맑은 고딕"/>
                <a:ea typeface="맑은 고딕"/>
              </a:rPr>
              <a:t> </a:t>
            </a:r>
            <a:r>
              <a:rPr sz="1200" b="0" i="0" dirty="0" err="1">
                <a:solidFill>
                  <a:srgbClr val="505050"/>
                </a:solidFill>
                <a:latin typeface="맑은 고딕"/>
                <a:ea typeface="맑은 고딕"/>
              </a:rPr>
              <a:t>전반</a:t>
            </a:r>
            <a:r>
              <a:rPr sz="1200" b="0" i="0" dirty="0">
                <a:solidFill>
                  <a:srgbClr val="505050"/>
                </a:solidFill>
                <a:latin typeface="맑은 고딕"/>
                <a:ea typeface="맑은 고딕"/>
              </a:rPr>
              <a:t> </a:t>
            </a:r>
            <a:r>
              <a:rPr sz="1200" b="0" i="0" dirty="0" err="1">
                <a:solidFill>
                  <a:srgbClr val="505050"/>
                </a:solidFill>
                <a:latin typeface="맑은 고딕"/>
                <a:ea typeface="맑은 고딕"/>
              </a:rPr>
              <a:t>별도</a:t>
            </a:r>
            <a:r>
              <a:rPr sz="1200" b="0" i="0" dirty="0">
                <a:solidFill>
                  <a:srgbClr val="505050"/>
                </a:solidFill>
                <a:latin typeface="맑은 고딕"/>
                <a:ea typeface="맑은 고딕"/>
              </a:rPr>
              <a:t> </a:t>
            </a:r>
            <a:r>
              <a:rPr sz="1200" b="0" i="0" dirty="0" err="1">
                <a:solidFill>
                  <a:srgbClr val="505050"/>
                </a:solidFill>
                <a:latin typeface="맑은 고딕"/>
                <a:ea typeface="맑은 고딕"/>
              </a:rPr>
              <a:t>품질</a:t>
            </a:r>
            <a:r>
              <a:rPr sz="1200" b="0" i="0" dirty="0">
                <a:solidFill>
                  <a:srgbClr val="505050"/>
                </a:solidFill>
                <a:latin typeface="맑은 고딕"/>
                <a:ea typeface="맑은 고딕"/>
              </a:rPr>
              <a:t> </a:t>
            </a:r>
            <a:endParaRPr lang="en-US" sz="1200" b="0" i="0" dirty="0">
              <a:solidFill>
                <a:srgbClr val="505050"/>
              </a:solidFill>
              <a:latin typeface="맑은 고딕"/>
              <a:ea typeface="맑은 고딕"/>
            </a:endParaRPr>
          </a:p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9"/>
              </a:spcAft>
            </a:pPr>
            <a:r>
              <a:rPr lang="en-US" sz="1200" dirty="0">
                <a:solidFill>
                  <a:srgbClr val="505050"/>
                </a:solidFill>
                <a:latin typeface="맑은 고딕"/>
                <a:ea typeface="맑은 고딕"/>
              </a:rPr>
              <a:t>   </a:t>
            </a:r>
            <a:r>
              <a:rPr sz="1200" b="0" i="0" dirty="0" err="1">
                <a:solidFill>
                  <a:srgbClr val="505050"/>
                </a:solidFill>
                <a:latin typeface="맑은 고딕"/>
                <a:ea typeface="맑은 고딕"/>
              </a:rPr>
              <a:t>이슈</a:t>
            </a:r>
            <a:r>
              <a:rPr sz="1200" b="0" i="0" dirty="0">
                <a:solidFill>
                  <a:srgbClr val="505050"/>
                </a:solidFill>
                <a:latin typeface="맑은 고딕"/>
                <a:ea typeface="맑은 고딕"/>
              </a:rPr>
              <a:t>(</a:t>
            </a:r>
            <a:r>
              <a:rPr sz="1200" b="0" i="0" dirty="0" err="1">
                <a:solidFill>
                  <a:srgbClr val="505050"/>
                </a:solidFill>
                <a:latin typeface="맑은 고딕"/>
                <a:ea typeface="맑은 고딕"/>
              </a:rPr>
              <a:t>출처누락과</a:t>
            </a:r>
            <a:r>
              <a:rPr sz="1200" b="0" i="0" dirty="0">
                <a:solidFill>
                  <a:srgbClr val="505050"/>
                </a:solidFill>
                <a:latin typeface="맑은 고딕"/>
                <a:ea typeface="맑은 고딕"/>
              </a:rPr>
              <a:t> </a:t>
            </a:r>
            <a:r>
              <a:rPr sz="1200" b="0" i="0" dirty="0" err="1">
                <a:solidFill>
                  <a:srgbClr val="505050"/>
                </a:solidFill>
                <a:latin typeface="맑은 고딕"/>
                <a:ea typeface="맑은 고딕"/>
              </a:rPr>
              <a:t>독립</a:t>
            </a:r>
            <a:r>
              <a:rPr sz="1200" b="0" i="0" dirty="0">
                <a:solidFill>
                  <a:srgbClr val="505050"/>
                </a:solidFill>
                <a:latin typeface="맑은 고딕"/>
                <a:ea typeface="맑은 고딕"/>
              </a:rPr>
              <a:t>)</a:t>
            </a:r>
            <a:endParaRPr lang="en-US" sz="1200" b="0" i="0" dirty="0">
              <a:solidFill>
                <a:srgbClr val="505050"/>
              </a:solidFill>
              <a:latin typeface="맑은 고딕"/>
              <a:ea typeface="맑은 고딕"/>
            </a:endParaRPr>
          </a:p>
          <a:p>
            <a:pPr marL="171450" indent="-171450" algn="l">
              <a:lnSpc>
                <a:spcPct val="150000"/>
              </a:lnSpc>
              <a:spcBef>
                <a:spcPts val="0"/>
              </a:spcBef>
              <a:spcAft>
                <a:spcPts val="9"/>
              </a:spcAft>
              <a:buFont typeface="Arial" panose="020B0604020202020204" pitchFamily="34" charset="0"/>
              <a:buChar char="•"/>
            </a:pPr>
            <a:endParaRPr sz="1200" b="0" i="0" dirty="0">
              <a:solidFill>
                <a:srgbClr val="505050"/>
              </a:solidFill>
              <a:latin typeface="맑은 고딕"/>
              <a:ea typeface="맑은 고딕"/>
            </a:endParaRPr>
          </a:p>
          <a:p>
            <a:pPr marL="171450" indent="-17145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sz="1200" b="1" i="0" dirty="0" err="1">
                <a:solidFill>
                  <a:srgbClr val="00965F"/>
                </a:solidFill>
                <a:latin typeface="맑은 고딕"/>
                <a:ea typeface="맑은 고딕"/>
              </a:rPr>
              <a:t>함의</a:t>
            </a:r>
            <a:r>
              <a:rPr sz="1200" b="1" i="0" dirty="0">
                <a:solidFill>
                  <a:srgbClr val="00965F"/>
                </a:solidFill>
                <a:latin typeface="맑은 고딕"/>
                <a:ea typeface="맑은 고딕"/>
              </a:rPr>
              <a:t>: </a:t>
            </a:r>
            <a:r>
              <a:rPr sz="12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공급원·수집경로</a:t>
            </a: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2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단위로</a:t>
            </a: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2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출처</a:t>
            </a:r>
            <a:r>
              <a:rPr lang="en-US"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lang="ko-KR" altLang="en-US"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일괄 </a:t>
            </a:r>
            <a:r>
              <a:rPr sz="12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누락</a:t>
            </a: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endParaRPr lang="en-US" sz="12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00" dirty="0">
                <a:solidFill>
                  <a:srgbClr val="282D37"/>
                </a:solidFill>
                <a:latin typeface="맑은 고딕"/>
                <a:ea typeface="맑은 고딕"/>
              </a:rPr>
              <a:t>    </a:t>
            </a: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→ </a:t>
            </a:r>
            <a:r>
              <a:rPr sz="12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배치</a:t>
            </a: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2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단위</a:t>
            </a: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2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추적·복구</a:t>
            </a: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2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가능</a:t>
            </a:r>
            <a:endParaRPr sz="1200" b="0" i="0" dirty="0">
              <a:solidFill>
                <a:srgbClr val="282D37"/>
              </a:solidFill>
              <a:latin typeface="맑은 고딕"/>
              <a:ea typeface="맑은 고딕"/>
            </a:endParaRPr>
          </a:p>
        </p:txBody>
      </p:sp>
      <p:sp>
        <p:nvSpPr>
          <p:cNvPr id="7005" name="f-bg"/>
          <p:cNvSpPr/>
          <p:nvPr/>
        </p:nvSpPr>
        <p:spPr>
          <a:xfrm>
            <a:off x="6144768" y="2097248"/>
            <a:ext cx="5477256" cy="4480560"/>
          </a:xfrm>
          <a:prstGeom prst="roundRect">
            <a:avLst/>
          </a:prstGeom>
          <a:solidFill>
            <a:srgbClr val="EEF2F8"/>
          </a:solidFill>
          <a:ln w="9525">
            <a:solidFill>
              <a:srgbClr val="D0D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7006" name="f-hdr"/>
          <p:cNvSpPr/>
          <p:nvPr/>
        </p:nvSpPr>
        <p:spPr>
          <a:xfrm>
            <a:off x="6144768" y="2097248"/>
            <a:ext cx="5477256" cy="329184"/>
          </a:xfrm>
          <a:prstGeom prst="roundRect">
            <a:avLst/>
          </a:prstGeom>
          <a:solidFill>
            <a:srgbClr val="081F46"/>
          </a:solidFill>
          <a:ln w="9525">
            <a:solidFill>
              <a:srgbClr val="081F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85000" lnSpcReduction="20000"/>
          </a:bodyPr>
          <a:lstStyle/>
          <a:p>
            <a:pPr algn="ctr"/>
            <a:endParaRPr/>
          </a:p>
        </p:txBody>
      </p:sp>
      <p:sp>
        <p:nvSpPr>
          <p:cNvPr id="7007" name="f-title"/>
          <p:cNvSpPr txBox="1"/>
          <p:nvPr/>
        </p:nvSpPr>
        <p:spPr>
          <a:xfrm>
            <a:off x="6144768" y="2097248"/>
            <a:ext cx="5477256" cy="329184"/>
          </a:xfrm>
          <a:prstGeom prst="rect">
            <a:avLst/>
          </a:prstGeom>
          <a:noFill/>
        </p:spPr>
        <p:txBody>
          <a:bodyPr wrap="square" lIns="118872" tIns="6350" rIns="118872" bIns="6350" anchor="ctr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1" i="0">
                <a:solidFill>
                  <a:srgbClr val="FFFFFF"/>
                </a:solidFill>
                <a:latin typeface="맑은 고딕"/>
                <a:ea typeface="맑은 고딕"/>
              </a:rPr>
              <a:t>② 전체 도메인 비교 (출처 누락율)</a:t>
            </a:r>
          </a:p>
        </p:txBody>
      </p:sp>
      <p:graphicFrame>
        <p:nvGraphicFramePr>
          <p:cNvPr id="7008" name="cmp-tbl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6693614"/>
              </p:ext>
            </p:extLst>
          </p:nvPr>
        </p:nvGraphicFramePr>
        <p:xfrm>
          <a:off x="6272783" y="2499584"/>
          <a:ext cx="5221223" cy="2560320"/>
        </p:xfrm>
        <a:graphic>
          <a:graphicData uri="http://schemas.openxmlformats.org/drawingml/2006/table">
            <a:tbl>
              <a:tblPr firstRow="1" bandRow="1"/>
              <a:tblGrid>
                <a:gridCol w="28039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503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6689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/>
                      <a:r>
                        <a:rPr lang="ko-KR" sz="1200" b="1" dirty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cate2 (중분류)</a:t>
                      </a:r>
                    </a:p>
                  </a:txBody>
                  <a:tcPr anchor="ctr">
                    <a:solidFill>
                      <a:srgbClr val="081F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placeholder</a:t>
                      </a:r>
                    </a:p>
                  </a:txBody>
                  <a:tcPr anchor="ctr">
                    <a:solidFill>
                      <a:srgbClr val="081F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율</a:t>
                      </a:r>
                    </a:p>
                  </a:txBody>
                  <a:tcPr anchor="ctr">
                    <a:solidFill>
                      <a:srgbClr val="081F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lang="ko-KR" sz="1200" b="1" dirty="0" err="1">
                          <a:solidFill>
                            <a:srgbClr val="081F46"/>
                          </a:solidFill>
                          <a:latin typeface="맑은 고딕"/>
                          <a:ea typeface="맑은 고딕"/>
                        </a:rPr>
                        <a:t>유아및초·중등교육</a:t>
                      </a:r>
                      <a:endParaRPr lang="ko-KR" sz="1200" b="1" dirty="0">
                        <a:solidFill>
                          <a:srgbClr val="081F46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>
                    <a:solidFill>
                      <a:srgbClr val="E8F5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200" b="1">
                          <a:solidFill>
                            <a:srgbClr val="C0392B"/>
                          </a:solidFill>
                          <a:latin typeface="맑은 고딕"/>
                          <a:ea typeface="맑은 고딕"/>
                        </a:rPr>
                        <a:t>100/100</a:t>
                      </a:r>
                    </a:p>
                  </a:txBody>
                  <a:tcPr anchor="ctr">
                    <a:solidFill>
                      <a:srgbClr val="E8F5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200" b="1">
                          <a:solidFill>
                            <a:srgbClr val="C0392B"/>
                          </a:solidFill>
                          <a:latin typeface="맑은 고딕"/>
                          <a:ea typeface="맑은 고딕"/>
                        </a:rPr>
                        <a:t>100%</a:t>
                      </a:r>
                    </a:p>
                  </a:txBody>
                  <a:tcPr anchor="ctr">
                    <a:solidFill>
                      <a:srgbClr val="E8F5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lang="ko-KR" sz="1200" b="1">
                          <a:solidFill>
                            <a:srgbClr val="081F46"/>
                          </a:solidFill>
                          <a:latin typeface="맑은 고딕"/>
                          <a:ea typeface="맑은 고딕"/>
                        </a:rPr>
                        <a:t>교육일반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200" b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15/100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200" b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15%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lang="ko-KR" sz="1200" b="1" dirty="0">
                          <a:solidFill>
                            <a:srgbClr val="081F46"/>
                          </a:solidFill>
                          <a:latin typeface="맑은 고딕"/>
                          <a:ea typeface="맑은 고딕"/>
                        </a:rPr>
                        <a:t>고등교육</a:t>
                      </a:r>
                    </a:p>
                  </a:txBody>
                  <a:tcPr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200" b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14/100</a:t>
                      </a:r>
                    </a:p>
                  </a:txBody>
                  <a:tcPr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200" b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14%</a:t>
                      </a:r>
                    </a:p>
                  </a:txBody>
                  <a:tcPr anchor="ctr"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lang="ko-KR" sz="1200" b="1" dirty="0">
                          <a:solidFill>
                            <a:srgbClr val="081F46"/>
                          </a:solidFill>
                          <a:latin typeface="맑은 고딕"/>
                          <a:ea typeface="맑은 고딕"/>
                        </a:rPr>
                        <a:t>보건의료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200" b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10/300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200" b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3%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lang="ko-KR" sz="1200" b="1">
                          <a:solidFill>
                            <a:srgbClr val="081F46"/>
                          </a:solidFill>
                          <a:latin typeface="맑은 고딕"/>
                          <a:ea typeface="맑은 고딕"/>
                        </a:rPr>
                        <a:t>평생·직업교육</a:t>
                      </a:r>
                    </a:p>
                  </a:txBody>
                  <a:tcPr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200" b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2/100</a:t>
                      </a:r>
                    </a:p>
                  </a:txBody>
                  <a:tcPr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200" b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2%</a:t>
                      </a:r>
                    </a:p>
                  </a:txBody>
                  <a:tcPr anchor="ctr"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lang="ko-KR" sz="1200" b="1">
                          <a:solidFill>
                            <a:srgbClr val="081F46"/>
                          </a:solidFill>
                          <a:latin typeface="맑은 고딕"/>
                          <a:ea typeface="맑은 고딕"/>
                        </a:rPr>
                        <a:t>일반행정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200" b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4/299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200" b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1%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009" name="dd-cmp"/>
          <p:cNvSpPr txBox="1"/>
          <p:nvPr/>
        </p:nvSpPr>
        <p:spPr>
          <a:xfrm>
            <a:off x="6272784" y="5251928"/>
            <a:ext cx="5221224" cy="1188720"/>
          </a:xfrm>
          <a:prstGeom prst="rect">
            <a:avLst/>
          </a:prstGeom>
          <a:noFill/>
        </p:spPr>
        <p:txBody>
          <a:bodyPr wrap="square" lIns="12700" tIns="6350" rIns="12700" bIns="6350" anchor="t">
            <a:normAutofit/>
          </a:bodyPr>
          <a:lstStyle/>
          <a:p>
            <a:pPr marL="171450" indent="-171450" algn="l">
              <a:lnSpc>
                <a:spcPct val="150000"/>
              </a:lnSpc>
              <a:spcBef>
                <a:spcPts val="0"/>
              </a:spcBef>
              <a:spcAft>
                <a:spcPts val="8"/>
              </a:spcAft>
              <a:buFont typeface="Arial" panose="020B0604020202020204" pitchFamily="34" charset="0"/>
              <a:buChar char="•"/>
            </a:pPr>
            <a:r>
              <a:rPr sz="1200" b="1" i="0" dirty="0">
                <a:solidFill>
                  <a:srgbClr val="081F46"/>
                </a:solidFill>
                <a:latin typeface="맑은 고딕"/>
                <a:ea typeface="맑은 고딕"/>
              </a:rPr>
              <a:t>cate1: </a:t>
            </a:r>
            <a:r>
              <a:rPr sz="12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교육</a:t>
            </a: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 33%(131) ≫ </a:t>
            </a:r>
            <a:r>
              <a:rPr sz="12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보건</a:t>
            </a: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 3% ≫ </a:t>
            </a:r>
            <a:r>
              <a:rPr sz="12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공공행정</a:t>
            </a: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 1%</a:t>
            </a:r>
          </a:p>
          <a:p>
            <a:pPr marL="171450" indent="-171450" algn="l">
              <a:lnSpc>
                <a:spcPct val="150000"/>
              </a:lnSpc>
              <a:spcBef>
                <a:spcPts val="0"/>
              </a:spcBef>
              <a:spcAft>
                <a:spcPts val="8"/>
              </a:spcAft>
              <a:buFont typeface="Arial" panose="020B0604020202020204" pitchFamily="34" charset="0"/>
              <a:buChar char="•"/>
            </a:pPr>
            <a:r>
              <a:rPr sz="1200" b="1" i="0" dirty="0" err="1">
                <a:solidFill>
                  <a:srgbClr val="C0392B"/>
                </a:solidFill>
                <a:latin typeface="맑은 고딕"/>
                <a:ea typeface="맑은 고딕"/>
              </a:rPr>
              <a:t>이슈</a:t>
            </a:r>
            <a:r>
              <a:rPr sz="1200" b="1" i="0" dirty="0">
                <a:solidFill>
                  <a:srgbClr val="C0392B"/>
                </a:solidFill>
                <a:latin typeface="맑은 고딕"/>
                <a:ea typeface="맑은 고딕"/>
              </a:rPr>
              <a:t>: </a:t>
            </a:r>
            <a:r>
              <a:rPr sz="12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출처</a:t>
            </a: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2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누락은</a:t>
            </a: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2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교육</a:t>
            </a: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(</a:t>
            </a:r>
            <a:r>
              <a:rPr sz="12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특히</a:t>
            </a: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2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유아및초중등</a:t>
            </a: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)에 </a:t>
            </a:r>
            <a:r>
              <a:rPr sz="12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계통</a:t>
            </a: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2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집중</a:t>
            </a:r>
            <a:r>
              <a:rPr lang="en-US" sz="1200" dirty="0">
                <a:solidFill>
                  <a:srgbClr val="282D37"/>
                </a:solidFill>
                <a:latin typeface="맑은 고딕"/>
                <a:ea typeface="맑은 고딕"/>
              </a:rPr>
              <a:t>,</a:t>
            </a:r>
          </a:p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8"/>
              </a:spcAft>
            </a:pP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lang="en-US"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   </a:t>
            </a:r>
            <a:r>
              <a:rPr sz="12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전체</a:t>
            </a: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2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평균</a:t>
            </a: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 14.5% </a:t>
            </a:r>
            <a:r>
              <a:rPr sz="12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대비</a:t>
            </a: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2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극단</a:t>
            </a: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 outlier</a:t>
            </a:r>
          </a:p>
          <a:p>
            <a:pPr marL="171450" indent="-17145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sz="1200" b="1" i="0" dirty="0" err="1">
                <a:solidFill>
                  <a:srgbClr val="00965F"/>
                </a:solidFill>
                <a:latin typeface="맑은 고딕"/>
                <a:ea typeface="맑은 고딕"/>
              </a:rPr>
              <a:t>대책</a:t>
            </a:r>
            <a:r>
              <a:rPr sz="1200" b="1" i="0" dirty="0">
                <a:solidFill>
                  <a:srgbClr val="00965F"/>
                </a:solidFill>
                <a:latin typeface="맑은 고딕"/>
                <a:ea typeface="맑은 고딕"/>
              </a:rPr>
              <a:t>: </a:t>
            </a:r>
            <a:r>
              <a:rPr sz="12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특정</a:t>
            </a: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2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공급기관</a:t>
            </a: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2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메타표준</a:t>
            </a: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2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미준수</a:t>
            </a: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 → </a:t>
            </a:r>
            <a:r>
              <a:rPr sz="12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공급원별</a:t>
            </a: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2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적재</a:t>
            </a: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2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검증·출처</a:t>
            </a: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2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필수화</a:t>
            </a:r>
            <a:endParaRPr sz="1200" b="0" i="0" dirty="0">
              <a:solidFill>
                <a:srgbClr val="282D37"/>
              </a:solidFill>
              <a:latin typeface="맑은 고딕"/>
              <a:ea typeface="맑은 고딕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C5EF28B-45A4-CA02-D216-992B9144D513}"/>
              </a:ext>
            </a:extLst>
          </p:cNvPr>
          <p:cNvSpPr txBox="1"/>
          <p:nvPr/>
        </p:nvSpPr>
        <p:spPr>
          <a:xfrm>
            <a:off x="11094415" y="6446429"/>
            <a:ext cx="822960" cy="173637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000" b="0" i="0" dirty="0">
                <a:solidFill>
                  <a:srgbClr val="787878"/>
                </a:solidFill>
                <a:latin typeface="맑은 고딕"/>
                <a:ea typeface="맑은 고딕"/>
              </a:rPr>
              <a:t>12</a:t>
            </a:r>
            <a:endParaRPr sz="1000" b="0" i="0" dirty="0">
              <a:solidFill>
                <a:srgbClr val="787878"/>
              </a:solidFill>
              <a:latin typeface="맑은 고딕"/>
              <a:ea typeface="맑은 고딕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109728"/>
            <a:ext cx="11057839" cy="237744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965F"/>
                </a:solidFill>
                <a:latin typeface="맑은 고딕"/>
                <a:ea typeface="맑은 고딕"/>
              </a:rPr>
              <a:t>인텔리전스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676656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81F46"/>
                </a:solidFill>
                <a:latin typeface="맑은 고딕"/>
                <a:ea typeface="맑은 고딕"/>
              </a:rPr>
              <a:t>인텔리전스 교차도메인 데이터 연계 기회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60704"/>
            <a:ext cx="11057839" cy="27940"/>
          </a:xfrm>
          <a:prstGeom prst="rect">
            <a:avLst/>
          </a:prstGeom>
          <a:solidFill>
            <a:srgbClr val="081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25000" lnSpcReduction="20000"/>
          </a:bodyPr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094415" y="6437376"/>
            <a:ext cx="82296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87878"/>
                </a:solidFill>
                <a:latin typeface="맑은 고딕"/>
                <a:ea typeface="맑은 고딕"/>
              </a:rPr>
              <a:t>13</a:t>
            </a:r>
          </a:p>
        </p:txBody>
      </p:sp>
      <p:sp>
        <p:nvSpPr>
          <p:cNvPr id="625" name="metric-bg"/>
          <p:cNvSpPr/>
          <p:nvPr/>
        </p:nvSpPr>
        <p:spPr>
          <a:xfrm>
            <a:off x="566928" y="1115568"/>
            <a:ext cx="11055096" cy="676656"/>
          </a:xfrm>
          <a:prstGeom prst="roundRect">
            <a:avLst/>
          </a:prstGeom>
          <a:solidFill>
            <a:srgbClr val="E8F5F0"/>
          </a:solidFill>
          <a:ln w="9525">
            <a:solidFill>
              <a:srgbClr val="C7DE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626" name="metric-pattern"/>
          <p:cNvSpPr txBox="1"/>
          <p:nvPr/>
        </p:nvSpPr>
        <p:spPr>
          <a:xfrm>
            <a:off x="804672" y="1161288"/>
            <a:ext cx="10597896" cy="182880"/>
          </a:xfrm>
          <a:prstGeom prst="rect">
            <a:avLst/>
          </a:prstGeom>
          <a:noFill/>
        </p:spPr>
        <p:txBody>
          <a:bodyPr wrap="square" lIns="36576" tIns="6350" rIns="36576" bIns="6350" anchor="t">
            <a:norm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 dirty="0" err="1">
                <a:solidFill>
                  <a:srgbClr val="00965F"/>
                </a:solidFill>
                <a:latin typeface="맑은 고딕"/>
                <a:ea typeface="맑은 고딕"/>
              </a:rPr>
              <a:t>발견</a:t>
            </a:r>
            <a:r>
              <a:rPr sz="1000" b="1" i="0" dirty="0">
                <a:solidFill>
                  <a:srgbClr val="00965F"/>
                </a:solidFill>
                <a:latin typeface="맑은 고딕"/>
                <a:ea typeface="맑은 고딕"/>
              </a:rPr>
              <a:t> </a:t>
            </a:r>
            <a:r>
              <a:rPr sz="1000" b="1" i="0" dirty="0" err="1">
                <a:solidFill>
                  <a:srgbClr val="00965F"/>
                </a:solidFill>
                <a:latin typeface="맑은 고딕"/>
                <a:ea typeface="맑은 고딕"/>
              </a:rPr>
              <a:t>패턴</a:t>
            </a:r>
            <a:r>
              <a:rPr sz="1000" b="1" i="0" dirty="0">
                <a:solidFill>
                  <a:srgbClr val="00965F"/>
                </a:solidFill>
                <a:latin typeface="맑은 고딕"/>
                <a:ea typeface="맑은 고딕"/>
              </a:rPr>
              <a:t>  ▸  </a:t>
            </a:r>
            <a:r>
              <a:rPr sz="1000" b="1" i="0" dirty="0" err="1">
                <a:solidFill>
                  <a:srgbClr val="505050"/>
                </a:solidFill>
                <a:latin typeface="맑은 고딕"/>
                <a:ea typeface="맑은 고딕"/>
              </a:rPr>
              <a:t>의료기관</a:t>
            </a:r>
            <a:r>
              <a:rPr sz="1000" b="1" i="0" dirty="0">
                <a:solidFill>
                  <a:srgbClr val="505050"/>
                </a:solidFill>
                <a:latin typeface="맑은 고딕"/>
                <a:ea typeface="맑은 고딕"/>
              </a:rPr>
              <a:t> </a:t>
            </a:r>
            <a:r>
              <a:rPr sz="1000" b="1" i="0" dirty="0" err="1">
                <a:solidFill>
                  <a:srgbClr val="505050"/>
                </a:solidFill>
                <a:latin typeface="맑은 고딕"/>
                <a:ea typeface="맑은 고딕"/>
              </a:rPr>
              <a:t>패밀리</a:t>
            </a:r>
            <a:r>
              <a:rPr sz="1000" b="1" i="0" dirty="0">
                <a:solidFill>
                  <a:srgbClr val="505050"/>
                </a:solidFill>
                <a:latin typeface="맑은 고딕"/>
                <a:ea typeface="맑은 고딕"/>
              </a:rPr>
              <a:t> + </a:t>
            </a:r>
            <a:r>
              <a:rPr sz="1000" b="1" i="0" dirty="0" err="1">
                <a:solidFill>
                  <a:srgbClr val="505050"/>
                </a:solidFill>
                <a:latin typeface="맑은 고딕"/>
                <a:ea typeface="맑은 고딕"/>
              </a:rPr>
              <a:t>연관규칙</a:t>
            </a:r>
            <a:r>
              <a:rPr sz="1000" b="1" i="0" dirty="0">
                <a:solidFill>
                  <a:srgbClr val="505050"/>
                </a:solidFill>
                <a:latin typeface="맑은 고딕"/>
                <a:ea typeface="맑은 고딕"/>
              </a:rPr>
              <a:t> (conf 0.88)</a:t>
            </a:r>
          </a:p>
        </p:txBody>
      </p:sp>
      <p:sp>
        <p:nvSpPr>
          <p:cNvPr id="627" name="metric-number"/>
          <p:cNvSpPr txBox="1"/>
          <p:nvPr/>
        </p:nvSpPr>
        <p:spPr>
          <a:xfrm>
            <a:off x="786384" y="1339596"/>
            <a:ext cx="3154680" cy="420624"/>
          </a:xfrm>
          <a:prstGeom prst="rect">
            <a:avLst/>
          </a:prstGeom>
          <a:noFill/>
        </p:spPr>
        <p:txBody>
          <a:bodyPr wrap="square" lIns="36576" tIns="6350" rIns="36576" bIns="6350" anchor="ctr">
            <a:normAutofit fontScale="77500" lnSpcReduction="20000"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00965F"/>
                </a:solidFill>
                <a:latin typeface="맑은 고딕"/>
                <a:ea typeface="맑은 고딕"/>
              </a:rPr>
              <a:t>lift 46.4</a:t>
            </a:r>
          </a:p>
        </p:txBody>
      </p:sp>
      <p:sp>
        <p:nvSpPr>
          <p:cNvPr id="628" name="metric-desc"/>
          <p:cNvSpPr txBox="1"/>
          <p:nvPr/>
        </p:nvSpPr>
        <p:spPr>
          <a:xfrm>
            <a:off x="2763981" y="1339596"/>
            <a:ext cx="9153393" cy="420624"/>
          </a:xfrm>
          <a:prstGeom prst="rect">
            <a:avLst/>
          </a:prstGeom>
          <a:noFill/>
        </p:spPr>
        <p:txBody>
          <a:bodyPr wrap="square" lIns="54864" tIns="6350" rIns="54864" bIns="635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b="1" i="0" dirty="0" err="1">
                <a:solidFill>
                  <a:srgbClr val="282D37"/>
                </a:solidFill>
                <a:latin typeface="맑은 고딕"/>
                <a:ea typeface="맑은 고딕"/>
              </a:rPr>
              <a:t>명·주소·전화가</a:t>
            </a:r>
            <a:r>
              <a:rPr b="1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b="1" i="0" dirty="0" err="1">
                <a:solidFill>
                  <a:srgbClr val="282D37"/>
                </a:solidFill>
                <a:latin typeface="맑은 고딕"/>
                <a:ea typeface="맑은 고딕"/>
              </a:rPr>
              <a:t>항상</a:t>
            </a:r>
            <a:r>
              <a:rPr b="1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b="1" i="0" dirty="0" err="1">
                <a:solidFill>
                  <a:srgbClr val="282D37"/>
                </a:solidFill>
                <a:latin typeface="맑은 고딕"/>
                <a:ea typeface="맑은 고딕"/>
              </a:rPr>
              <a:t>묶여</a:t>
            </a:r>
            <a:r>
              <a:rPr b="1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b="1" i="0" dirty="0" err="1">
                <a:solidFill>
                  <a:srgbClr val="282D37"/>
                </a:solidFill>
                <a:latin typeface="맑은 고딕"/>
                <a:ea typeface="맑은 고딕"/>
              </a:rPr>
              <a:t>있어</a:t>
            </a:r>
            <a:r>
              <a:rPr b="1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b="1" i="0" dirty="0" err="1">
                <a:solidFill>
                  <a:srgbClr val="282D37"/>
                </a:solidFill>
                <a:latin typeface="맑은 고딕"/>
                <a:ea typeface="맑은 고딕"/>
              </a:rPr>
              <a:t>같은</a:t>
            </a:r>
            <a:r>
              <a:rPr b="1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b="1" i="0" dirty="0" err="1">
                <a:solidFill>
                  <a:srgbClr val="282D37"/>
                </a:solidFill>
                <a:latin typeface="맑은 고딕"/>
                <a:ea typeface="맑은 고딕"/>
              </a:rPr>
              <a:t>기관을</a:t>
            </a:r>
            <a:r>
              <a:rPr b="1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b="1" i="0" dirty="0" err="1">
                <a:solidFill>
                  <a:srgbClr val="282D37"/>
                </a:solidFill>
                <a:latin typeface="맑은 고딕"/>
                <a:ea typeface="맑은 고딕"/>
              </a:rPr>
              <a:t>연결할</a:t>
            </a:r>
            <a:r>
              <a:rPr b="1" i="0" dirty="0">
                <a:solidFill>
                  <a:srgbClr val="282D37"/>
                </a:solidFill>
                <a:latin typeface="맑은 고딕"/>
                <a:ea typeface="맑은 고딕"/>
              </a:rPr>
              <a:t> 수 </a:t>
            </a:r>
            <a:r>
              <a:rPr b="1" i="0" dirty="0" err="1">
                <a:solidFill>
                  <a:srgbClr val="282D37"/>
                </a:solidFill>
                <a:latin typeface="맑은 고딕"/>
                <a:ea typeface="맑은 고딕"/>
              </a:rPr>
              <a:t>있는</a:t>
            </a:r>
            <a:r>
              <a:rPr b="1" i="0" dirty="0">
                <a:solidFill>
                  <a:srgbClr val="282D37"/>
                </a:solidFill>
                <a:latin typeface="맑은 고딕"/>
                <a:ea typeface="맑은 고딕"/>
              </a:rPr>
              <a:t> ‘</a:t>
            </a:r>
            <a:r>
              <a:rPr b="1" i="0" dirty="0" err="1">
                <a:solidFill>
                  <a:srgbClr val="282D37"/>
                </a:solidFill>
                <a:latin typeface="맑은 고딕"/>
                <a:ea typeface="맑은 고딕"/>
              </a:rPr>
              <a:t>연계</a:t>
            </a:r>
            <a:r>
              <a:rPr b="1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b="1" i="0" dirty="0" err="1">
                <a:solidFill>
                  <a:srgbClr val="282D37"/>
                </a:solidFill>
                <a:latin typeface="맑은 고딕"/>
                <a:ea typeface="맑은 고딕"/>
              </a:rPr>
              <a:t>기회</a:t>
            </a:r>
            <a:r>
              <a:rPr b="1" i="0" dirty="0">
                <a:solidFill>
                  <a:srgbClr val="282D37"/>
                </a:solidFill>
                <a:latin typeface="맑은 고딕"/>
                <a:ea typeface="맑은 고딕"/>
              </a:rPr>
              <a:t>’</a:t>
            </a:r>
            <a:r>
              <a:rPr lang="en-US" b="1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lang="ko-KR" altLang="en-US" b="1" dirty="0">
                <a:solidFill>
                  <a:srgbClr val="282D37"/>
                </a:solidFill>
                <a:latin typeface="맑은 고딕"/>
                <a:ea typeface="맑은 고딕"/>
              </a:rPr>
              <a:t>형성</a:t>
            </a:r>
            <a:endParaRPr b="1" i="0" dirty="0">
              <a:solidFill>
                <a:srgbClr val="282D37"/>
              </a:solidFill>
              <a:latin typeface="맑은 고딕"/>
              <a:ea typeface="맑은 고딕"/>
            </a:endParaRPr>
          </a:p>
        </p:txBody>
      </p:sp>
      <p:sp>
        <p:nvSpPr>
          <p:cNvPr id="6003" name="r-bg"/>
          <p:cNvSpPr/>
          <p:nvPr/>
        </p:nvSpPr>
        <p:spPr>
          <a:xfrm>
            <a:off x="566928" y="1828800"/>
            <a:ext cx="4572000" cy="2103120"/>
          </a:xfrm>
          <a:prstGeom prst="roundRect">
            <a:avLst/>
          </a:prstGeom>
          <a:solidFill>
            <a:srgbClr val="EEF2F8"/>
          </a:solidFill>
          <a:ln w="9525">
            <a:solidFill>
              <a:srgbClr val="D0D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6004" name="r-hdr"/>
          <p:cNvSpPr/>
          <p:nvPr/>
        </p:nvSpPr>
        <p:spPr>
          <a:xfrm>
            <a:off x="566928" y="1828800"/>
            <a:ext cx="4572000" cy="329184"/>
          </a:xfrm>
          <a:prstGeom prst="roundRect">
            <a:avLst/>
          </a:prstGeom>
          <a:solidFill>
            <a:srgbClr val="081F46"/>
          </a:solidFill>
          <a:ln w="9525">
            <a:solidFill>
              <a:srgbClr val="081F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85000" lnSpcReduction="20000"/>
          </a:bodyPr>
          <a:lstStyle/>
          <a:p>
            <a:pPr algn="ctr"/>
            <a:endParaRPr/>
          </a:p>
        </p:txBody>
      </p:sp>
      <p:sp>
        <p:nvSpPr>
          <p:cNvPr id="6005" name="r-title"/>
          <p:cNvSpPr txBox="1"/>
          <p:nvPr/>
        </p:nvSpPr>
        <p:spPr>
          <a:xfrm>
            <a:off x="566928" y="1828800"/>
            <a:ext cx="4572000" cy="329184"/>
          </a:xfrm>
          <a:prstGeom prst="rect">
            <a:avLst/>
          </a:prstGeom>
          <a:noFill/>
        </p:spPr>
        <p:txBody>
          <a:bodyPr wrap="square" lIns="118872" tIns="6350" rIns="118872" bIns="6350" anchor="ctr">
            <a:norm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1" i="0" dirty="0">
                <a:solidFill>
                  <a:srgbClr val="FFFFFF"/>
                </a:solidFill>
                <a:latin typeface="맑은 고딕"/>
                <a:ea typeface="맑은 고딕"/>
              </a:rPr>
              <a:t>① </a:t>
            </a:r>
            <a:r>
              <a:rPr sz="1400" b="1" i="0" dirty="0" err="1">
                <a:solidFill>
                  <a:srgbClr val="FFFFFF"/>
                </a:solidFill>
                <a:latin typeface="맑은 고딕"/>
                <a:ea typeface="맑은 고딕"/>
              </a:rPr>
              <a:t>의료기관</a:t>
            </a:r>
            <a:r>
              <a:rPr sz="1400" b="1" i="0" dirty="0">
                <a:solidFill>
                  <a:srgbClr val="FFFFFF"/>
                </a:solidFill>
                <a:latin typeface="맑은 고딕"/>
                <a:ea typeface="맑은 고딕"/>
              </a:rPr>
              <a:t> </a:t>
            </a:r>
            <a:r>
              <a:rPr sz="1400" b="1" i="0" dirty="0" err="1">
                <a:solidFill>
                  <a:srgbClr val="FFFFFF"/>
                </a:solidFill>
                <a:latin typeface="맑은 고딕"/>
                <a:ea typeface="맑은 고딕"/>
              </a:rPr>
              <a:t>패밀리</a:t>
            </a:r>
            <a:r>
              <a:rPr sz="1400" b="1" i="0" dirty="0">
                <a:solidFill>
                  <a:srgbClr val="FFFFFF"/>
                </a:solidFill>
                <a:latin typeface="맑은 고딕"/>
                <a:ea typeface="맑은 고딕"/>
              </a:rPr>
              <a:t> </a:t>
            </a:r>
            <a:r>
              <a:rPr sz="1400" b="1" i="0" dirty="0" err="1">
                <a:solidFill>
                  <a:srgbClr val="FFFFFF"/>
                </a:solidFill>
                <a:latin typeface="맑은 고딕"/>
                <a:ea typeface="맑은 고딕"/>
              </a:rPr>
              <a:t>생성</a:t>
            </a:r>
            <a:endParaRPr sz="1400" b="1" i="0" dirty="0">
              <a:solidFill>
                <a:srgbClr val="FFFFFF"/>
              </a:solidFill>
              <a:latin typeface="맑은 고딕"/>
              <a:ea typeface="맑은 고딕"/>
            </a:endParaRPr>
          </a:p>
        </p:txBody>
      </p:sp>
      <p:sp>
        <p:nvSpPr>
          <p:cNvPr id="6006" name="r-fam"/>
          <p:cNvSpPr txBox="1"/>
          <p:nvPr/>
        </p:nvSpPr>
        <p:spPr>
          <a:xfrm>
            <a:off x="685800" y="2203704"/>
            <a:ext cx="4334256" cy="1682496"/>
          </a:xfrm>
          <a:prstGeom prst="rect">
            <a:avLst/>
          </a:prstGeom>
          <a:noFill/>
        </p:spPr>
        <p:txBody>
          <a:bodyPr wrap="square" lIns="12700" tIns="6350" rIns="12700" bIns="6350" anchor="t">
            <a:norm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6"/>
              </a:spcAft>
              <a:buNone/>
            </a:pPr>
            <a:r>
              <a:rPr sz="1200" b="1" i="0" dirty="0" err="1">
                <a:solidFill>
                  <a:srgbClr val="081F46"/>
                </a:solidFill>
                <a:latin typeface="맑은 고딕"/>
                <a:ea typeface="맑은 고딕"/>
              </a:rPr>
              <a:t>장바구니</a:t>
            </a:r>
            <a:r>
              <a:rPr sz="1200" b="1" i="0" dirty="0">
                <a:solidFill>
                  <a:srgbClr val="081F46"/>
                </a:solidFill>
                <a:latin typeface="맑은 고딕"/>
                <a:ea typeface="맑은 고딕"/>
              </a:rPr>
              <a:t>: </a:t>
            </a: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각 </a:t>
            </a:r>
            <a:r>
              <a:rPr sz="12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테이블</a:t>
            </a: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 → </a:t>
            </a:r>
            <a:r>
              <a:rPr sz="12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보유</a:t>
            </a: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2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컬럼개념</a:t>
            </a: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2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집합</a:t>
            </a:r>
            <a:endParaRPr sz="12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6"/>
              </a:spcAft>
              <a:buNone/>
            </a:pPr>
            <a:r>
              <a:rPr sz="1200" b="1" i="0" dirty="0">
                <a:solidFill>
                  <a:srgbClr val="081F46"/>
                </a:solidFill>
                <a:latin typeface="맑은 고딕"/>
                <a:ea typeface="맑은 고딕"/>
              </a:rPr>
              <a:t>FP-Growth: </a:t>
            </a:r>
            <a:r>
              <a:rPr sz="12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최대빈발</a:t>
            </a: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2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항목집합</a:t>
            </a: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(≥8테이블)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6"/>
              </a:spcAft>
              <a:buNone/>
            </a:pPr>
            <a:r>
              <a:rPr sz="1200" b="1" i="0" dirty="0" err="1">
                <a:solidFill>
                  <a:srgbClr val="00965F"/>
                </a:solidFill>
                <a:latin typeface="맑은 고딕"/>
                <a:ea typeface="맑은 고딕"/>
              </a:rPr>
              <a:t>결과</a:t>
            </a:r>
            <a:r>
              <a:rPr sz="1200" b="1" i="0" dirty="0">
                <a:solidFill>
                  <a:srgbClr val="00965F"/>
                </a:solidFill>
                <a:latin typeface="맑은 고딕"/>
                <a:ea typeface="맑은 고딕"/>
              </a:rPr>
              <a:t>: </a:t>
            </a: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{</a:t>
            </a:r>
            <a:r>
              <a:rPr sz="12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순번·의료기관명·의료기관전화번호·의료기관주소</a:t>
            </a: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} 4컬럼 </a:t>
            </a:r>
            <a:r>
              <a:rPr sz="12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공통</a:t>
            </a:r>
            <a:endParaRPr sz="12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 dirty="0" err="1">
                <a:solidFill>
                  <a:srgbClr val="081F46"/>
                </a:solidFill>
                <a:latin typeface="맑은 고딕"/>
                <a:ea typeface="맑은 고딕"/>
              </a:rPr>
              <a:t>연계</a:t>
            </a:r>
            <a:r>
              <a:rPr sz="1200" b="1" i="0" dirty="0">
                <a:solidFill>
                  <a:srgbClr val="081F46"/>
                </a:solidFill>
                <a:latin typeface="맑은 고딕"/>
                <a:ea typeface="맑은 고딕"/>
              </a:rPr>
              <a:t> 키 </a:t>
            </a:r>
            <a:r>
              <a:rPr sz="1200" b="1" i="0" dirty="0" err="1">
                <a:solidFill>
                  <a:srgbClr val="081F46"/>
                </a:solidFill>
                <a:latin typeface="맑은 고딕"/>
                <a:ea typeface="맑은 고딕"/>
              </a:rPr>
              <a:t>후보</a:t>
            </a:r>
            <a:r>
              <a:rPr sz="1200" b="1" i="0" dirty="0">
                <a:solidFill>
                  <a:srgbClr val="081F46"/>
                </a:solidFill>
                <a:latin typeface="맑은 고딕"/>
                <a:ea typeface="맑은 고딕"/>
              </a:rPr>
              <a:t>: </a:t>
            </a:r>
            <a:r>
              <a:rPr sz="12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전화·주소·명·위경도</a:t>
            </a: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 (</a:t>
            </a:r>
            <a:r>
              <a:rPr sz="12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공통</a:t>
            </a: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2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조인</a:t>
            </a: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 키)</a:t>
            </a:r>
          </a:p>
        </p:txBody>
      </p:sp>
      <p:sp>
        <p:nvSpPr>
          <p:cNvPr id="6007" name="r-bg"/>
          <p:cNvSpPr/>
          <p:nvPr/>
        </p:nvSpPr>
        <p:spPr>
          <a:xfrm>
            <a:off x="566928" y="4069080"/>
            <a:ext cx="4572000" cy="2240280"/>
          </a:xfrm>
          <a:prstGeom prst="roundRect">
            <a:avLst/>
          </a:prstGeom>
          <a:solidFill>
            <a:srgbClr val="E8F5F0"/>
          </a:solidFill>
          <a:ln w="9525">
            <a:solidFill>
              <a:srgbClr val="D0D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6008" name="r-hdr"/>
          <p:cNvSpPr/>
          <p:nvPr/>
        </p:nvSpPr>
        <p:spPr>
          <a:xfrm>
            <a:off x="566928" y="4069080"/>
            <a:ext cx="4572000" cy="329184"/>
          </a:xfrm>
          <a:prstGeom prst="roundRect">
            <a:avLst/>
          </a:prstGeom>
          <a:solidFill>
            <a:srgbClr val="00965F"/>
          </a:solidFill>
          <a:ln w="9525">
            <a:solidFill>
              <a:srgbClr val="0096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85000" lnSpcReduction="20000"/>
          </a:bodyPr>
          <a:lstStyle/>
          <a:p>
            <a:pPr algn="ctr"/>
            <a:endParaRPr/>
          </a:p>
        </p:txBody>
      </p:sp>
      <p:sp>
        <p:nvSpPr>
          <p:cNvPr id="6009" name="r-title"/>
          <p:cNvSpPr txBox="1"/>
          <p:nvPr/>
        </p:nvSpPr>
        <p:spPr>
          <a:xfrm>
            <a:off x="566928" y="4069080"/>
            <a:ext cx="4572000" cy="329184"/>
          </a:xfrm>
          <a:prstGeom prst="rect">
            <a:avLst/>
          </a:prstGeom>
          <a:noFill/>
        </p:spPr>
        <p:txBody>
          <a:bodyPr wrap="square" lIns="118872" tIns="6350" rIns="118872" bIns="6350" anchor="ctr">
            <a:norm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1" i="0">
                <a:solidFill>
                  <a:srgbClr val="FFFFFF"/>
                </a:solidFill>
                <a:latin typeface="맑은 고딕"/>
                <a:ea typeface="맑은 고딕"/>
              </a:rPr>
              <a:t>③ 연관규칙 — 연계 근거</a:t>
            </a:r>
          </a:p>
        </p:txBody>
      </p:sp>
      <p:sp>
        <p:nvSpPr>
          <p:cNvPr id="6010" name="r-chip"/>
          <p:cNvSpPr/>
          <p:nvPr/>
        </p:nvSpPr>
        <p:spPr>
          <a:xfrm>
            <a:off x="1069848" y="4489704"/>
            <a:ext cx="3566160" cy="365760"/>
          </a:xfrm>
          <a:prstGeom prst="roundRect">
            <a:avLst/>
          </a:prstGeom>
          <a:solidFill>
            <a:srgbClr val="E8F5F0"/>
          </a:solidFill>
          <a:ln w="9525">
            <a:solidFill>
              <a:srgbClr val="0096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92500" lnSpcReduction="10000"/>
          </a:bodyPr>
          <a:lstStyle/>
          <a:p>
            <a:pPr algn="ctr"/>
            <a:endParaRPr/>
          </a:p>
        </p:txBody>
      </p:sp>
      <p:sp>
        <p:nvSpPr>
          <p:cNvPr id="6011" name="r-chiptx"/>
          <p:cNvSpPr txBox="1"/>
          <p:nvPr/>
        </p:nvSpPr>
        <p:spPr>
          <a:xfrm>
            <a:off x="1069848" y="4489704"/>
            <a:ext cx="3566160" cy="365760"/>
          </a:xfrm>
          <a:prstGeom prst="rect">
            <a:avLst/>
          </a:prstGeom>
          <a:noFill/>
        </p:spPr>
        <p:txBody>
          <a:bodyPr wrap="square" lIns="6350" tIns="6350" rIns="6350" bIns="6350" anchor="ctr">
            <a:norm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1" i="0" dirty="0" err="1">
                <a:solidFill>
                  <a:srgbClr val="00965F"/>
                </a:solidFill>
                <a:latin typeface="맑은 고딕"/>
                <a:ea typeface="맑은 고딕"/>
              </a:rPr>
              <a:t>의료기관전화번호</a:t>
            </a:r>
            <a:endParaRPr sz="1400" b="1" i="0" dirty="0">
              <a:solidFill>
                <a:srgbClr val="00965F"/>
              </a:solidFill>
              <a:latin typeface="맑은 고딕"/>
              <a:ea typeface="맑은 고딕"/>
            </a:endParaRPr>
          </a:p>
        </p:txBody>
      </p:sp>
      <p:sp>
        <p:nvSpPr>
          <p:cNvPr id="6012" name="r-arrow"/>
          <p:cNvSpPr txBox="1"/>
          <p:nvPr/>
        </p:nvSpPr>
        <p:spPr>
          <a:xfrm>
            <a:off x="1069848" y="4855464"/>
            <a:ext cx="3566160" cy="274320"/>
          </a:xfrm>
          <a:prstGeom prst="rect">
            <a:avLst/>
          </a:prstGeom>
          <a:noFill/>
        </p:spPr>
        <p:txBody>
          <a:bodyPr wrap="square" lIns="0" tIns="6350" rIns="0" bIns="6350" anchor="ctr">
            <a:norm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>
                <a:solidFill>
                  <a:srgbClr val="505050"/>
                </a:solidFill>
                <a:latin typeface="맑은 고딕"/>
                <a:ea typeface="맑은 고딕"/>
              </a:rPr>
              <a:t>▼</a:t>
            </a:r>
          </a:p>
        </p:txBody>
      </p:sp>
      <p:sp>
        <p:nvSpPr>
          <p:cNvPr id="6013" name="r-chip"/>
          <p:cNvSpPr/>
          <p:nvPr/>
        </p:nvSpPr>
        <p:spPr>
          <a:xfrm>
            <a:off x="1069848" y="5129784"/>
            <a:ext cx="3566160" cy="365760"/>
          </a:xfrm>
          <a:prstGeom prst="roundRect">
            <a:avLst/>
          </a:prstGeom>
          <a:solidFill>
            <a:srgbClr val="EEF2F8"/>
          </a:solidFill>
          <a:ln w="9525">
            <a:solidFill>
              <a:srgbClr val="081F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92500" lnSpcReduction="10000"/>
          </a:bodyPr>
          <a:lstStyle/>
          <a:p>
            <a:pPr algn="ctr"/>
            <a:endParaRPr/>
          </a:p>
        </p:txBody>
      </p:sp>
      <p:sp>
        <p:nvSpPr>
          <p:cNvPr id="6014" name="r-chiptx"/>
          <p:cNvSpPr txBox="1"/>
          <p:nvPr/>
        </p:nvSpPr>
        <p:spPr>
          <a:xfrm>
            <a:off x="1069848" y="5129784"/>
            <a:ext cx="3566160" cy="365760"/>
          </a:xfrm>
          <a:prstGeom prst="rect">
            <a:avLst/>
          </a:prstGeom>
          <a:noFill/>
        </p:spPr>
        <p:txBody>
          <a:bodyPr wrap="square" lIns="6350" tIns="6350" rIns="6350" bIns="6350" anchor="ctr">
            <a:norm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1" i="0">
                <a:solidFill>
                  <a:srgbClr val="081F46"/>
                </a:solidFill>
                <a:latin typeface="맑은 고딕"/>
                <a:ea typeface="맑은 고딕"/>
              </a:rPr>
              <a:t>의료기관명 · 의료기관주소</a:t>
            </a:r>
          </a:p>
        </p:txBody>
      </p:sp>
      <p:sp>
        <p:nvSpPr>
          <p:cNvPr id="6015" name="r-rule"/>
          <p:cNvSpPr txBox="1"/>
          <p:nvPr/>
        </p:nvSpPr>
        <p:spPr>
          <a:xfrm>
            <a:off x="713232" y="5605272"/>
            <a:ext cx="4297680" cy="731520"/>
          </a:xfrm>
          <a:prstGeom prst="rect">
            <a:avLst/>
          </a:prstGeom>
          <a:noFill/>
        </p:spPr>
        <p:txBody>
          <a:bodyPr wrap="square" lIns="12700" tIns="6350" rIns="12700" bIns="6350" anchor="t">
            <a:norm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6"/>
              </a:spcAft>
              <a:buNone/>
            </a:pPr>
            <a:r>
              <a:rPr sz="1200" b="1" i="0" dirty="0">
                <a:solidFill>
                  <a:srgbClr val="081F46"/>
                </a:solidFill>
                <a:latin typeface="맑은 고딕"/>
                <a:ea typeface="맑은 고딕"/>
              </a:rPr>
              <a:t>support 15 · conf 0.88 · lift 46.4</a:t>
            </a:r>
          </a:p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→ </a:t>
            </a:r>
            <a:r>
              <a:rPr sz="12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같은</a:t>
            </a: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2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기관을</a:t>
            </a: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2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여러</a:t>
            </a: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2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데이터셋에서</a:t>
            </a: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2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연결</a:t>
            </a: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 = </a:t>
            </a:r>
            <a:r>
              <a:rPr sz="12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연계</a:t>
            </a: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2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기회</a:t>
            </a:r>
            <a:endParaRPr sz="1200" b="0" i="0" dirty="0">
              <a:solidFill>
                <a:srgbClr val="282D37"/>
              </a:solidFill>
              <a:latin typeface="맑은 고딕"/>
              <a:ea typeface="맑은 고딕"/>
            </a:endParaRPr>
          </a:p>
        </p:txBody>
      </p:sp>
      <p:sp>
        <p:nvSpPr>
          <p:cNvPr id="6016" name="r-bg"/>
          <p:cNvSpPr/>
          <p:nvPr/>
        </p:nvSpPr>
        <p:spPr>
          <a:xfrm>
            <a:off x="5321808" y="1828800"/>
            <a:ext cx="6300216" cy="4480560"/>
          </a:xfrm>
          <a:prstGeom prst="roundRect">
            <a:avLst/>
          </a:prstGeom>
          <a:solidFill>
            <a:srgbClr val="EEF2F8"/>
          </a:solidFill>
          <a:ln w="9525">
            <a:solidFill>
              <a:srgbClr val="D0D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6017" name="r-hdr"/>
          <p:cNvSpPr/>
          <p:nvPr/>
        </p:nvSpPr>
        <p:spPr>
          <a:xfrm>
            <a:off x="5321808" y="1828800"/>
            <a:ext cx="6300216" cy="329184"/>
          </a:xfrm>
          <a:prstGeom prst="roundRect">
            <a:avLst/>
          </a:prstGeom>
          <a:solidFill>
            <a:srgbClr val="081F46"/>
          </a:solidFill>
          <a:ln w="9525">
            <a:solidFill>
              <a:srgbClr val="081F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85000" lnSpcReduction="20000"/>
          </a:bodyPr>
          <a:lstStyle/>
          <a:p>
            <a:pPr algn="ctr"/>
            <a:endParaRPr/>
          </a:p>
        </p:txBody>
      </p:sp>
      <p:sp>
        <p:nvSpPr>
          <p:cNvPr id="6018" name="r-title"/>
          <p:cNvSpPr txBox="1"/>
          <p:nvPr/>
        </p:nvSpPr>
        <p:spPr>
          <a:xfrm>
            <a:off x="5321808" y="1828800"/>
            <a:ext cx="6300216" cy="329184"/>
          </a:xfrm>
          <a:prstGeom prst="rect">
            <a:avLst/>
          </a:prstGeom>
          <a:noFill/>
        </p:spPr>
        <p:txBody>
          <a:bodyPr wrap="square" lIns="118872" tIns="6350" rIns="118872" bIns="6350" anchor="ctr">
            <a:norm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1" i="0">
                <a:solidFill>
                  <a:srgbClr val="FFFFFF"/>
                </a:solidFill>
                <a:latin typeface="맑은 고딕"/>
                <a:ea typeface="맑은 고딕"/>
              </a:rPr>
              <a:t>② 패밀리 구성 11개 테이블 (보건 · 4컬럼 공통 보유)</a:t>
            </a:r>
          </a:p>
        </p:txBody>
      </p:sp>
      <p:graphicFrame>
        <p:nvGraphicFramePr>
          <p:cNvPr id="6019" name="list-tbl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10299688"/>
              </p:ext>
            </p:extLst>
          </p:nvPr>
        </p:nvGraphicFramePr>
        <p:xfrm>
          <a:off x="5452872" y="2334006"/>
          <a:ext cx="6025896" cy="3529584"/>
        </p:xfrm>
        <a:graphic>
          <a:graphicData uri="http://schemas.openxmlformats.org/drawingml/2006/table">
            <a:tbl>
              <a:tblPr firstRow="1" bandRow="1"/>
              <a:tblGrid>
                <a:gridCol w="411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813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6382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6926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pPr algn="ctr"/>
                      <a:r>
                        <a:rPr lang="ko-KR" sz="1200" b="1" dirty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#</a:t>
                      </a:r>
                    </a:p>
                  </a:txBody>
                  <a:tcPr anchor="ctr">
                    <a:solidFill>
                      <a:srgbClr val="081F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200" b="1" dirty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지자체</a:t>
                      </a:r>
                    </a:p>
                  </a:txBody>
                  <a:tcPr anchor="ctr">
                    <a:solidFill>
                      <a:srgbClr val="081F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200" b="1" dirty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데이터셋(의료기관 유형)</a:t>
                      </a:r>
                    </a:p>
                  </a:txBody>
                  <a:tcPr anchor="ctr">
                    <a:solidFill>
                      <a:srgbClr val="081F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200" b="1" dirty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레코드</a:t>
                      </a:r>
                    </a:p>
                  </a:txBody>
                  <a:tcPr anchor="ctr">
                    <a:solidFill>
                      <a:srgbClr val="081F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ctr"/>
                      <a:r>
                        <a:rPr lang="ko-KR" sz="1200" b="1" dirty="0">
                          <a:solidFill>
                            <a:srgbClr val="081F46"/>
                          </a:solidFill>
                          <a:latin typeface="맑은 고딕"/>
                          <a:ea typeface="맑은 고딕"/>
                        </a:rPr>
                        <a:t>1</a:t>
                      </a:r>
                    </a:p>
                  </a:txBody>
                  <a:tcPr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200" b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전북 익산시</a:t>
                      </a:r>
                    </a:p>
                  </a:txBody>
                  <a:tcPr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200" b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의료기관</a:t>
                      </a:r>
                    </a:p>
                  </a:txBody>
                  <a:tcPr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200" b="1">
                          <a:solidFill>
                            <a:srgbClr val="00965F"/>
                          </a:solidFill>
                          <a:latin typeface="맑은 고딕"/>
                          <a:ea typeface="맑은 고딕"/>
                        </a:rPr>
                        <a:t>368</a:t>
                      </a:r>
                    </a:p>
                  </a:txBody>
                  <a:tcPr anchor="ctr"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ctr"/>
                      <a:r>
                        <a:rPr lang="ko-KR" sz="1200" b="1">
                          <a:solidFill>
                            <a:srgbClr val="081F46"/>
                          </a:solidFill>
                          <a:latin typeface="맑은 고딕"/>
                          <a:ea typeface="맑은 고딕"/>
                        </a:rPr>
                        <a:t>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200" b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인천 부평구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200" b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의료기관 현황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200" b="1">
                          <a:solidFill>
                            <a:srgbClr val="00965F"/>
                          </a:solidFill>
                          <a:latin typeface="맑은 고딕"/>
                          <a:ea typeface="맑은 고딕"/>
                        </a:rPr>
                        <a:t>682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ctr"/>
                      <a:r>
                        <a:rPr lang="ko-KR" sz="1200" b="1">
                          <a:solidFill>
                            <a:srgbClr val="081F46"/>
                          </a:solidFill>
                          <a:latin typeface="맑은 고딕"/>
                          <a:ea typeface="맑은 고딕"/>
                        </a:rPr>
                        <a:t>3</a:t>
                      </a:r>
                    </a:p>
                  </a:txBody>
                  <a:tcPr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200" b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부산 강서구</a:t>
                      </a:r>
                    </a:p>
                  </a:txBody>
                  <a:tcPr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200" b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병의원</a:t>
                      </a:r>
                      <a:r>
                        <a:rPr lang="ko-KR" sz="1200" b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 현황</a:t>
                      </a:r>
                    </a:p>
                  </a:txBody>
                  <a:tcPr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200" b="1">
                          <a:solidFill>
                            <a:srgbClr val="00965F"/>
                          </a:solidFill>
                          <a:latin typeface="맑은 고딕"/>
                          <a:ea typeface="맑은 고딕"/>
                        </a:rPr>
                        <a:t>118</a:t>
                      </a:r>
                    </a:p>
                  </a:txBody>
                  <a:tcPr anchor="ctr"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ctr"/>
                      <a:r>
                        <a:rPr lang="ko-KR" sz="1200" b="1">
                          <a:solidFill>
                            <a:srgbClr val="081F46"/>
                          </a:solidFill>
                          <a:latin typeface="맑은 고딕"/>
                          <a:ea typeface="맑은 고딕"/>
                        </a:rPr>
                        <a:t>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200" b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전남 목포시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200" b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병원현황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200" b="1">
                          <a:solidFill>
                            <a:srgbClr val="00965F"/>
                          </a:solidFill>
                          <a:latin typeface="맑은 고딕"/>
                          <a:ea typeface="맑은 고딕"/>
                        </a:rPr>
                        <a:t>42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ctr"/>
                      <a:r>
                        <a:rPr lang="ko-KR" sz="1200" b="1">
                          <a:solidFill>
                            <a:srgbClr val="081F46"/>
                          </a:solidFill>
                          <a:latin typeface="맑은 고딕"/>
                          <a:ea typeface="맑은 고딕"/>
                        </a:rPr>
                        <a:t>5</a:t>
                      </a:r>
                    </a:p>
                  </a:txBody>
                  <a:tcPr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200" b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대전 동구</a:t>
                      </a:r>
                    </a:p>
                  </a:txBody>
                  <a:tcPr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200" b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특수의료장비 공동활용병상 의료기관</a:t>
                      </a:r>
                    </a:p>
                  </a:txBody>
                  <a:tcPr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200" b="1">
                          <a:solidFill>
                            <a:srgbClr val="00965F"/>
                          </a:solidFill>
                          <a:latin typeface="맑은 고딕"/>
                          <a:ea typeface="맑은 고딕"/>
                        </a:rPr>
                        <a:t>26</a:t>
                      </a:r>
                    </a:p>
                  </a:txBody>
                  <a:tcPr anchor="ctr"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ctr"/>
                      <a:r>
                        <a:rPr lang="ko-KR" sz="1200" b="1">
                          <a:solidFill>
                            <a:srgbClr val="081F46"/>
                          </a:solidFill>
                          <a:latin typeface="맑은 고딕"/>
                          <a:ea typeface="맑은 고딕"/>
                        </a:rPr>
                        <a:t>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200" b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부산 기장군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200" b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한의원 현황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200" b="1">
                          <a:solidFill>
                            <a:srgbClr val="00965F"/>
                          </a:solidFill>
                          <a:latin typeface="맑은 고딕"/>
                          <a:ea typeface="맑은 고딕"/>
                        </a:rPr>
                        <a:t>39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ctr"/>
                      <a:r>
                        <a:rPr lang="ko-KR" sz="1200" b="1">
                          <a:solidFill>
                            <a:srgbClr val="081F46"/>
                          </a:solidFill>
                          <a:latin typeface="맑은 고딕"/>
                          <a:ea typeface="맑은 고딕"/>
                        </a:rPr>
                        <a:t>7</a:t>
                      </a:r>
                    </a:p>
                  </a:txBody>
                  <a:tcPr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200" b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충남 아산시</a:t>
                      </a:r>
                    </a:p>
                  </a:txBody>
                  <a:tcPr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200" b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한의원현황</a:t>
                      </a:r>
                    </a:p>
                  </a:txBody>
                  <a:tcPr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200" b="1">
                          <a:solidFill>
                            <a:srgbClr val="00965F"/>
                          </a:solidFill>
                          <a:latin typeface="맑은 고딕"/>
                          <a:ea typeface="맑은 고딕"/>
                        </a:rPr>
                        <a:t>61</a:t>
                      </a:r>
                    </a:p>
                  </a:txBody>
                  <a:tcPr anchor="ctr"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ctr"/>
                      <a:r>
                        <a:rPr lang="ko-KR" sz="1200" b="1">
                          <a:solidFill>
                            <a:srgbClr val="081F46"/>
                          </a:solidFill>
                          <a:latin typeface="맑은 고딕"/>
                          <a:ea typeface="맑은 고딕"/>
                        </a:rPr>
                        <a:t>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200" b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충남 아산시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200" b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치과의원현황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200" b="1">
                          <a:solidFill>
                            <a:srgbClr val="00965F"/>
                          </a:solidFill>
                          <a:latin typeface="맑은 고딕"/>
                          <a:ea typeface="맑은 고딕"/>
                        </a:rPr>
                        <a:t>93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ctr"/>
                      <a:r>
                        <a:rPr lang="ko-KR" sz="1200" b="1">
                          <a:solidFill>
                            <a:srgbClr val="081F46"/>
                          </a:solidFill>
                          <a:latin typeface="맑은 고딕"/>
                          <a:ea typeface="맑은 고딕"/>
                        </a:rPr>
                        <a:t>9</a:t>
                      </a:r>
                    </a:p>
                  </a:txBody>
                  <a:tcPr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200" b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전북 김제시</a:t>
                      </a:r>
                    </a:p>
                  </a:txBody>
                  <a:tcPr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200" b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병원현황</a:t>
                      </a:r>
                    </a:p>
                  </a:txBody>
                  <a:tcPr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200" b="1">
                          <a:solidFill>
                            <a:srgbClr val="00965F"/>
                          </a:solidFill>
                          <a:latin typeface="맑은 고딕"/>
                          <a:ea typeface="맑은 고딕"/>
                        </a:rPr>
                        <a:t>65</a:t>
                      </a:r>
                    </a:p>
                  </a:txBody>
                  <a:tcPr anchor="ctr"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ctr"/>
                      <a:r>
                        <a:rPr lang="ko-KR" sz="1200" b="1">
                          <a:solidFill>
                            <a:srgbClr val="081F46"/>
                          </a:solidFill>
                          <a:latin typeface="맑은 고딕"/>
                          <a:ea typeface="맑은 고딕"/>
                        </a:rPr>
                        <a:t>10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200" b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부산 북구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200" b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의원급의료기관</a:t>
                      </a:r>
                      <a:r>
                        <a:rPr lang="ko-KR" sz="1200" b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 현황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200" b="1" dirty="0">
                          <a:solidFill>
                            <a:srgbClr val="00965F"/>
                          </a:solidFill>
                          <a:latin typeface="맑은 고딕"/>
                          <a:ea typeface="맑은 고딕"/>
                        </a:rPr>
                        <a:t>339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ctr"/>
                      <a:r>
                        <a:rPr lang="ko-KR" sz="1200" b="1">
                          <a:solidFill>
                            <a:srgbClr val="081F46"/>
                          </a:solidFill>
                          <a:latin typeface="맑은 고딕"/>
                          <a:ea typeface="맑은 고딕"/>
                        </a:rPr>
                        <a:t>11</a:t>
                      </a:r>
                    </a:p>
                  </a:txBody>
                  <a:tcPr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200" b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부산 동래구</a:t>
                      </a:r>
                    </a:p>
                  </a:txBody>
                  <a:tcPr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200" b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피부과의원</a:t>
                      </a:r>
                    </a:p>
                  </a:txBody>
                  <a:tcPr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200" b="1" dirty="0">
                          <a:solidFill>
                            <a:srgbClr val="00965F"/>
                          </a:solidFill>
                          <a:latin typeface="맑은 고딕"/>
                          <a:ea typeface="맑은 고딕"/>
                        </a:rPr>
                        <a:t>11</a:t>
                      </a:r>
                    </a:p>
                  </a:txBody>
                  <a:tcPr anchor="ctr"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109728"/>
            <a:ext cx="11057839" cy="237744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965F"/>
                </a:solidFill>
                <a:latin typeface="맑은 고딕"/>
                <a:ea typeface="맑은 고딕"/>
              </a:rPr>
              <a:t>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676656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81F46"/>
                </a:solidFill>
                <a:latin typeface="맑은 고딕"/>
                <a:ea typeface="맑은 고딕"/>
              </a:rPr>
              <a:t>종합 시사점 및 거버넌스 대책 로드맵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60704"/>
            <a:ext cx="11057839" cy="27940"/>
          </a:xfrm>
          <a:prstGeom prst="rect">
            <a:avLst/>
          </a:prstGeom>
          <a:solidFill>
            <a:srgbClr val="081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25000" lnSpcReduction="20000"/>
          </a:bodyPr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66928" y="1170432"/>
            <a:ext cx="11057839" cy="512064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 dirty="0" err="1">
                <a:solidFill>
                  <a:srgbClr val="00965F"/>
                </a:solidFill>
                <a:latin typeface="맑은 고딕"/>
                <a:ea typeface="맑은 고딕"/>
              </a:rPr>
              <a:t>발견을</a:t>
            </a:r>
            <a:r>
              <a:rPr sz="1800" b="1" i="0" dirty="0">
                <a:solidFill>
                  <a:srgbClr val="00965F"/>
                </a:solidFill>
                <a:latin typeface="맑은 고딕"/>
                <a:ea typeface="맑은 고딕"/>
              </a:rPr>
              <a:t> </a:t>
            </a:r>
            <a:r>
              <a:rPr sz="1800" b="1" i="0" dirty="0" err="1">
                <a:solidFill>
                  <a:srgbClr val="00965F"/>
                </a:solidFill>
                <a:latin typeface="맑은 고딕"/>
                <a:ea typeface="맑은 고딕"/>
              </a:rPr>
              <a:t>즉시·단기·중기</a:t>
            </a:r>
            <a:r>
              <a:rPr sz="1800" b="1" i="0" dirty="0">
                <a:solidFill>
                  <a:srgbClr val="00965F"/>
                </a:solidFill>
                <a:latin typeface="맑은 고딕"/>
                <a:ea typeface="맑은 고딕"/>
              </a:rPr>
              <a:t> </a:t>
            </a:r>
            <a:r>
              <a:rPr sz="1800" b="1" i="0" dirty="0" err="1">
                <a:solidFill>
                  <a:srgbClr val="00965F"/>
                </a:solidFill>
                <a:latin typeface="맑은 고딕"/>
                <a:ea typeface="맑은 고딕"/>
              </a:rPr>
              <a:t>조치로</a:t>
            </a:r>
            <a:r>
              <a:rPr sz="1800" b="1" i="0" dirty="0">
                <a:solidFill>
                  <a:srgbClr val="00965F"/>
                </a:solidFill>
                <a:latin typeface="맑은 고딕"/>
                <a:ea typeface="맑은 고딕"/>
              </a:rPr>
              <a:t> </a:t>
            </a:r>
            <a:r>
              <a:rPr sz="1800" b="1" i="0" dirty="0" err="1">
                <a:solidFill>
                  <a:srgbClr val="00965F"/>
                </a:solidFill>
                <a:latin typeface="맑은 고딕"/>
                <a:ea typeface="맑은 고딕"/>
              </a:rPr>
              <a:t>우선순위화함</a:t>
            </a:r>
            <a:endParaRPr sz="1800" b="1" i="0" dirty="0">
              <a:solidFill>
                <a:srgbClr val="00965F"/>
              </a:solidFill>
              <a:latin typeface="맑은 고딕"/>
              <a:ea typeface="맑은 고딕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094415" y="6437376"/>
            <a:ext cx="82296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87878"/>
                </a:solidFill>
                <a:latin typeface="맑은 고딕"/>
                <a:ea typeface="맑은 고딕"/>
              </a:rPr>
              <a:t>14</a:t>
            </a:r>
          </a:p>
        </p:txBody>
      </p:sp>
      <p:sp>
        <p:nvSpPr>
          <p:cNvPr id="7010" name="f-bg"/>
          <p:cNvSpPr/>
          <p:nvPr/>
        </p:nvSpPr>
        <p:spPr>
          <a:xfrm>
            <a:off x="566928" y="1874520"/>
            <a:ext cx="3502152" cy="4023360"/>
          </a:xfrm>
          <a:prstGeom prst="roundRect">
            <a:avLst/>
          </a:prstGeom>
          <a:solidFill>
            <a:srgbClr val="EEF2F8"/>
          </a:solidFill>
          <a:ln w="9525">
            <a:solidFill>
              <a:srgbClr val="D0D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7011" name="f-hdr"/>
          <p:cNvSpPr/>
          <p:nvPr/>
        </p:nvSpPr>
        <p:spPr>
          <a:xfrm>
            <a:off x="566928" y="1874520"/>
            <a:ext cx="3502152" cy="329184"/>
          </a:xfrm>
          <a:prstGeom prst="roundRect">
            <a:avLst/>
          </a:prstGeom>
          <a:solidFill>
            <a:srgbClr val="081F46"/>
          </a:solidFill>
          <a:ln w="9525">
            <a:solidFill>
              <a:srgbClr val="081F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85000" lnSpcReduction="20000"/>
          </a:bodyPr>
          <a:lstStyle/>
          <a:p>
            <a:pPr algn="ctr"/>
            <a:endParaRPr/>
          </a:p>
        </p:txBody>
      </p:sp>
      <p:sp>
        <p:nvSpPr>
          <p:cNvPr id="7012" name="f-title"/>
          <p:cNvSpPr txBox="1"/>
          <p:nvPr/>
        </p:nvSpPr>
        <p:spPr>
          <a:xfrm>
            <a:off x="566928" y="1874520"/>
            <a:ext cx="3502152" cy="329184"/>
          </a:xfrm>
          <a:prstGeom prst="rect">
            <a:avLst/>
          </a:prstGeom>
          <a:noFill/>
        </p:spPr>
        <p:txBody>
          <a:bodyPr wrap="square" lIns="118872" tIns="6350" rIns="118872" bIns="6350" anchor="ctr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1" i="0" dirty="0" err="1">
                <a:solidFill>
                  <a:srgbClr val="FFFFFF"/>
                </a:solidFill>
                <a:latin typeface="맑은 고딕"/>
                <a:ea typeface="맑은 고딕"/>
              </a:rPr>
              <a:t>즉시</a:t>
            </a:r>
            <a:r>
              <a:rPr sz="1400" b="1" i="0" dirty="0">
                <a:solidFill>
                  <a:srgbClr val="FFFFFF"/>
                </a:solidFill>
                <a:latin typeface="맑은 고딕"/>
                <a:ea typeface="맑은 고딕"/>
              </a:rPr>
              <a:t> (</a:t>
            </a:r>
            <a:r>
              <a:rPr sz="1400" b="1" i="0" dirty="0" err="1">
                <a:solidFill>
                  <a:srgbClr val="FFFFFF"/>
                </a:solidFill>
                <a:latin typeface="맑은 고딕"/>
                <a:ea typeface="맑은 고딕"/>
              </a:rPr>
              <a:t>거버넌스</a:t>
            </a:r>
            <a:r>
              <a:rPr sz="1400" b="1" i="0" dirty="0">
                <a:solidFill>
                  <a:srgbClr val="FFFFFF"/>
                </a:solidFill>
                <a:latin typeface="맑은 고딕"/>
                <a:ea typeface="맑은 고딕"/>
              </a:rPr>
              <a:t>)</a:t>
            </a:r>
          </a:p>
        </p:txBody>
      </p:sp>
      <p:sp>
        <p:nvSpPr>
          <p:cNvPr id="7013" name="rm-c1"/>
          <p:cNvSpPr txBox="1"/>
          <p:nvPr/>
        </p:nvSpPr>
        <p:spPr>
          <a:xfrm>
            <a:off x="685800" y="2258568"/>
            <a:ext cx="3264408" cy="3584448"/>
          </a:xfrm>
          <a:prstGeom prst="rect">
            <a:avLst/>
          </a:prstGeom>
          <a:noFill/>
        </p:spPr>
        <p:txBody>
          <a:bodyPr wrap="square" lIns="12700" tIns="6350" rIns="12700" bIns="6350" anchor="t">
            <a:norm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9"/>
              </a:spcAft>
              <a:buNone/>
            </a:pP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·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출처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누락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단일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배치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 provenance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복구</a:t>
            </a:r>
            <a:endParaRPr lang="en-US" sz="14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9"/>
              </a:spcAft>
              <a:buNone/>
            </a:pPr>
            <a:endParaRPr sz="14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9"/>
              </a:spcAft>
              <a:buNone/>
            </a:pP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·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적재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 시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출처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필수검증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(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누락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차단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)</a:t>
            </a:r>
            <a:endParaRPr lang="en-US" sz="14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9"/>
              </a:spcAft>
              <a:buNone/>
            </a:pPr>
            <a:endParaRPr sz="14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·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url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 placeholder(999건)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정정</a:t>
            </a:r>
            <a:endParaRPr sz="1400" b="0" i="0" dirty="0">
              <a:solidFill>
                <a:srgbClr val="282D37"/>
              </a:solidFill>
              <a:latin typeface="맑은 고딕"/>
              <a:ea typeface="맑은 고딕"/>
            </a:endParaRPr>
          </a:p>
        </p:txBody>
      </p:sp>
      <p:sp>
        <p:nvSpPr>
          <p:cNvPr id="7014" name="f-bg"/>
          <p:cNvSpPr/>
          <p:nvPr/>
        </p:nvSpPr>
        <p:spPr>
          <a:xfrm>
            <a:off x="4343400" y="1874520"/>
            <a:ext cx="3502152" cy="4023360"/>
          </a:xfrm>
          <a:prstGeom prst="roundRect">
            <a:avLst/>
          </a:prstGeom>
          <a:solidFill>
            <a:srgbClr val="EEF2F8"/>
          </a:solidFill>
          <a:ln w="9525">
            <a:solidFill>
              <a:srgbClr val="D0D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7015" name="f-hdr"/>
          <p:cNvSpPr/>
          <p:nvPr/>
        </p:nvSpPr>
        <p:spPr>
          <a:xfrm>
            <a:off x="4343400" y="1874520"/>
            <a:ext cx="3502152" cy="329184"/>
          </a:xfrm>
          <a:prstGeom prst="roundRect">
            <a:avLst/>
          </a:prstGeom>
          <a:solidFill>
            <a:srgbClr val="081F46"/>
          </a:solidFill>
          <a:ln w="9525">
            <a:solidFill>
              <a:srgbClr val="081F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85000" lnSpcReduction="20000"/>
          </a:bodyPr>
          <a:lstStyle/>
          <a:p>
            <a:pPr algn="ctr"/>
            <a:endParaRPr/>
          </a:p>
        </p:txBody>
      </p:sp>
      <p:sp>
        <p:nvSpPr>
          <p:cNvPr id="7016" name="f-title"/>
          <p:cNvSpPr txBox="1"/>
          <p:nvPr/>
        </p:nvSpPr>
        <p:spPr>
          <a:xfrm>
            <a:off x="4343400" y="1874520"/>
            <a:ext cx="3502152" cy="329184"/>
          </a:xfrm>
          <a:prstGeom prst="rect">
            <a:avLst/>
          </a:prstGeom>
          <a:noFill/>
        </p:spPr>
        <p:txBody>
          <a:bodyPr wrap="square" lIns="118872" tIns="6350" rIns="118872" bIns="6350" anchor="ctr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1" i="0">
                <a:solidFill>
                  <a:srgbClr val="FFFFFF"/>
                </a:solidFill>
                <a:latin typeface="맑은 고딕"/>
                <a:ea typeface="맑은 고딕"/>
              </a:rPr>
              <a:t>단기 (검증 · 표준)</a:t>
            </a:r>
          </a:p>
        </p:txBody>
      </p:sp>
      <p:sp>
        <p:nvSpPr>
          <p:cNvPr id="7017" name="rm-c2"/>
          <p:cNvSpPr txBox="1"/>
          <p:nvPr/>
        </p:nvSpPr>
        <p:spPr>
          <a:xfrm>
            <a:off x="4462272" y="2258568"/>
            <a:ext cx="3383280" cy="3584448"/>
          </a:xfrm>
          <a:prstGeom prst="rect">
            <a:avLst/>
          </a:prstGeom>
          <a:noFill/>
        </p:spPr>
        <p:txBody>
          <a:bodyPr wrap="square" lIns="12700" tIns="6350" rIns="12700" bIns="6350" anchor="t">
            <a:norm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9"/>
              </a:spcAft>
              <a:buNone/>
            </a:pP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·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탐사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대상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규칙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(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적절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 lift)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도메인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검증</a:t>
            </a:r>
            <a:endParaRPr lang="en-US" sz="14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9"/>
              </a:spcAft>
              <a:buNone/>
            </a:pPr>
            <a:endParaRPr sz="14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9"/>
              </a:spcAft>
              <a:buNone/>
            </a:pP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·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규칙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기반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스키마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자동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태깅·무결성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체크</a:t>
            </a:r>
            <a:endParaRPr lang="en-US" sz="14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9"/>
              </a:spcAft>
              <a:buNone/>
            </a:pPr>
            <a:endParaRPr sz="14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·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좌표·연락처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 등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표준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데이터모델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정의</a:t>
            </a:r>
            <a:endParaRPr sz="1400" b="0" i="0" dirty="0">
              <a:solidFill>
                <a:srgbClr val="282D37"/>
              </a:solidFill>
              <a:latin typeface="맑은 고딕"/>
              <a:ea typeface="맑은 고딕"/>
            </a:endParaRPr>
          </a:p>
        </p:txBody>
      </p:sp>
      <p:sp>
        <p:nvSpPr>
          <p:cNvPr id="7018" name="f-bg"/>
          <p:cNvSpPr/>
          <p:nvPr/>
        </p:nvSpPr>
        <p:spPr>
          <a:xfrm>
            <a:off x="8119872" y="1874520"/>
            <a:ext cx="3502152" cy="4023360"/>
          </a:xfrm>
          <a:prstGeom prst="roundRect">
            <a:avLst/>
          </a:prstGeom>
          <a:solidFill>
            <a:srgbClr val="E8F5F0"/>
          </a:solidFill>
          <a:ln w="9525">
            <a:solidFill>
              <a:srgbClr val="D0D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7019" name="f-hdr"/>
          <p:cNvSpPr/>
          <p:nvPr/>
        </p:nvSpPr>
        <p:spPr>
          <a:xfrm>
            <a:off x="8119872" y="1874520"/>
            <a:ext cx="3502152" cy="329184"/>
          </a:xfrm>
          <a:prstGeom prst="roundRect">
            <a:avLst/>
          </a:prstGeom>
          <a:solidFill>
            <a:srgbClr val="00965F"/>
          </a:solidFill>
          <a:ln w="9525">
            <a:solidFill>
              <a:srgbClr val="0096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85000" lnSpcReduction="20000"/>
          </a:bodyPr>
          <a:lstStyle/>
          <a:p>
            <a:pPr algn="ctr"/>
            <a:endParaRPr/>
          </a:p>
        </p:txBody>
      </p:sp>
      <p:sp>
        <p:nvSpPr>
          <p:cNvPr id="7020" name="f-title"/>
          <p:cNvSpPr txBox="1"/>
          <p:nvPr/>
        </p:nvSpPr>
        <p:spPr>
          <a:xfrm>
            <a:off x="8119872" y="1874520"/>
            <a:ext cx="3502152" cy="329184"/>
          </a:xfrm>
          <a:prstGeom prst="rect">
            <a:avLst/>
          </a:prstGeom>
          <a:noFill/>
        </p:spPr>
        <p:txBody>
          <a:bodyPr wrap="square" lIns="118872" tIns="6350" rIns="118872" bIns="6350" anchor="ctr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1" i="0">
                <a:solidFill>
                  <a:srgbClr val="FFFFFF"/>
                </a:solidFill>
                <a:latin typeface="맑은 고딕"/>
                <a:ea typeface="맑은 고딕"/>
              </a:rPr>
              <a:t>중기 (연계 · 인텔리전스)</a:t>
            </a:r>
          </a:p>
        </p:txBody>
      </p:sp>
      <p:sp>
        <p:nvSpPr>
          <p:cNvPr id="7021" name="rm-c3"/>
          <p:cNvSpPr txBox="1"/>
          <p:nvPr/>
        </p:nvSpPr>
        <p:spPr>
          <a:xfrm>
            <a:off x="8238744" y="2258568"/>
            <a:ext cx="3264408" cy="3584448"/>
          </a:xfrm>
          <a:prstGeom prst="rect">
            <a:avLst/>
          </a:prstGeom>
          <a:noFill/>
        </p:spPr>
        <p:txBody>
          <a:bodyPr wrap="square" lIns="12700" tIns="6350" rIns="12700" bIns="6350" anchor="t">
            <a:norm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4"/>
              </a:spcAft>
              <a:buNone/>
            </a:pP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·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교차도메인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연계</a:t>
            </a:r>
            <a:r>
              <a:rPr lang="en-US" sz="1400" dirty="0">
                <a:solidFill>
                  <a:srgbClr val="282D37"/>
                </a:solidFill>
                <a:latin typeface="맑은 고딕"/>
                <a:ea typeface="맑은 고딕"/>
              </a:rPr>
              <a:t>: </a:t>
            </a:r>
            <a:r>
              <a:rPr lang="en-US"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c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ombined_pair_map</a:t>
            </a:r>
            <a:endParaRPr sz="14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9"/>
              </a:spcAft>
              <a:buNone/>
            </a:pP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  </a:t>
            </a:r>
            <a:r>
              <a:rPr lang="en-US"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/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linking_ratio로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조인키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정량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검증</a:t>
            </a:r>
            <a:endParaRPr sz="14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14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·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통합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기관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마스터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(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주소·연락처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)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구축</a:t>
            </a:r>
            <a:endParaRPr sz="1400" b="0" i="0" dirty="0">
              <a:solidFill>
                <a:srgbClr val="282D37"/>
              </a:solidFill>
              <a:latin typeface="맑은 고딕"/>
              <a:ea typeface="맑은 고딕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116</TotalTime>
  <Words>2192</Words>
  <Application>Microsoft Office PowerPoint</Application>
  <PresentationFormat>와이드스크린</PresentationFormat>
  <Paragraphs>500</Paragraphs>
  <Slides>14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14</vt:i4>
      </vt:variant>
    </vt:vector>
  </HeadingPairs>
  <TitlesOfParts>
    <vt:vector size="19" baseType="lpstr">
      <vt:lpstr>맑은 고딕</vt:lpstr>
      <vt:lpstr>Arial</vt:lpstr>
      <vt:lpstr>Calibri</vt:lpstr>
      <vt:lpstr>Wingdings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강훈(Hoon Kang) 책임연구원 HD현대인프라코어</cp:lastModifiedBy>
  <cp:revision>228</cp:revision>
  <dcterms:created xsi:type="dcterms:W3CDTF">2013-01-27T09:14:16Z</dcterms:created>
  <dcterms:modified xsi:type="dcterms:W3CDTF">2026-06-08T11:30:31Z</dcterms:modified>
  <cp:category/>
</cp:coreProperties>
</file>