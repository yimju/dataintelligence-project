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1" r:id="rId16"/>
    <p:sldId id="268" r:id="rId13"/>
    <p:sldId id="269" r:id="rId14"/>
    <p:sldId id="270" r:id="rId15"/>
    <p:sldId id="272" r:id="rId17"/>
    <p:sldId id="267" r:id="rId12"/>
    <p:sldId id="273" r:id="rId18"/>
    <p:sldId id="274" r:id="rId19"/>
    <p:sldId id="275" r:id="rId20"/>
    <p:sldId id="276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43" y="5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1CCFCC-030A-4CE8-A15F-A37FC6BFC187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2B268F-8D29-4E2C-AE3B-299A671290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5503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2B268F-8D29-4E2C-AE3B-299A67129087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03498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38100"/>
          </a:xfrm>
          <a:prstGeom prst="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286000"/>
            <a:ext cx="11057839" cy="18288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FFFFFF"/>
                </a:solidFill>
                <a:latin typeface="맑은 고딕"/>
                <a:ea typeface="맑은 고딕"/>
              </a:rPr>
              <a:t>공공데이터 ‘데이터 지도’
거버넌스·인텔리전스 분석 보고서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754880"/>
            <a:ext cx="11057839" cy="10972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C8D2E1"/>
                </a:solidFill>
                <a:latin typeface="맑은 고딕"/>
                <a:ea typeface="맑은 고딕"/>
              </a:rPr>
              <a:t>999개 공공데이터셋(교육·보건·공공행정) 데이터 지도의 비지도 데이터마이닝 분석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965F"/>
                </a:solidFill>
                <a:latin typeface="맑은 고딕"/>
                <a:ea typeface="맑은 고딕"/>
              </a:rPr>
              <a:t>1D 클러스터링 · AOI 롤업 · FP-Growth 빈발패턴 · 연관규칙 · 국소→전체 검증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분석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개요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및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목적</a:t>
            </a:r>
            <a:endParaRPr sz="2600" b="1" i="0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원본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트랜잭션이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아닌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‘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데이터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지도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(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메타데이터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)’를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비지도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알고리즘으로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분석함</a:t>
            </a:r>
            <a:endParaRPr sz="1800" b="1" i="0" dirty="0">
              <a:solidFill>
                <a:srgbClr val="505050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1828800"/>
            <a:ext cx="7198682" cy="16695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대상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공공데이터포털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999개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데이터셋의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프로파일링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산출물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지도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구성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/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테이블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프로파일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·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쌍별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값·도메인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중첩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·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유사도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클러스터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목표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거버넌스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이슈와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메타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비즈니스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인텔리전스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도출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형식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‘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주말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&gt;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기저귀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&gt;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맥주’형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연관규칙을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데이터셋·컬럼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수준에서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발굴</a:t>
            </a:r>
            <a:endParaRPr lang="ko-KR" alt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altLang="ko-KR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lang="ko-KR" alt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원칙</a:t>
            </a:r>
            <a:r>
              <a:rPr lang="en-US" altLang="ko-KR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LLM </a:t>
            </a:r>
            <a:r>
              <a:rPr lang="ko-KR" alt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추론 배제</a:t>
            </a:r>
            <a:r>
              <a:rPr lang="en-US" altLang="ko-KR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, </a:t>
            </a:r>
            <a:r>
              <a:rPr lang="ko-KR" alt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모든 결론은 설명가능한 알고리즘 실행 결과</a:t>
            </a:r>
          </a:p>
        </p:txBody>
      </p:sp>
      <p:pic>
        <p:nvPicPr>
          <p:cNvPr id="12" name="Picture 11" descr="fig_do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8936" y="2579261"/>
            <a:ext cx="4428439" cy="316317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대상 데이터 구성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9개 파일 = 프로파일 + 쌍별 중첩 + 유사도 클러스터의 3계층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0667075"/>
              </p:ext>
            </p:extLst>
          </p:nvPr>
        </p:nvGraphicFramePr>
        <p:xfrm>
          <a:off x="566928" y="1993900"/>
          <a:ext cx="11057837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0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05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15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파일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역할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규모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table_map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데이터셋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메타+분류+통계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999행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column_map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컬럼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프로파일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(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키품질·고유값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등)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9,840행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distinct_value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컬럼별 distinct 값+빈도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803만행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table/</a:t>
                      </a:r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column_summary_map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객체별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중첩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통계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롤업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996/8,360행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combined_pair_map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컬럼쌍 조인가능성(linking_ratio)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74만행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table_pair_map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테이블쌍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유사도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25만행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column_pair_map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컬럼쌍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값·도메인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중첩·중복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524만행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*_</a:t>
                      </a:r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value_tree</a:t>
                      </a:r>
                      <a:r>
                        <a:rPr sz="1400" b="1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/ *_</a:t>
                      </a:r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str_tree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값·이름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유사도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계층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클러스터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331~4,549행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분석 방법론 파이프라인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이산화 → AOI 롤업 → 빈발패턴 → 연관규칙 → 국소·전체 검증의 5단계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7" name="Pentagon 6"/>
          <p:cNvSpPr/>
          <p:nvPr/>
        </p:nvSpPr>
        <p:spPr>
          <a:xfrm>
            <a:off x="566928" y="1920240"/>
            <a:ext cx="2138415" cy="868680"/>
          </a:xfrm>
          <a:prstGeom prst="homePlate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맑은 고딕"/>
                <a:ea typeface="맑은 고딕"/>
              </a:rPr>
              <a:t>① </a:t>
            </a:r>
            <a:r>
              <a:rPr sz="16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이산화</a:t>
            </a:r>
            <a:endParaRPr sz="1600" b="1" i="0" dirty="0">
              <a:solidFill>
                <a:srgbClr val="FFFFFF"/>
              </a:solidFill>
              <a:latin typeface="맑은 고딕"/>
              <a:ea typeface="맑은 고딕"/>
            </a:endParaRPr>
          </a:p>
          <a:p>
            <a:pPr algn="ctr"/>
            <a:r>
              <a:rPr sz="1050" b="0" i="0" dirty="0">
                <a:solidFill>
                  <a:srgbClr val="FFFFFF"/>
                </a:solidFill>
                <a:latin typeface="맑은 고딕"/>
                <a:ea typeface="맑은 고딕"/>
              </a:rPr>
              <a:t>1D </a:t>
            </a:r>
            <a:r>
              <a:rPr sz="1050" b="0" i="0" dirty="0" err="1">
                <a:solidFill>
                  <a:srgbClr val="FFFFFF"/>
                </a:solidFill>
                <a:latin typeface="맑은 고딕"/>
                <a:ea typeface="맑은 고딕"/>
              </a:rPr>
              <a:t>KMeans</a:t>
            </a:r>
            <a:endParaRPr sz="1050" b="0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8" name="Pentagon 7"/>
          <p:cNvSpPr/>
          <p:nvPr/>
        </p:nvSpPr>
        <p:spPr>
          <a:xfrm>
            <a:off x="2796783" y="1920240"/>
            <a:ext cx="2138415" cy="868680"/>
          </a:xfrm>
          <a:prstGeom prst="homePlate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② AOI 롤업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개념계층</a:t>
            </a:r>
          </a:p>
        </p:txBody>
      </p:sp>
      <p:sp>
        <p:nvSpPr>
          <p:cNvPr id="9" name="Pentagon 8"/>
          <p:cNvSpPr/>
          <p:nvPr/>
        </p:nvSpPr>
        <p:spPr>
          <a:xfrm>
            <a:off x="5026639" y="1920240"/>
            <a:ext cx="2138415" cy="868680"/>
          </a:xfrm>
          <a:prstGeom prst="homePlate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③ 빈발패턴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FP-Growth</a:t>
            </a:r>
          </a:p>
        </p:txBody>
      </p:sp>
      <p:sp>
        <p:nvSpPr>
          <p:cNvPr id="10" name="Pentagon 9"/>
          <p:cNvSpPr/>
          <p:nvPr/>
        </p:nvSpPr>
        <p:spPr>
          <a:xfrm>
            <a:off x="7256495" y="1920240"/>
            <a:ext cx="2138415" cy="868680"/>
          </a:xfrm>
          <a:prstGeom prst="homePlate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④ 연관규칙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lift 등</a:t>
            </a:r>
          </a:p>
        </p:txBody>
      </p:sp>
      <p:sp>
        <p:nvSpPr>
          <p:cNvPr id="11" name="Pentagon 10"/>
          <p:cNvSpPr/>
          <p:nvPr/>
        </p:nvSpPr>
        <p:spPr>
          <a:xfrm>
            <a:off x="9486351" y="1920240"/>
            <a:ext cx="2138415" cy="868680"/>
          </a:xfrm>
          <a:prstGeom prst="homePlate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⑤ 검증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규칙#4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6087620"/>
              </p:ext>
            </p:extLst>
          </p:nvPr>
        </p:nvGraphicFramePr>
        <p:xfrm>
          <a:off x="566928" y="3063240"/>
          <a:ext cx="11057838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30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146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단계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알고리즘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적용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이산화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log1p + 1D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KMeans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rec_cnt·column_cnt·수치비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→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순서형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구간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AOI </a:t>
                      </a:r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롤업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정규식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개념계층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table_source→기관유형, col_nm→컬럼개념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빈발패턴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FP-Growth(max_len=3)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테이블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=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거래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,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속성·컬럼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=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아이템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연관규칙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association_rules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(lift)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support·confidence·lift·leverage·conviction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검증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도메인별→전체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재계산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국소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강규칙의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일반화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여부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판정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공통 전처리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공통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데이터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준비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①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적재·인코딩·형변환</a:t>
            </a:r>
            <a:endParaRPr sz="2600" b="1" i="0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280430"/>
            <a:ext cx="11057839" cy="2920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모든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이슈가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공유하는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기반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전처리</a:t>
            </a:r>
            <a:r>
              <a:rPr lang="en-US" b="1" dirty="0">
                <a:solidFill>
                  <a:srgbClr val="505050"/>
                </a:solidFill>
                <a:latin typeface="맑은 고딕"/>
                <a:ea typeface="맑은 고딕"/>
              </a:rPr>
              <a:t>: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인코딩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확정</a:t>
            </a:r>
            <a:r>
              <a:rPr lang="en-US"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lang="ko-KR" altLang="en-US"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및</a:t>
            </a:r>
            <a:r>
              <a:rPr lang="en-US" b="1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형변환</a:t>
            </a:r>
            <a:endParaRPr sz="1800" b="1" i="0" dirty="0">
              <a:solidFill>
                <a:srgbClr val="505050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11057839" cy="12512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lang="ko-KR" altLang="en-US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인코딩 확정</a:t>
            </a:r>
            <a:r>
              <a:rPr lang="en-US" altLang="ko-KR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UTF-8 </a:t>
            </a:r>
            <a:r>
              <a:rPr lang="ko-KR" altLang="en-US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파일로 인코딩 통일</a:t>
            </a:r>
            <a:endParaRPr lang="en-US" altLang="ko-KR"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altLang="ko-KR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lang="ko-KR" altLang="en-US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적재</a:t>
            </a:r>
            <a:r>
              <a:rPr lang="en-US" altLang="ko-KR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lang="en-US" altLang="ko-KR"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table_map</a:t>
            </a:r>
            <a:r>
              <a:rPr lang="en-US" altLang="ko-KR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(999) · </a:t>
            </a:r>
            <a:r>
              <a:rPr lang="en-US" altLang="ko-KR"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column_map</a:t>
            </a:r>
            <a:r>
              <a:rPr lang="en-US" altLang="ko-KR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(9,840)</a:t>
            </a:r>
            <a:r>
              <a:rPr lang="ko-KR" altLang="en-US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을 </a:t>
            </a:r>
            <a:r>
              <a:rPr lang="en-US" altLang="ko-KR"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dtype</a:t>
            </a:r>
            <a:r>
              <a:rPr lang="en-US" altLang="ko-KR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=str</a:t>
            </a:r>
            <a:r>
              <a:rPr lang="ko-KR" altLang="en-US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로 안전 적재 후 </a:t>
            </a:r>
            <a:r>
              <a:rPr lang="ko-KR" altLang="en-US"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형변환</a:t>
            </a:r>
            <a:endParaRPr lang="ko-KR" altLang="en-US"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형변환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컬럼은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to_numeric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(coerce) —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비수치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/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날짜는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NaN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처리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정합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기준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table_id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결측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행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제거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컬럼-테이블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조인키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정합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확인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공통 전처리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공통 데이터 준비 ② 1D 이산화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280430"/>
            <a:ext cx="11057839" cy="2920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한쪽으로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심하게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쏠린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수치를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로그로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고르게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편 뒤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자동으로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구간을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나눔</a:t>
            </a:r>
            <a:r>
              <a:rPr lang="en-US"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.</a:t>
            </a:r>
            <a:endParaRPr sz="1800" b="1" i="0" dirty="0">
              <a:solidFill>
                <a:srgbClr val="505050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7" y="1828800"/>
            <a:ext cx="9980360" cy="125271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문제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레코드수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1~833,466로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극단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쏠림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en-US" sz="1400" dirty="0">
                <a:solidFill>
                  <a:srgbClr val="282D37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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그대로면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큰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값이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결과를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지배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해결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log(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로그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)로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쏠림을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편 뒤 1차원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KMeans로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자동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구간화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이산화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ko-KR" altLang="en-US" sz="1400" dirty="0">
                <a:solidFill>
                  <a:srgbClr val="282D37"/>
                </a:solidFill>
                <a:latin typeface="맑은 고딕"/>
                <a:ea typeface="맑은 고딕"/>
              </a:rPr>
              <a:t>대상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400"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레코드수</a:t>
            </a:r>
            <a:r>
              <a:rPr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(5구간)</a:t>
            </a:r>
            <a:r>
              <a:rPr lang="en-US"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 / </a:t>
            </a:r>
            <a:r>
              <a:rPr sz="1400"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컬럼폭</a:t>
            </a:r>
            <a:r>
              <a:rPr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(4구간)</a:t>
            </a:r>
            <a:r>
              <a:rPr lang="en-US"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 / </a:t>
            </a:r>
            <a:r>
              <a:rPr sz="1400"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수치비</a:t>
            </a:r>
            <a:r>
              <a:rPr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(3구간)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수치비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=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수치형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비율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(0~1)</a:t>
            </a:r>
            <a:r>
              <a:rPr lang="en-US" sz="140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en-US" sz="1400" dirty="0">
                <a:solidFill>
                  <a:srgbClr val="282D37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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이미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고른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값이라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로그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없이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바로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구간화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pic>
        <p:nvPicPr>
          <p:cNvPr id="52" name="그림 51">
            <a:extLst>
              <a:ext uri="{FF2B5EF4-FFF2-40B4-BE49-F238E27FC236}">
                <a16:creationId xmlns:a16="http://schemas.microsoft.com/office/drawing/2014/main" id="{4F2DC526-7433-974C-F78C-8B3B1EF36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1584" y="3370758"/>
            <a:ext cx="7472126" cy="337751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공통 전처리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공통 데이터 준비 ③ AOI 롤업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제각각인 999개 기관명을 정규식 규칙으로 7개 상위 개념(기관유형)으로 롤업(상향 일반화)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4240462" cy="38587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AOI(속성지향 귀납)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롤업</a:t>
            </a: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구체적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값을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상위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 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개념으로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끌어올리는 다계층 일반화(roll-up)</a:t>
            </a:r>
          </a:p>
          <a:p>
            <a:pPr marL="742950" lvl="1" indent="-285750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  <a:buFont typeface="Wingdings" panose="05000000000000000000" pitchFamily="2" charset="2"/>
              <a:buChar char="ü"/>
            </a:pPr>
            <a:r>
              <a:rPr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제각각인</a:t>
            </a:r>
            <a:r>
              <a:rPr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 999개 </a:t>
            </a:r>
            <a:r>
              <a:rPr lang="en-US" sz="1300" dirty="0" err="1">
                <a:solidFill>
                  <a:srgbClr val="505050"/>
                </a:solidFill>
                <a:latin typeface="맑은 고딕"/>
                <a:ea typeface="맑은 고딕"/>
              </a:rPr>
              <a:t>table_source</a:t>
            </a:r>
            <a:r>
              <a:rPr lang="en-US" sz="1300" dirty="0">
                <a:solidFill>
                  <a:srgbClr val="505050"/>
                </a:solidFill>
                <a:latin typeface="맑은 고딕"/>
                <a:ea typeface="맑은 고딕"/>
              </a:rPr>
              <a:t>(</a:t>
            </a:r>
            <a:r>
              <a:rPr lang="ko-KR" altLang="en-US" sz="1300" dirty="0">
                <a:solidFill>
                  <a:srgbClr val="505050"/>
                </a:solidFill>
                <a:latin typeface="맑은 고딕"/>
                <a:ea typeface="맑은 고딕"/>
              </a:rPr>
              <a:t>기관명</a:t>
            </a:r>
            <a:r>
              <a:rPr lang="en-US" altLang="ko-KR" sz="1300" dirty="0">
                <a:solidFill>
                  <a:srgbClr val="505050"/>
                </a:solidFill>
                <a:latin typeface="맑은 고딕"/>
                <a:ea typeface="맑은 고딕"/>
              </a:rPr>
              <a:t>)</a:t>
            </a:r>
            <a:r>
              <a:rPr lang="ko-KR" altLang="en-US"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을 </a:t>
            </a:r>
            <a:r>
              <a:rPr lang="ko-KR" altLang="en-US"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이산화하여</a:t>
            </a:r>
            <a:r>
              <a:rPr lang="ko-KR" altLang="en-US"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 분석 </a:t>
            </a:r>
            <a:r>
              <a:rPr lang="en-US" altLang="ko-KR"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feature</a:t>
            </a:r>
            <a:r>
              <a:rPr lang="ko-KR" altLang="en-US"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로 활용</a:t>
            </a:r>
            <a:endParaRPr lang="en-US" altLang="ko-KR" sz="13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lvl="1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3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출처 롤업: table_source의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접미사·키워드를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 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정규식으로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매칭해 7개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기관유형으로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축약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marL="742950" lvl="1" indent="-285750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  <a:buFont typeface="Wingdings" panose="05000000000000000000" pitchFamily="2" charset="2"/>
              <a:buChar char="ü"/>
            </a:pPr>
            <a:r>
              <a:rPr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우선순위로</a:t>
            </a:r>
            <a:r>
              <a:rPr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 1건씩 분류(</a:t>
            </a:r>
            <a:r>
              <a:rPr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교육→중앙→공공</a:t>
            </a:r>
            <a:r>
              <a:rPr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→</a:t>
            </a:r>
            <a:endParaRPr lang="en-US" sz="13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lvl="1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300" dirty="0">
                <a:solidFill>
                  <a:srgbClr val="505050"/>
                </a:solidFill>
                <a:latin typeface="맑은 고딕"/>
                <a:ea typeface="맑은 고딕"/>
              </a:rPr>
              <a:t>     </a:t>
            </a:r>
            <a:r>
              <a:rPr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광역→기초→미상→기타</a:t>
            </a:r>
            <a:r>
              <a:rPr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), </a:t>
            </a:r>
            <a:endParaRPr lang="en-US" sz="13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lvl="1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300" dirty="0">
                <a:solidFill>
                  <a:srgbClr val="505050"/>
                </a:solidFill>
                <a:latin typeface="맑은 고딕"/>
                <a:ea typeface="맑은 고딕"/>
              </a:rPr>
              <a:t>     </a:t>
            </a:r>
            <a:r>
              <a:rPr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‘소스’·빈값은 </a:t>
            </a:r>
            <a:r>
              <a:rPr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미상으로</a:t>
            </a:r>
            <a:r>
              <a:rPr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분리</a:t>
            </a:r>
            <a:endParaRPr lang="en-US" sz="13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lvl="1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300" b="0" i="0" dirty="0">
              <a:solidFill>
                <a:srgbClr val="505050"/>
              </a:solidFill>
              <a:latin typeface="맑은 고딕"/>
              <a:ea typeface="맑은 고딕"/>
            </a:endParaRPr>
          </a:p>
        </p:txBody>
      </p:sp>
      <p:sp>
        <p:nvSpPr>
          <p:cNvPr id="301" name="card-bg"/>
          <p:cNvSpPr/>
          <p:nvPr/>
        </p:nvSpPr>
        <p:spPr>
          <a:xfrm>
            <a:off x="4986223" y="1880178"/>
            <a:ext cx="1810512" cy="370332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02" name="card-hdr"/>
          <p:cNvSpPr/>
          <p:nvPr/>
        </p:nvSpPr>
        <p:spPr>
          <a:xfrm>
            <a:off x="4986223" y="1880178"/>
            <a:ext cx="1810512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303" name="card-title"/>
          <p:cNvSpPr txBox="1"/>
          <p:nvPr/>
        </p:nvSpPr>
        <p:spPr>
          <a:xfrm>
            <a:off x="4986223" y="1880178"/>
            <a:ext cx="1810512" cy="310896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FFFFFF"/>
                </a:solidFill>
                <a:latin typeface="맑은 고딕"/>
                <a:ea typeface="맑은 고딕"/>
              </a:rPr>
              <a:t>① </a:t>
            </a:r>
            <a:r>
              <a:rPr sz="12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원시</a:t>
            </a:r>
            <a:r>
              <a:rPr sz="12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table_source</a:t>
            </a:r>
            <a:endParaRPr sz="12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304" name="card-body"/>
          <p:cNvSpPr txBox="1"/>
          <p:nvPr/>
        </p:nvSpPr>
        <p:spPr>
          <a:xfrm>
            <a:off x="5077663" y="2236794"/>
            <a:ext cx="1627632" cy="3300984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 dirty="0">
                <a:solidFill>
                  <a:srgbClr val="081F46"/>
                </a:solidFill>
                <a:latin typeface="맑은 고딕"/>
                <a:ea typeface="맑은 고딕"/>
              </a:rPr>
              <a:t>999개 </a:t>
            </a:r>
            <a:r>
              <a:rPr sz="14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자유</a:t>
            </a:r>
            <a:r>
              <a:rPr sz="14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기관명</a:t>
            </a:r>
            <a:endParaRPr sz="1400" b="1" i="0" dirty="0">
              <a:solidFill>
                <a:srgbClr val="081F46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서울특별시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금천구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한국사학진흥재단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경상남도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‘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소스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’(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빈값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305" name="arrow1"/>
          <p:cNvSpPr txBox="1"/>
          <p:nvPr/>
        </p:nvSpPr>
        <p:spPr>
          <a:xfrm>
            <a:off x="6815023" y="1880178"/>
            <a:ext cx="310896" cy="3703320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965F"/>
                </a:solidFill>
                <a:latin typeface="맑은 고딕"/>
                <a:ea typeface="맑은 고딕"/>
              </a:rPr>
              <a:t>▶</a:t>
            </a:r>
          </a:p>
        </p:txBody>
      </p:sp>
      <p:sp>
        <p:nvSpPr>
          <p:cNvPr id="306" name="card-bg"/>
          <p:cNvSpPr/>
          <p:nvPr/>
        </p:nvSpPr>
        <p:spPr>
          <a:xfrm>
            <a:off x="7144207" y="1880178"/>
            <a:ext cx="2249424" cy="370332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C7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07" name="card-hdr"/>
          <p:cNvSpPr/>
          <p:nvPr/>
        </p:nvSpPr>
        <p:spPr>
          <a:xfrm>
            <a:off x="7144207" y="1880178"/>
            <a:ext cx="2249424" cy="310896"/>
          </a:xfrm>
          <a:prstGeom prst="roundRect">
            <a:avLst/>
          </a:prstGeom>
          <a:solidFill>
            <a:srgbClr val="00965F"/>
          </a:solidFill>
          <a:ln w="9525">
            <a:solidFill>
              <a:srgbClr val="009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308" name="card-title"/>
          <p:cNvSpPr txBox="1"/>
          <p:nvPr/>
        </p:nvSpPr>
        <p:spPr>
          <a:xfrm>
            <a:off x="7144207" y="1880178"/>
            <a:ext cx="2249424" cy="310896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② 정규식 규칙</a:t>
            </a:r>
          </a:p>
        </p:txBody>
      </p:sp>
      <p:sp>
        <p:nvSpPr>
          <p:cNvPr id="309" name="card-body"/>
          <p:cNvSpPr txBox="1"/>
          <p:nvPr/>
        </p:nvSpPr>
        <p:spPr>
          <a:xfrm>
            <a:off x="7235647" y="2236794"/>
            <a:ext cx="2066544" cy="3300984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기관명</a:t>
            </a:r>
            <a:r>
              <a:rPr sz="1100" b="0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1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접미사·키워드</a:t>
            </a:r>
            <a:r>
              <a:rPr sz="1100" b="0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1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매칭</a:t>
            </a:r>
            <a:endParaRPr sz="11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교육청·대학교·학교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교육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부·청·위원회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중앙행정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공단·재단·병원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공공기관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특별시·도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광역지자체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시·군·구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기초지자체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그 외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기타</a:t>
            </a:r>
            <a:endParaRPr lang="en-US"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>
              <a:lnSpc>
                <a:spcPct val="124000"/>
              </a:lnSpc>
              <a:spcAft>
                <a:spcPts val="100"/>
              </a:spcAft>
            </a:pPr>
            <a:r>
              <a:rPr lang="en-US" altLang="ko-KR" sz="1200" b="1" dirty="0">
                <a:solidFill>
                  <a:srgbClr val="00965F"/>
                </a:solidFill>
                <a:latin typeface="맑은 고딕"/>
                <a:ea typeface="맑은 고딕"/>
              </a:rPr>
              <a:t>· ‘</a:t>
            </a:r>
            <a:r>
              <a:rPr lang="ko-KR" altLang="en-US" sz="1200" b="1" dirty="0">
                <a:solidFill>
                  <a:srgbClr val="00965F"/>
                </a:solidFill>
                <a:latin typeface="맑은 고딕"/>
                <a:ea typeface="맑은 고딕"/>
              </a:rPr>
              <a:t>소스’</a:t>
            </a:r>
            <a:r>
              <a:rPr lang="en-US" altLang="ko-KR" sz="1200" b="1" dirty="0">
                <a:solidFill>
                  <a:srgbClr val="00965F"/>
                </a:solidFill>
                <a:latin typeface="맑은 고딕"/>
                <a:ea typeface="맑은 고딕"/>
              </a:rPr>
              <a:t>·</a:t>
            </a:r>
            <a:r>
              <a:rPr lang="ko-KR" altLang="en-US" sz="1200" b="1" dirty="0" err="1">
                <a:solidFill>
                  <a:srgbClr val="00965F"/>
                </a:solidFill>
                <a:latin typeface="맑은 고딕"/>
                <a:ea typeface="맑은 고딕"/>
              </a:rPr>
              <a:t>빈값</a:t>
            </a:r>
            <a:r>
              <a:rPr lang="ko-KR" altLang="en-US" sz="1200" b="1" dirty="0">
                <a:solidFill>
                  <a:srgbClr val="00965F"/>
                </a:solidFill>
                <a:latin typeface="맑은 고딕"/>
                <a:ea typeface="맑은 고딕"/>
              </a:rPr>
              <a:t> → 미상</a:t>
            </a:r>
          </a:p>
        </p:txBody>
      </p:sp>
      <p:sp>
        <p:nvSpPr>
          <p:cNvPr id="310" name="arrow2"/>
          <p:cNvSpPr txBox="1"/>
          <p:nvPr/>
        </p:nvSpPr>
        <p:spPr>
          <a:xfrm>
            <a:off x="9411919" y="1880178"/>
            <a:ext cx="310896" cy="3703320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965F"/>
                </a:solidFill>
                <a:latin typeface="맑은 고딕"/>
                <a:ea typeface="맑은 고딕"/>
              </a:rPr>
              <a:t>▶</a:t>
            </a:r>
          </a:p>
        </p:txBody>
      </p:sp>
      <p:sp>
        <p:nvSpPr>
          <p:cNvPr id="311" name="card-bg"/>
          <p:cNvSpPr/>
          <p:nvPr/>
        </p:nvSpPr>
        <p:spPr>
          <a:xfrm>
            <a:off x="9741103" y="1880178"/>
            <a:ext cx="2176272" cy="370332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12" name="card-hdr"/>
          <p:cNvSpPr/>
          <p:nvPr/>
        </p:nvSpPr>
        <p:spPr>
          <a:xfrm>
            <a:off x="9741103" y="1880178"/>
            <a:ext cx="2176272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313" name="card-title"/>
          <p:cNvSpPr txBox="1"/>
          <p:nvPr/>
        </p:nvSpPr>
        <p:spPr>
          <a:xfrm>
            <a:off x="9741103" y="1880178"/>
            <a:ext cx="2176272" cy="310896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③ 7개 기관유형</a:t>
            </a:r>
          </a:p>
        </p:txBody>
      </p:sp>
      <p:sp>
        <p:nvSpPr>
          <p:cNvPr id="314" name="card-body"/>
          <p:cNvSpPr txBox="1"/>
          <p:nvPr/>
        </p:nvSpPr>
        <p:spPr>
          <a:xfrm>
            <a:off x="9832543" y="2236794"/>
            <a:ext cx="1993392" cy="3300984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7개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기관유형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(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테이블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수)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기초지자체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404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공공기관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245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광역지자체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83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교육기관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49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중앙행정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39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기타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34</a:t>
            </a:r>
            <a:endParaRPr lang="en-US"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>
              <a:lnSpc>
                <a:spcPct val="124000"/>
              </a:lnSpc>
              <a:spcAft>
                <a:spcPts val="100"/>
              </a:spcAft>
            </a:pPr>
            <a:r>
              <a:rPr lang="en-US" altLang="ko-KR" sz="1200" b="1" dirty="0">
                <a:solidFill>
                  <a:srgbClr val="00965F"/>
                </a:solidFill>
                <a:latin typeface="맑은 고딕"/>
                <a:ea typeface="맑은 고딕"/>
              </a:rPr>
              <a:t>· </a:t>
            </a:r>
            <a:r>
              <a:rPr lang="ko-KR" altLang="en-US" sz="1200" b="1" dirty="0">
                <a:solidFill>
                  <a:srgbClr val="00965F"/>
                </a:solidFill>
                <a:latin typeface="맑은 고딕"/>
                <a:ea typeface="맑은 고딕"/>
              </a:rPr>
              <a:t>미상</a:t>
            </a:r>
            <a:r>
              <a:rPr lang="en-US" altLang="ko-KR" sz="1200" b="1" dirty="0">
                <a:solidFill>
                  <a:srgbClr val="00965F"/>
                </a:solidFill>
                <a:latin typeface="맑은 고딕"/>
                <a:ea typeface="맑은 고딕"/>
              </a:rPr>
              <a:t>(</a:t>
            </a:r>
            <a:r>
              <a:rPr lang="ko-KR" altLang="en-US" sz="1200" b="1" dirty="0">
                <a:solidFill>
                  <a:srgbClr val="00965F"/>
                </a:solidFill>
                <a:latin typeface="맑은 고딕"/>
                <a:ea typeface="맑은 고딕"/>
              </a:rPr>
              <a:t>소스</a:t>
            </a:r>
            <a:r>
              <a:rPr lang="en-US" altLang="ko-KR" sz="1200" b="1" dirty="0">
                <a:solidFill>
                  <a:srgbClr val="00965F"/>
                </a:solidFill>
                <a:latin typeface="맑은 고딕"/>
                <a:ea typeface="맑은 고딕"/>
              </a:rPr>
              <a:t>)  145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공통 전처리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공통 데이터 준비 ④ 트랜잭션·패턴·검증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테이블을 거래로 보고 두 종류 아이템으로 FP-Growth·연관규칙·검증 수행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4864246" cy="3802451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트랜잭션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테이블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1건 = 1 transaction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아이템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(A)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속성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cate·기관·레코드·컬럼폭·수치비·유일키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·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 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상수컬럼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아이템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(B)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장바구니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테이블이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보유한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컬럼개념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집합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  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평균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9.6개)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FP-Growth</a:t>
            </a:r>
            <a:r>
              <a:rPr 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→</a:t>
            </a:r>
            <a:r>
              <a:rPr 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association_rules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(lift)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검증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전체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999건에서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지표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재계산</a:t>
            </a: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ko-KR" alt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수행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401" name="card-bg"/>
          <p:cNvSpPr/>
          <p:nvPr/>
        </p:nvSpPr>
        <p:spPr>
          <a:xfrm>
            <a:off x="5522614" y="1828800"/>
            <a:ext cx="6071978" cy="859536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402" name="card-hdr"/>
          <p:cNvSpPr/>
          <p:nvPr/>
        </p:nvSpPr>
        <p:spPr>
          <a:xfrm>
            <a:off x="5522614" y="1828800"/>
            <a:ext cx="6071978" cy="292608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70000" lnSpcReduction="20000"/>
          </a:bodyPr>
          <a:lstStyle/>
          <a:p>
            <a:pPr algn="ctr"/>
            <a:endParaRPr/>
          </a:p>
        </p:txBody>
      </p:sp>
      <p:sp>
        <p:nvSpPr>
          <p:cNvPr id="403" name="card-title"/>
          <p:cNvSpPr txBox="1"/>
          <p:nvPr/>
        </p:nvSpPr>
        <p:spPr>
          <a:xfrm>
            <a:off x="5522614" y="1828800"/>
            <a:ext cx="6071978" cy="292608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예시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테이블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1건</a:t>
            </a:r>
          </a:p>
        </p:txBody>
      </p:sp>
      <p:sp>
        <p:nvSpPr>
          <p:cNvPr id="404" name="card-body"/>
          <p:cNvSpPr txBox="1"/>
          <p:nvPr/>
        </p:nvSpPr>
        <p:spPr>
          <a:xfrm>
            <a:off x="5667468" y="2157984"/>
            <a:ext cx="5835683" cy="493776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전북특별자치도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무주군_행정기관_20240831.csv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rec_cnt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=157 · 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column_cnt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=7 (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범주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 5·수치 2) · 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출처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=‘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전북특별자치도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무주군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’</a:t>
            </a:r>
          </a:p>
        </p:txBody>
      </p:sp>
      <p:sp>
        <p:nvSpPr>
          <p:cNvPr id="405" name="arrow1"/>
          <p:cNvSpPr txBox="1"/>
          <p:nvPr/>
        </p:nvSpPr>
        <p:spPr>
          <a:xfrm>
            <a:off x="4510735" y="2870495"/>
            <a:ext cx="7114032" cy="274320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▼  ① 1D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이산화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(6p) · ② AOI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롤업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(7p)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적용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 →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아이템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생성</a:t>
            </a:r>
            <a:endParaRPr sz="1200" b="1" i="0" dirty="0">
              <a:solidFill>
                <a:srgbClr val="00965F"/>
              </a:solidFill>
              <a:latin typeface="맑은 고딕"/>
              <a:ea typeface="맑은 고딕"/>
            </a:endParaRPr>
          </a:p>
        </p:txBody>
      </p:sp>
      <p:sp>
        <p:nvSpPr>
          <p:cNvPr id="406" name="basket-bg"/>
          <p:cNvSpPr/>
          <p:nvPr/>
        </p:nvSpPr>
        <p:spPr>
          <a:xfrm>
            <a:off x="5522614" y="3589882"/>
            <a:ext cx="6071978" cy="2317137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C7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407" name="basket-hdr"/>
          <p:cNvSpPr/>
          <p:nvPr/>
        </p:nvSpPr>
        <p:spPr>
          <a:xfrm>
            <a:off x="5522614" y="3597302"/>
            <a:ext cx="6071978" cy="292608"/>
          </a:xfrm>
          <a:prstGeom prst="roundRect">
            <a:avLst/>
          </a:prstGeom>
          <a:solidFill>
            <a:srgbClr val="00965F"/>
          </a:solidFill>
          <a:ln w="9525">
            <a:solidFill>
              <a:srgbClr val="009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70000" lnSpcReduction="20000"/>
          </a:bodyPr>
          <a:lstStyle/>
          <a:p>
            <a:pPr algn="ctr"/>
            <a:endParaRPr/>
          </a:p>
        </p:txBody>
      </p:sp>
      <p:sp>
        <p:nvSpPr>
          <p:cNvPr id="408" name="basket-title"/>
          <p:cNvSpPr txBox="1"/>
          <p:nvPr/>
        </p:nvSpPr>
        <p:spPr>
          <a:xfrm>
            <a:off x="5522614" y="3597302"/>
            <a:ext cx="6071978" cy="292608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트랜잭션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(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장바구니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) =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테이블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1건 = 1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거래</a:t>
            </a:r>
            <a:endParaRPr sz="14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409" name="subA"/>
          <p:cNvSpPr txBox="1"/>
          <p:nvPr/>
        </p:nvSpPr>
        <p:spPr>
          <a:xfrm>
            <a:off x="5667468" y="4051153"/>
            <a:ext cx="5780820" cy="201168"/>
          </a:xfrm>
          <a:prstGeom prst="rect">
            <a:avLst/>
          </a:prstGeom>
          <a:noFill/>
        </p:spPr>
        <p:txBody>
          <a:bodyPr wrap="square" lIns="12700" tIns="6350" rIns="12700" bIns="635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①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속성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아이템</a:t>
            </a:r>
            <a:endParaRPr sz="1200" b="1" i="0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10" name="attrA"/>
          <p:cNvSpPr txBox="1"/>
          <p:nvPr/>
        </p:nvSpPr>
        <p:spPr>
          <a:xfrm>
            <a:off x="5667468" y="4243177"/>
            <a:ext cx="5780820" cy="420624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cate1=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공공행정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 · cate2=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일반행정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 · </a:t>
            </a: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레코드</a:t>
            </a:r>
            <a:r>
              <a:rPr lang="en-US"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 </a:t>
            </a:r>
            <a:r>
              <a:rPr lang="ko-KR" altLang="en-US"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수</a:t>
            </a:r>
            <a:r>
              <a:rPr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=중 · </a:t>
            </a: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컬럼폭</a:t>
            </a:r>
            <a:r>
              <a:rPr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=</a:t>
            </a: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표준</a:t>
            </a:r>
            <a:r>
              <a:rPr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 · </a:t>
            </a: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수치비</a:t>
            </a:r>
            <a:r>
              <a:rPr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=</a:t>
            </a: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혼합</a:t>
            </a:r>
            <a:endParaRPr sz="1100" b="1" i="0" dirty="0">
              <a:solidFill>
                <a:srgbClr val="00965F"/>
              </a:solidFill>
              <a:latin typeface="맑은 고딕"/>
              <a:ea typeface="맑은 고딕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기관</a:t>
            </a:r>
            <a:r>
              <a:rPr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=</a:t>
            </a: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기초지자체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  ·  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유일키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=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있음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 · 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상수컬럼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=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있음</a:t>
            </a:r>
            <a:endParaRPr sz="11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411" name="subB"/>
          <p:cNvSpPr txBox="1"/>
          <p:nvPr/>
        </p:nvSpPr>
        <p:spPr>
          <a:xfrm>
            <a:off x="5667468" y="4827077"/>
            <a:ext cx="5780820" cy="201168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 lnSpcReduction="10000"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②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컬럼개념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장바구니</a:t>
            </a:r>
            <a:r>
              <a:rPr lang="en-US"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: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보유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컬럼개념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7종</a:t>
            </a:r>
          </a:p>
        </p:txBody>
      </p:sp>
      <p:sp>
        <p:nvSpPr>
          <p:cNvPr id="412" name="chip-bg"/>
          <p:cNvSpPr/>
          <p:nvPr/>
        </p:nvSpPr>
        <p:spPr>
          <a:xfrm>
            <a:off x="5667468" y="5149131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 dirty="0">
                <a:solidFill>
                  <a:srgbClr val="081F46"/>
                </a:solidFill>
                <a:latin typeface="맑은 고딕"/>
                <a:ea typeface="맑은 고딕"/>
              </a:rPr>
              <a:t>소속</a:t>
            </a:r>
          </a:p>
        </p:txBody>
      </p:sp>
      <p:sp>
        <p:nvSpPr>
          <p:cNvPr id="414" name="chip-bg"/>
          <p:cNvSpPr/>
          <p:nvPr/>
        </p:nvSpPr>
        <p:spPr>
          <a:xfrm>
            <a:off x="7167750" y="5166355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 dirty="0">
                <a:solidFill>
                  <a:srgbClr val="081F46"/>
                </a:solidFill>
                <a:latin typeface="맑은 고딕"/>
                <a:ea typeface="맑은 고딕"/>
              </a:rPr>
              <a:t>소재지도로명주소</a:t>
            </a:r>
          </a:p>
        </p:txBody>
      </p:sp>
      <p:sp>
        <p:nvSpPr>
          <p:cNvPr id="416" name="chip-bg"/>
          <p:cNvSpPr/>
          <p:nvPr/>
        </p:nvSpPr>
        <p:spPr>
          <a:xfrm>
            <a:off x="8668032" y="5166355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>
                <a:solidFill>
                  <a:srgbClr val="081F46"/>
                </a:solidFill>
                <a:latin typeface="맑은 고딕"/>
                <a:ea typeface="맑은 고딕"/>
              </a:rPr>
              <a:t>소재지지번주소</a:t>
            </a:r>
            <a:endParaRPr lang="ko-KR" altLang="en-US" sz="1100" b="1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18" name="chip-bg"/>
          <p:cNvSpPr/>
          <p:nvPr/>
        </p:nvSpPr>
        <p:spPr>
          <a:xfrm>
            <a:off x="10168313" y="5166355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>
                <a:solidFill>
                  <a:srgbClr val="081F46"/>
                </a:solidFill>
                <a:latin typeface="맑은 고딕"/>
                <a:ea typeface="맑은 고딕"/>
              </a:rPr>
              <a:t>위도</a:t>
            </a:r>
            <a:endParaRPr lang="ko-KR" altLang="en-US" sz="1100" b="1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20" name="chip-bg"/>
          <p:cNvSpPr/>
          <p:nvPr/>
        </p:nvSpPr>
        <p:spPr>
          <a:xfrm>
            <a:off x="5667467" y="5503235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 dirty="0">
                <a:solidFill>
                  <a:srgbClr val="081F46"/>
                </a:solidFill>
                <a:latin typeface="맑은 고딕"/>
                <a:ea typeface="맑은 고딕"/>
              </a:rPr>
              <a:t>경도</a:t>
            </a:r>
          </a:p>
        </p:txBody>
      </p:sp>
      <p:sp>
        <p:nvSpPr>
          <p:cNvPr id="422" name="chip-bg"/>
          <p:cNvSpPr/>
          <p:nvPr/>
        </p:nvSpPr>
        <p:spPr>
          <a:xfrm>
            <a:off x="7167750" y="5503235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 dirty="0">
                <a:solidFill>
                  <a:srgbClr val="081F46"/>
                </a:solidFill>
                <a:latin typeface="맑은 고딕"/>
                <a:ea typeface="맑은 고딕"/>
              </a:rPr>
              <a:t>전화번호</a:t>
            </a:r>
          </a:p>
        </p:txBody>
      </p:sp>
      <p:sp>
        <p:nvSpPr>
          <p:cNvPr id="424" name="chip-bg"/>
          <p:cNvSpPr/>
          <p:nvPr/>
        </p:nvSpPr>
        <p:spPr>
          <a:xfrm>
            <a:off x="8668032" y="5503235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 dirty="0">
                <a:solidFill>
                  <a:srgbClr val="081F46"/>
                </a:solidFill>
                <a:latin typeface="맑은 고딕"/>
                <a:ea typeface="맑은 고딕"/>
              </a:rPr>
              <a:t>데이터기준일자</a:t>
            </a:r>
          </a:p>
        </p:txBody>
      </p:sp>
      <p:sp>
        <p:nvSpPr>
          <p:cNvPr id="426" name="arrow2"/>
          <p:cNvSpPr txBox="1"/>
          <p:nvPr/>
        </p:nvSpPr>
        <p:spPr>
          <a:xfrm>
            <a:off x="4480560" y="5926401"/>
            <a:ext cx="7114032" cy="274320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▼  999개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테이블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 = 999개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트랜잭션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  →  FP-Growth  → 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연관규칙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(lift)</a:t>
            </a:r>
          </a:p>
        </p:txBody>
      </p:sp>
      <p:sp>
        <p:nvSpPr>
          <p:cNvPr id="427" name="legend"/>
          <p:cNvSpPr txBox="1"/>
          <p:nvPr/>
        </p:nvSpPr>
        <p:spPr>
          <a:xfrm>
            <a:off x="4803343" y="6336421"/>
            <a:ext cx="7114032" cy="256032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[</a:t>
            </a:r>
            <a:r>
              <a:rPr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1D </a:t>
            </a:r>
            <a:r>
              <a:rPr sz="12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이산화·AOI</a:t>
            </a:r>
            <a:r>
              <a:rPr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롤업</a:t>
            </a:r>
            <a:r>
              <a:rPr lang="ko-KR" altLang="en-US"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을</a:t>
            </a:r>
            <a:r>
              <a:rPr lang="en-US"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lang="ko-KR" altLang="en-US"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적용한 </a:t>
            </a:r>
            <a:r>
              <a:rPr lang="ko-KR" altLang="en-US" sz="12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트랜잭선</a:t>
            </a:r>
            <a:r>
              <a:rPr lang="ko-KR" altLang="en-US"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 구성 예시</a:t>
            </a:r>
            <a:r>
              <a:rPr lang="en-US"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]</a:t>
            </a:r>
            <a:endParaRPr sz="1200" b="1" i="0" dirty="0">
              <a:solidFill>
                <a:srgbClr val="505050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발견 패턴·규칙 리스트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280430"/>
            <a:ext cx="11057839" cy="2920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비지도 분석(FP-Growth·연관규칙) 산출 패턴·규칙을 먼저 나열하고, 상세 분석 대상 페이지를 표시함</a:t>
            </a:r>
            <a:endParaRPr sz="1800" b="1" i="0" dirty="0">
              <a:solidFill>
                <a:srgbClr val="00965F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9</a:t>
            </a:r>
          </a:p>
        </p:txBody>
      </p:sp>
      <p:graphicFrame>
        <p:nvGraphicFramePr>
          <p:cNvPr id="4001" name="list-tbl"/>
          <p:cNvGraphicFramePr>
            <a:graphicFrameLocks noGrp="1"/>
          </p:cNvGraphicFramePr>
          <p:nvPr/>
        </p:nvGraphicFramePr>
        <p:xfrm>
          <a:off x="566928" y="1874520"/>
          <a:ext cx="11055096" cy="4187952"/>
        </p:xfrm>
        <a:graphic>
          <a:graphicData uri="http://schemas.openxmlformats.org/drawingml/2006/table">
            <a:tbl>
              <a:tblPr firstRow="1" bandRow="1"/>
              <a:tblGrid>
                <a:gridCol w="1188720"/>
                <a:gridCol w="6309360"/>
                <a:gridCol w="2468880"/>
                <a:gridCol w="1088136"/>
              </a:tblGrid>
              <a:tr h="384048">
                <a:tc>
                  <a:txBody>
                    <a:bodyPr wrap="square" lIns="50000" rIns="25000" tIns="10000" bIns="10000" anchor="ctr"/>
                    <a:lstStyle/>
                    <a:p>
                      <a:pPr algn="l"/>
                      <a:r>
                        <a:rPr lang="ko-KR"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구분</a:t>
                      </a:r>
                    </a:p>
                  </a:txBody>
                  <a:tcPr>
                    <a:solidFill>
                      <a:srgbClr val="081F46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l"/>
                      <a:r>
                        <a:rPr lang="ko-KR"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발견 내용</a:t>
                      </a:r>
                    </a:p>
                  </a:txBody>
                  <a:tcPr>
                    <a:solidFill>
                      <a:srgbClr val="081F46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핵심 지표</a:t>
                      </a:r>
                    </a:p>
                  </a:txBody>
                  <a:tcPr>
                    <a:solidFill>
                      <a:srgbClr val="081F46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상세</a:t>
                      </a:r>
                    </a:p>
                  </a:txBody>
                  <a:tcPr>
                    <a:solidFill>
                      <a:srgbClr val="081F46"/>
                    </a:solidFill>
                  </a:tcPr>
                </a:tc>
              </a:tr>
              <a:tr h="475488">
                <a:tc>
                  <a:txBody>
                    <a:bodyPr wrap="square" lIns="50000" rIns="25000" tIns="10000" bIns="10000" anchor="ctr"/>
                    <a:lstStyle/>
                    <a:p>
                      <a:pPr algn="l"/>
                      <a:r>
                        <a:rPr lang="ko-KR" sz="1000" b="1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패턴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l"/>
                      <a:r>
                        <a:rPr lang="ko-KR" sz="10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스키마 패밀리(의료기관·POI·사학재정·국가시험군)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ctr"/>
                      <a:r>
                        <a:rPr lang="ko-KR" sz="10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FP-Growth 최대빈발 ≥8테이블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965F"/>
                          </a:solidFill>
                          <a:latin typeface="맑은 고딕"/>
                          <a:ea typeface="맑은 고딕"/>
                        </a:rPr>
                        <a:t>p.12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  <a:tr h="475488">
                <a:tc>
                  <a:txBody>
                    <a:bodyPr wrap="square" lIns="50000" rIns="25000" tIns="10000" bIns="10000" anchor="ctr"/>
                    <a:lstStyle/>
                    <a:p>
                      <a:pPr algn="l"/>
                      <a:r>
                        <a:rPr lang="ko-KR" sz="1000" b="1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규칙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l"/>
                      <a:r>
                        <a:rPr lang="ko-KR" sz="10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경도 → 위도 (POI 좌표쌍)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ctr"/>
                      <a:r>
                        <a:rPr lang="ko-KR" sz="10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conf 1.00 · lift 22.7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965F"/>
                          </a:solidFill>
                          <a:latin typeface="맑은 고딕"/>
                          <a:ea typeface="맑은 고딕"/>
                        </a:rPr>
                        <a:t>p.13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 lIns="50000" rIns="25000" tIns="10000" bIns="10000" anchor="ctr"/>
                    <a:lstStyle/>
                    <a:p>
                      <a:pPr algn="l"/>
                      <a:r>
                        <a:rPr lang="ko-KR" sz="1000" b="1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규칙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l"/>
                      <a:r>
                        <a:rPr lang="ko-KR" sz="10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교과목코드 ↔ 분반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ctr"/>
                      <a:r>
                        <a:rPr lang="ko-KR" sz="10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conf 1.00 · lift 124.9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965F"/>
                          </a:solidFill>
                          <a:latin typeface="맑은 고딕"/>
                          <a:ea typeface="맑은 고딕"/>
                        </a:rPr>
                        <a:t>p.13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  <a:tr h="475488">
                <a:tc>
                  <a:txBody>
                    <a:bodyPr wrap="square" lIns="50000" rIns="25000" tIns="10000" bIns="10000" anchor="ctr"/>
                    <a:lstStyle/>
                    <a:p>
                      <a:pPr algn="l"/>
                      <a:r>
                        <a:rPr lang="ko-KR" sz="1000" b="1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규칙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l"/>
                      <a:r>
                        <a:rPr lang="ko-KR" sz="10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시도명 → 시군구명 (행정구역 계층)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ctr"/>
                      <a:r>
                        <a:rPr lang="ko-KR" sz="10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conf 0.94 · lift 39.0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965F"/>
                          </a:solidFill>
                          <a:latin typeface="맑은 고딕"/>
                          <a:ea typeface="맑은 고딕"/>
                        </a:rPr>
                        <a:t>p.13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 lIns="50000" rIns="25000" tIns="10000" bIns="10000" anchor="ctr"/>
                    <a:lstStyle/>
                    <a:p>
                      <a:pPr algn="l"/>
                      <a:r>
                        <a:rPr lang="ko-KR" sz="1000" b="1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거버넌스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l"/>
                      <a:r>
                        <a:rPr lang="ko-KR" sz="10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출처 결손 — ‘유아및초·중등교육’ 100% placeholder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ctr"/>
                      <a:r>
                        <a:rPr lang="ko-KR" sz="10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A1 conf 1.00 · lift 6.89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965F"/>
                          </a:solidFill>
                          <a:latin typeface="맑은 고딕"/>
                          <a:ea typeface="맑은 고딕"/>
                        </a:rPr>
                        <a:t>p.10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  <a:tr h="475488">
                <a:tc>
                  <a:txBody>
                    <a:bodyPr wrap="square" lIns="50000" rIns="25000" tIns="10000" bIns="10000" anchor="ctr"/>
                    <a:lstStyle/>
                    <a:p>
                      <a:pPr algn="l"/>
                      <a:r>
                        <a:rPr lang="ko-KR" sz="1000" b="1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거버넌스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l"/>
                      <a:r>
                        <a:rPr lang="ko-KR" sz="10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교차도메인 재식별 — 의료기관전화 → {명·주소}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ctr"/>
                      <a:r>
                        <a:rPr lang="ko-KR" sz="10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conf 0.88 · lift 46.4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965F"/>
                          </a:solidFill>
                          <a:latin typeface="맑은 고딕"/>
                          <a:ea typeface="맑은 고딕"/>
                        </a:rPr>
                        <a:t>p.11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 lIns="50000" rIns="25000" tIns="10000" bIns="10000" anchor="ctr"/>
                    <a:lstStyle/>
                    <a:p>
                      <a:pPr algn="l"/>
                      <a:r>
                        <a:rPr lang="ko-KR" sz="1000" b="1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검증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l"/>
                      <a:r>
                        <a:rPr lang="ko-KR" sz="10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규칙#4 국소→전체 (도로명 → 지번)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ctr"/>
                      <a:r>
                        <a:rPr lang="ko-KR" sz="10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conf 1.00 → 0.44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965F"/>
                          </a:solidFill>
                          <a:latin typeface="맑은 고딕"/>
                          <a:ea typeface="맑은 고딕"/>
                        </a:rPr>
                        <a:t>p.15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  <a:tr h="475488">
                <a:tc>
                  <a:txBody>
                    <a:bodyPr wrap="square" lIns="50000" rIns="25000" tIns="10000" bIns="10000" anchor="ctr"/>
                    <a:lstStyle/>
                    <a:p>
                      <a:pPr algn="l"/>
                      <a:r>
                        <a:rPr lang="ko-KR" sz="1000" b="1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기타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l"/>
                      <a:r>
                        <a:rPr lang="ko-KR" sz="10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컬럼 표준·값지문 / 상수·스키마불일치 / 교차도메인값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ctr"/>
                      <a:r>
                        <a:rPr lang="ko-KR" sz="10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1D 집계·샘플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965F"/>
                          </a:solidFill>
                          <a:latin typeface="맑은 고딕"/>
                          <a:ea typeface="맑은 고딕"/>
                        </a:rPr>
                        <a:t>p.16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002" name="list-cap"/>
          <p:cNvSpPr txBox="1"/>
          <p:nvPr/>
        </p:nvSpPr>
        <p:spPr>
          <a:xfrm>
            <a:off x="566928" y="6035040"/>
            <a:ext cx="11055096" cy="274320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‘상세’ 열은 해당 발견을 깊이 다루는 페이지 · 1D 집계·샘플 결과는 ‘기타(p.16)’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거버넌스 이슈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98839"/>
            <a:ext cx="11057839" cy="410497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거버넌스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G1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출처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lang="ko-KR" altLang="en-US"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누락 공통성</a:t>
            </a:r>
            <a:endParaRPr sz="2600" b="1" i="0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46429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10</a:t>
            </a:r>
          </a:p>
        </p:txBody>
      </p:sp>
      <p:sp>
        <p:nvSpPr>
          <p:cNvPr id="505" name="g1-bg"/>
          <p:cNvSpPr/>
          <p:nvPr/>
        </p:nvSpPr>
        <p:spPr>
          <a:xfrm>
            <a:off x="566928" y="3630122"/>
            <a:ext cx="5285232" cy="2852928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06" name="g1-hdr"/>
          <p:cNvSpPr/>
          <p:nvPr/>
        </p:nvSpPr>
        <p:spPr>
          <a:xfrm>
            <a:off x="566928" y="3630122"/>
            <a:ext cx="5285232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507" name="g1-title"/>
          <p:cNvSpPr txBox="1"/>
          <p:nvPr/>
        </p:nvSpPr>
        <p:spPr>
          <a:xfrm>
            <a:off x="566928" y="3630122"/>
            <a:ext cx="5285232" cy="310896"/>
          </a:xfrm>
          <a:prstGeom prst="rect">
            <a:avLst/>
          </a:prstGeom>
          <a:noFill/>
        </p:spPr>
        <p:txBody>
          <a:bodyPr wrap="square" lIns="109728" tIns="6350" rIns="109728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예시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데이터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—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무엇이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누락됐나</a:t>
            </a:r>
            <a:endParaRPr sz="14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508" name="g1-ex-sub"/>
          <p:cNvSpPr txBox="1"/>
          <p:nvPr/>
        </p:nvSpPr>
        <p:spPr>
          <a:xfrm>
            <a:off x="676656" y="3977594"/>
            <a:ext cx="5065776" cy="365760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예시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1건: 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광주광역시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남구_어린이집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현황_20230712.csv</a:t>
            </a:r>
          </a:p>
        </p:txBody>
      </p:sp>
      <p:sp>
        <p:nvSpPr>
          <p:cNvPr id="509" name="g1-f0"/>
          <p:cNvSpPr txBox="1"/>
          <p:nvPr/>
        </p:nvSpPr>
        <p:spPr>
          <a:xfrm>
            <a:off x="713232" y="4506676"/>
            <a:ext cx="1874520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table_source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(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출처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510" name="g1-v0"/>
          <p:cNvSpPr txBox="1"/>
          <p:nvPr/>
        </p:nvSpPr>
        <p:spPr>
          <a:xfrm>
            <a:off x="2587752" y="4506676"/>
            <a:ext cx="3118104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>
                <a:solidFill>
                  <a:srgbClr val="C0392B"/>
                </a:solidFill>
                <a:latin typeface="맑은 고딕"/>
                <a:ea typeface="맑은 고딕"/>
              </a:rPr>
              <a:t>‘</a:t>
            </a:r>
            <a:r>
              <a:rPr sz="1000" b="1" i="0" dirty="0" err="1">
                <a:solidFill>
                  <a:srgbClr val="C0392B"/>
                </a:solidFill>
                <a:latin typeface="맑은 고딕"/>
                <a:ea typeface="맑은 고딕"/>
              </a:rPr>
              <a:t>소스</a:t>
            </a:r>
            <a:r>
              <a:rPr sz="1000" b="1" i="0" dirty="0">
                <a:solidFill>
                  <a:srgbClr val="C0392B"/>
                </a:solidFill>
                <a:latin typeface="맑은 고딕"/>
                <a:ea typeface="맑은 고딕"/>
              </a:rPr>
              <a:t>’</a:t>
            </a:r>
            <a:r>
              <a:rPr sz="1000" b="0" i="0" dirty="0">
                <a:solidFill>
                  <a:srgbClr val="C0392B"/>
                </a:solidFill>
                <a:latin typeface="맑은 고딕"/>
                <a:ea typeface="맑은 고딕"/>
              </a:rPr>
              <a:t>   ✗ placeholder (</a:t>
            </a:r>
            <a:r>
              <a:rPr sz="1000" b="0" i="0" dirty="0" err="1">
                <a:solidFill>
                  <a:srgbClr val="C0392B"/>
                </a:solidFill>
                <a:latin typeface="맑은 고딕"/>
                <a:ea typeface="맑은 고딕"/>
              </a:rPr>
              <a:t>기관명</a:t>
            </a:r>
            <a:r>
              <a:rPr sz="1000" b="0" i="0" dirty="0">
                <a:solidFill>
                  <a:srgbClr val="C0392B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C0392B"/>
                </a:solidFill>
                <a:latin typeface="맑은 고딕"/>
                <a:ea typeface="맑은 고딕"/>
              </a:rPr>
              <a:t>소실</a:t>
            </a:r>
            <a:r>
              <a:rPr sz="1000" b="0" i="0" dirty="0">
                <a:solidFill>
                  <a:srgbClr val="C0392B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511" name="g1-f1"/>
          <p:cNvSpPr txBox="1"/>
          <p:nvPr/>
        </p:nvSpPr>
        <p:spPr>
          <a:xfrm>
            <a:off x="713232" y="4822144"/>
            <a:ext cx="1874520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url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(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원본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링크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512" name="g1-v1"/>
          <p:cNvSpPr txBox="1"/>
          <p:nvPr/>
        </p:nvSpPr>
        <p:spPr>
          <a:xfrm>
            <a:off x="2587752" y="4822144"/>
            <a:ext cx="3118104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>
                <a:solidFill>
                  <a:srgbClr val="C0392B"/>
                </a:solidFill>
                <a:latin typeface="맑은 고딕"/>
                <a:ea typeface="맑은 고딕"/>
              </a:rPr>
              <a:t>‘</a:t>
            </a:r>
            <a:r>
              <a:rPr sz="1000" b="1" i="0" dirty="0" err="1">
                <a:solidFill>
                  <a:srgbClr val="C0392B"/>
                </a:solidFill>
                <a:latin typeface="맑은 고딕"/>
                <a:ea typeface="맑은 고딕"/>
              </a:rPr>
              <a:t>url</a:t>
            </a:r>
            <a:r>
              <a:rPr sz="1000" b="1" i="0" dirty="0">
                <a:solidFill>
                  <a:srgbClr val="C0392B"/>
                </a:solidFill>
                <a:latin typeface="맑은 고딕"/>
                <a:ea typeface="맑은 고딕"/>
              </a:rPr>
              <a:t>’</a:t>
            </a:r>
            <a:r>
              <a:rPr sz="1000" b="0" i="0" dirty="0">
                <a:solidFill>
                  <a:srgbClr val="C0392B"/>
                </a:solidFill>
                <a:latin typeface="맑은 고딕"/>
                <a:ea typeface="맑은 고딕"/>
              </a:rPr>
              <a:t>   ✗ placeholder</a:t>
            </a:r>
          </a:p>
        </p:txBody>
      </p:sp>
      <p:sp>
        <p:nvSpPr>
          <p:cNvPr id="513" name="g1-f2"/>
          <p:cNvSpPr txBox="1"/>
          <p:nvPr/>
        </p:nvSpPr>
        <p:spPr>
          <a:xfrm>
            <a:off x="713232" y="5137612"/>
            <a:ext cx="1874520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81F46"/>
                </a:solidFill>
                <a:latin typeface="맑은 고딕"/>
                <a:ea typeface="맑은 고딕"/>
              </a:rPr>
              <a:t>table_nm (파일명)</a:t>
            </a:r>
          </a:p>
        </p:txBody>
      </p:sp>
      <p:sp>
        <p:nvSpPr>
          <p:cNvPr id="514" name="g1-v2"/>
          <p:cNvSpPr txBox="1"/>
          <p:nvPr/>
        </p:nvSpPr>
        <p:spPr>
          <a:xfrm>
            <a:off x="2587752" y="5137612"/>
            <a:ext cx="3118104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82D37"/>
                </a:solidFill>
                <a:latin typeface="맑은 고딕"/>
                <a:ea typeface="맑은 고딕"/>
              </a:rPr>
              <a:t>‘광주광역시 남구…’</a:t>
            </a:r>
            <a:r>
              <a:rPr sz="1000" b="1" i="0">
                <a:solidFill>
                  <a:srgbClr val="00965F"/>
                </a:solidFill>
                <a:latin typeface="맑은 고딕"/>
                <a:ea typeface="맑은 고딕"/>
              </a:rPr>
              <a:t>   ✓ 기관명 존재</a:t>
            </a:r>
          </a:p>
        </p:txBody>
      </p:sp>
      <p:sp>
        <p:nvSpPr>
          <p:cNvPr id="515" name="g1-f3"/>
          <p:cNvSpPr txBox="1"/>
          <p:nvPr/>
        </p:nvSpPr>
        <p:spPr>
          <a:xfrm>
            <a:off x="713232" y="5453080"/>
            <a:ext cx="1874520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81F46"/>
                </a:solidFill>
                <a:latin typeface="맑은 고딕"/>
                <a:ea typeface="맑은 고딕"/>
              </a:rPr>
              <a:t>regi_date (등록)</a:t>
            </a:r>
          </a:p>
        </p:txBody>
      </p:sp>
      <p:sp>
        <p:nvSpPr>
          <p:cNvPr id="516" name="g1-v3"/>
          <p:cNvSpPr txBox="1"/>
          <p:nvPr/>
        </p:nvSpPr>
        <p:spPr>
          <a:xfrm>
            <a:off x="2587752" y="5453080"/>
            <a:ext cx="3118104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2026-03-30</a:t>
            </a:r>
            <a:r>
              <a:rPr sz="1000" b="0" i="0" dirty="0">
                <a:solidFill>
                  <a:srgbClr val="505050"/>
                </a:solidFill>
                <a:latin typeface="맑은 고딕"/>
                <a:ea typeface="맑은 고딕"/>
              </a:rPr>
              <a:t>   (100건 </a:t>
            </a:r>
            <a:r>
              <a:rPr sz="10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전부</a:t>
            </a:r>
            <a:r>
              <a:rPr sz="1000" b="0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동일</a:t>
            </a:r>
            <a:r>
              <a:rPr sz="1000" b="0" i="0" dirty="0">
                <a:solidFill>
                  <a:srgbClr val="505050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517" name="g1-f4"/>
          <p:cNvSpPr txBox="1"/>
          <p:nvPr/>
        </p:nvSpPr>
        <p:spPr>
          <a:xfrm>
            <a:off x="713232" y="5768548"/>
            <a:ext cx="1874520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81F46"/>
                </a:solidFill>
                <a:latin typeface="맑은 고딕"/>
                <a:ea typeface="맑은 고딕"/>
              </a:rPr>
              <a:t>src_platform</a:t>
            </a:r>
          </a:p>
        </p:txBody>
      </p:sp>
      <p:sp>
        <p:nvSpPr>
          <p:cNvPr id="518" name="g1-v4"/>
          <p:cNvSpPr txBox="1"/>
          <p:nvPr/>
        </p:nvSpPr>
        <p:spPr>
          <a:xfrm>
            <a:off x="2587752" y="5768548"/>
            <a:ext cx="3118104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82D37"/>
                </a:solidFill>
                <a:latin typeface="맑은 고딕"/>
                <a:ea typeface="맑은 고딕"/>
              </a:rPr>
              <a:t>공공데이터포털</a:t>
            </a:r>
            <a:r>
              <a:rPr sz="1000" b="1" i="0">
                <a:solidFill>
                  <a:srgbClr val="00965F"/>
                </a:solidFill>
                <a:latin typeface="맑은 고딕"/>
                <a:ea typeface="맑은 고딕"/>
              </a:rPr>
              <a:t>   ✓ 정상</a:t>
            </a:r>
          </a:p>
        </p:txBody>
      </p:sp>
      <p:sp>
        <p:nvSpPr>
          <p:cNvPr id="520" name="g1-bg"/>
          <p:cNvSpPr/>
          <p:nvPr/>
        </p:nvSpPr>
        <p:spPr>
          <a:xfrm>
            <a:off x="6053328" y="1991758"/>
            <a:ext cx="5568696" cy="272491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21" name="g1-hdr"/>
          <p:cNvSpPr/>
          <p:nvPr/>
        </p:nvSpPr>
        <p:spPr>
          <a:xfrm>
            <a:off x="6053328" y="1991758"/>
            <a:ext cx="5568696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522" name="g1-title"/>
          <p:cNvSpPr txBox="1"/>
          <p:nvPr/>
        </p:nvSpPr>
        <p:spPr>
          <a:xfrm>
            <a:off x="6053328" y="1991758"/>
            <a:ext cx="5568696" cy="310896"/>
          </a:xfrm>
          <a:prstGeom prst="rect">
            <a:avLst/>
          </a:prstGeom>
          <a:noFill/>
        </p:spPr>
        <p:txBody>
          <a:bodyPr wrap="square" lIns="109728" tIns="6350" rIns="109728" bIns="6350" anchor="ctr">
            <a:normAutofit/>
          </a:bodyPr>
          <a:lstStyle/>
          <a:p>
            <a:pPr>
              <a:lnSpc>
                <a:spcPct val="118000"/>
              </a:lnSpc>
            </a:pPr>
            <a:r>
              <a:rPr lang="ko-KR" altLang="en-US" sz="1400" b="1" dirty="0">
                <a:solidFill>
                  <a:srgbClr val="FFFFFF"/>
                </a:solidFill>
                <a:latin typeface="맑은 고딕"/>
                <a:ea typeface="맑은 고딕"/>
              </a:rPr>
              <a:t>①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의미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분석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(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구체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523" name="g1-mean"/>
          <p:cNvSpPr txBox="1"/>
          <p:nvPr/>
        </p:nvSpPr>
        <p:spPr>
          <a:xfrm>
            <a:off x="6163056" y="2348374"/>
            <a:ext cx="5367528" cy="2322576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①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누락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값: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table_source→‘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소스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’,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url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→‘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url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’ — 두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메타필드가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더미로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덮임</a:t>
            </a:r>
            <a:r>
              <a:rPr lang="en-US"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② </a:t>
            </a:r>
            <a:r>
              <a:rPr lang="ko-KR" altLang="en-US"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공통성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: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placeholder 145건 중 100건이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전부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‘</a:t>
            </a:r>
            <a:r>
              <a:rPr sz="1000" b="1" i="0" u="sng" dirty="0" err="1">
                <a:solidFill>
                  <a:srgbClr val="282D37"/>
                </a:solidFill>
                <a:latin typeface="맑은 고딕"/>
                <a:ea typeface="맑은 고딕"/>
              </a:rPr>
              <a:t>유아및초·중등교육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’(이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분류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100%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소실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, </a:t>
            </a:r>
            <a:endParaRPr lang="en-US"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r>
              <a:rPr lang="en-US" sz="1000" dirty="0">
                <a:solidFill>
                  <a:srgbClr val="282D37"/>
                </a:solidFill>
                <a:latin typeface="맑은 고딕"/>
                <a:ea typeface="맑은 고딕"/>
              </a:rPr>
              <a:t>  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타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분류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1~15%)</a:t>
            </a:r>
            <a:endParaRPr lang="en-US"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③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단일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배치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: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100건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모두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1" i="0" u="sng" dirty="0" err="1">
                <a:solidFill>
                  <a:srgbClr val="282D37"/>
                </a:solidFill>
                <a:latin typeface="맑은 고딕"/>
                <a:ea typeface="맑은 고딕"/>
              </a:rPr>
              <a:t>regi_date</a:t>
            </a:r>
            <a:r>
              <a:rPr sz="1000" b="1" i="0" u="sng" dirty="0">
                <a:solidFill>
                  <a:srgbClr val="282D37"/>
                </a:solidFill>
                <a:latin typeface="맑은 고딕"/>
                <a:ea typeface="맑은 고딕"/>
              </a:rPr>
              <a:t>=2026-03-30 </a:t>
            </a:r>
            <a:r>
              <a:rPr sz="1000" b="1" i="0" u="sng" dirty="0" err="1">
                <a:solidFill>
                  <a:srgbClr val="282D37"/>
                </a:solidFill>
                <a:latin typeface="맑은 고딕"/>
                <a:ea typeface="맑은 고딕"/>
              </a:rPr>
              <a:t>동일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한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번의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적재에서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일괄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placeholder</a:t>
            </a:r>
            <a:endParaRPr lang="en-US"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r>
              <a:rPr lang="en-US" sz="1000" dirty="0">
                <a:solidFill>
                  <a:srgbClr val="282D37"/>
                </a:solidFill>
                <a:latin typeface="맑은 고딕"/>
                <a:ea typeface="맑은 고딕"/>
              </a:rPr>
              <a:t> 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처리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(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우연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아님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)</a:t>
            </a:r>
            <a:endParaRPr lang="en-US"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>
              <a:lnSpc>
                <a:spcPct val="118000"/>
              </a:lnSpc>
              <a:spcAft>
                <a:spcPts val="40"/>
              </a:spcAft>
            </a:pPr>
            <a:r>
              <a:rPr lang="ko-KR" altLang="en-US" sz="1000" b="1" dirty="0">
                <a:solidFill>
                  <a:srgbClr val="081F46"/>
                </a:solidFill>
                <a:latin typeface="맑은 고딕"/>
                <a:ea typeface="맑은 고딕"/>
              </a:rPr>
              <a:t>④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영향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: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출처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신뢰성·책임추적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(provenance)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붕괴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. 단,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파일명에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기관명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잔존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복구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가능</a:t>
            </a: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524" name="g1-bg"/>
          <p:cNvSpPr/>
          <p:nvPr/>
        </p:nvSpPr>
        <p:spPr>
          <a:xfrm>
            <a:off x="6053328" y="4808110"/>
            <a:ext cx="5568696" cy="1664208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25" name="g1-hdr"/>
          <p:cNvSpPr/>
          <p:nvPr/>
        </p:nvSpPr>
        <p:spPr>
          <a:xfrm>
            <a:off x="6053328" y="4808110"/>
            <a:ext cx="5568696" cy="310896"/>
          </a:xfrm>
          <a:prstGeom prst="roundRect">
            <a:avLst/>
          </a:prstGeom>
          <a:solidFill>
            <a:srgbClr val="00965F"/>
          </a:solidFill>
          <a:ln w="9525">
            <a:solidFill>
              <a:srgbClr val="009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526" name="g1-title"/>
          <p:cNvSpPr txBox="1"/>
          <p:nvPr/>
        </p:nvSpPr>
        <p:spPr>
          <a:xfrm>
            <a:off x="6053328" y="4808110"/>
            <a:ext cx="5568696" cy="310896"/>
          </a:xfrm>
          <a:prstGeom prst="rect">
            <a:avLst/>
          </a:prstGeom>
          <a:noFill/>
        </p:spPr>
        <p:txBody>
          <a:bodyPr wrap="square" lIns="109728" tIns="6350" rIns="109728" bIns="6350" anchor="ctr">
            <a:normAutofit/>
          </a:bodyPr>
          <a:lstStyle/>
          <a:p>
            <a:pPr>
              <a:lnSpc>
                <a:spcPct val="118000"/>
              </a:lnSpc>
            </a:pPr>
            <a:r>
              <a:rPr lang="ko-KR" altLang="en-US" sz="1400" b="1" dirty="0">
                <a:solidFill>
                  <a:srgbClr val="FFFFFF"/>
                </a:solidFill>
                <a:latin typeface="맑은 고딕"/>
                <a:ea typeface="맑은 고딕"/>
              </a:rPr>
              <a:t>②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처리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· ③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대책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· ④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추가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분석</a:t>
            </a:r>
            <a:endParaRPr sz="14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527" name="g1-action"/>
          <p:cNvSpPr txBox="1"/>
          <p:nvPr/>
        </p:nvSpPr>
        <p:spPr>
          <a:xfrm>
            <a:off x="6163056" y="5164726"/>
            <a:ext cx="5367528" cy="1261872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"/>
              </a:spcAft>
            </a:pP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처리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: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AOI로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‘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소스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’=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미상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식별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cate2별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교차표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en-US"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→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결합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포착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(lift 6.89)</a:t>
            </a:r>
            <a:endParaRPr lang="en-US"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"/>
              </a:spcAft>
            </a:pP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"/>
              </a:spcAft>
            </a:pPr>
            <a:r>
              <a:rPr sz="10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대책</a:t>
            </a:r>
            <a:r>
              <a:rPr sz="1000" b="1" i="0" dirty="0">
                <a:solidFill>
                  <a:srgbClr val="00965F"/>
                </a:solidFill>
                <a:latin typeface="맑은 고딕"/>
                <a:ea typeface="맑은 고딕"/>
              </a:rPr>
              <a:t>: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①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파일명에서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출처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복구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(1순위) ②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적재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시 </a:t>
            </a:r>
            <a:r>
              <a:rPr lang="ko-KR" altLang="en-US"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출처 표기 등록 로직 점검</a:t>
            </a:r>
            <a:r>
              <a:rPr lang="en-US" altLang="ko-KR" sz="100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③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출처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표준코드</a:t>
            </a:r>
            <a:endParaRPr lang="en-US"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"/>
              </a:spcAft>
            </a:pP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"/>
              </a:spcAft>
            </a:pPr>
            <a:r>
              <a:rPr sz="10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추가</a:t>
            </a:r>
            <a:r>
              <a:rPr sz="1000" b="1" i="0" dirty="0">
                <a:solidFill>
                  <a:srgbClr val="00965F"/>
                </a:solidFill>
                <a:latin typeface="맑은 고딕"/>
                <a:ea typeface="맑은 고딕"/>
              </a:rPr>
              <a:t>: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regi_date·url로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배치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역추적</a:t>
            </a: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601" name="metric-bg"/>
          <p:cNvSpPr/>
          <p:nvPr/>
        </p:nvSpPr>
        <p:spPr>
          <a:xfrm>
            <a:off x="566928" y="1115568"/>
            <a:ext cx="11055096" cy="676656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02" name="metric-pattern"/>
          <p:cNvSpPr txBox="1"/>
          <p:nvPr/>
        </p:nvSpPr>
        <p:spPr>
          <a:xfrm>
            <a:off x="804672" y="1161288"/>
            <a:ext cx="10597896" cy="182880"/>
          </a:xfrm>
          <a:prstGeom prst="rect">
            <a:avLst/>
          </a:prstGeom>
          <a:noFill/>
        </p:spPr>
        <p:txBody>
          <a:bodyPr wrap="square" lIns="36576" tIns="6350" rIns="36576" bIns="635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발견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패턴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 ▸  </a:t>
            </a:r>
            <a:r>
              <a:rPr lang="en-US" sz="1000" b="1" i="0" dirty="0">
                <a:solidFill>
                  <a:srgbClr val="505050"/>
                </a:solidFill>
                <a:latin typeface="맑은 고딕"/>
                <a:ea typeface="맑은 고딕"/>
              </a:rPr>
              <a:t>cate2 = </a:t>
            </a:r>
            <a:r>
              <a:rPr lang="ko-KR" altLang="en-US" sz="10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유아및초</a:t>
            </a:r>
            <a:r>
              <a:rPr lang="ko-KR" altLang="en-US" sz="1000" b="1" dirty="0" err="1">
                <a:solidFill>
                  <a:srgbClr val="505050"/>
                </a:solidFill>
                <a:latin typeface="맑은 고딕"/>
                <a:ea typeface="맑은 고딕"/>
              </a:rPr>
              <a:t>중등교육</a:t>
            </a:r>
            <a:r>
              <a:rPr lang="ko-KR" altLang="en-US" sz="1000" b="1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1" dirty="0">
                <a:solidFill>
                  <a:srgbClr val="505050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 </a:t>
            </a:r>
            <a:r>
              <a:rPr lang="ko-KR" altLang="en-US" sz="1000" b="1" dirty="0">
                <a:solidFill>
                  <a:srgbClr val="505050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기관 </a:t>
            </a:r>
            <a:r>
              <a:rPr lang="en-US" altLang="ko-KR" sz="1000" b="1" dirty="0">
                <a:solidFill>
                  <a:srgbClr val="505050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= </a:t>
            </a:r>
            <a:r>
              <a:rPr lang="ko-KR" altLang="en-US" sz="1000" b="1" dirty="0">
                <a:solidFill>
                  <a:srgbClr val="505050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미상</a:t>
            </a:r>
            <a:r>
              <a:rPr sz="1000" b="1" i="0" dirty="0">
                <a:solidFill>
                  <a:srgbClr val="505050"/>
                </a:solidFill>
                <a:latin typeface="맑은 고딕"/>
                <a:ea typeface="맑은 고딕"/>
              </a:rPr>
              <a:t> (lift 6.89·conf 1.0)</a:t>
            </a:r>
          </a:p>
        </p:txBody>
      </p:sp>
      <p:sp>
        <p:nvSpPr>
          <p:cNvPr id="603" name="metric-number"/>
          <p:cNvSpPr txBox="1"/>
          <p:nvPr/>
        </p:nvSpPr>
        <p:spPr>
          <a:xfrm>
            <a:off x="786384" y="1339596"/>
            <a:ext cx="3154680" cy="420624"/>
          </a:xfrm>
          <a:prstGeom prst="rect">
            <a:avLst/>
          </a:prstGeom>
          <a:noFill/>
        </p:spPr>
        <p:txBody>
          <a:bodyPr wrap="square" lIns="36576" tIns="6350" rIns="36576" bIns="6350" anchor="ctr">
            <a:normAutofit fontScale="77500" lnSpcReduction="20000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 dirty="0">
                <a:solidFill>
                  <a:srgbClr val="081F46"/>
                </a:solidFill>
                <a:latin typeface="맑은 고딕"/>
                <a:ea typeface="맑은 고딕"/>
              </a:rPr>
              <a:t>100%</a:t>
            </a:r>
          </a:p>
        </p:txBody>
      </p:sp>
      <p:sp>
        <p:nvSpPr>
          <p:cNvPr id="604" name="metric-desc"/>
          <p:cNvSpPr txBox="1"/>
          <p:nvPr/>
        </p:nvSpPr>
        <p:spPr>
          <a:xfrm>
            <a:off x="2084832" y="1320673"/>
            <a:ext cx="9336024" cy="420624"/>
          </a:xfrm>
          <a:prstGeom prst="rect">
            <a:avLst/>
          </a:prstGeom>
          <a:noFill/>
        </p:spPr>
        <p:txBody>
          <a:bodyPr wrap="square" lIns="54864" tIns="6350" rIns="54864" bIns="635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출처</a:t>
            </a:r>
            <a:r>
              <a:rPr b="1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누락은</a:t>
            </a:r>
            <a:r>
              <a:rPr b="1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무작위가</a:t>
            </a:r>
            <a:r>
              <a:rPr b="1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아니라</a:t>
            </a:r>
            <a:r>
              <a:rPr b="1" dirty="0">
                <a:solidFill>
                  <a:srgbClr val="282D37"/>
                </a:solidFill>
                <a:latin typeface="맑은 고딕"/>
                <a:ea typeface="맑은 고딕"/>
              </a:rPr>
              <a:t> “</a:t>
            </a: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유아및초·중등교육”에</a:t>
            </a:r>
            <a:r>
              <a:rPr b="1" dirty="0">
                <a:solidFill>
                  <a:srgbClr val="282D37"/>
                </a:solidFill>
                <a:latin typeface="맑은 고딕"/>
                <a:ea typeface="맑은 고딕"/>
              </a:rPr>
              <a:t> 100% </a:t>
            </a: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집중된</a:t>
            </a:r>
            <a:r>
              <a:rPr lang="en-US" b="1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ko-KR" altLang="en-US" b="1" dirty="0">
                <a:solidFill>
                  <a:srgbClr val="282D37"/>
                </a:solidFill>
                <a:latin typeface="맑은 고딕"/>
                <a:ea typeface="맑은 고딕"/>
              </a:rPr>
              <a:t>공통 특성을 가짐</a:t>
            </a:r>
            <a:r>
              <a:rPr lang="en-US" altLang="ko-KR" b="1" dirty="0">
                <a:solidFill>
                  <a:srgbClr val="282D37"/>
                </a:solidFill>
                <a:latin typeface="맑은 고딕"/>
                <a:ea typeface="맑은 고딕"/>
              </a:rPr>
              <a:t>.</a:t>
            </a:r>
            <a:endParaRPr b="1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701" name="a1-bg"/>
          <p:cNvSpPr/>
          <p:nvPr/>
        </p:nvSpPr>
        <p:spPr>
          <a:xfrm>
            <a:off x="566928" y="1991758"/>
            <a:ext cx="5285232" cy="15544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702" name="a1-hdr"/>
          <p:cNvSpPr/>
          <p:nvPr/>
        </p:nvSpPr>
        <p:spPr>
          <a:xfrm>
            <a:off x="566928" y="1991758"/>
            <a:ext cx="5285232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703" name="a1-title"/>
          <p:cNvSpPr txBox="1"/>
          <p:nvPr/>
        </p:nvSpPr>
        <p:spPr>
          <a:xfrm>
            <a:off x="566928" y="1991758"/>
            <a:ext cx="5285232" cy="310896"/>
          </a:xfrm>
          <a:prstGeom prst="rect">
            <a:avLst/>
          </a:prstGeom>
          <a:noFill/>
        </p:spPr>
        <p:txBody>
          <a:bodyPr wrap="square" lIns="109728" tIns="6350" rIns="109728" bIns="6350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관련 트랜잭션 아이템 및 연관 규칙</a:t>
            </a:r>
            <a:endParaRPr sz="14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704" name="a1-text"/>
          <p:cNvSpPr txBox="1"/>
          <p:nvPr/>
        </p:nvSpPr>
        <p:spPr>
          <a:xfrm>
            <a:off x="676656" y="2330086"/>
            <a:ext cx="5084064" cy="603504"/>
          </a:xfrm>
          <a:prstGeom prst="rect">
            <a:avLst/>
          </a:prstGeom>
          <a:noFill/>
        </p:spPr>
        <p:txBody>
          <a:bodyPr wrap="square" lIns="12700" tIns="6350" rIns="12700" bIns="635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"/>
              </a:spcAft>
            </a:pP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·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트랜잭션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=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테이블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1건(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속성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트랜잭션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A)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"/>
              </a:spcAft>
            </a:pP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·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아이템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=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‘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속성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=값’ 8종 — cate1·cate2·기관(AOI)·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레코드·컬럼폭·수치비·유일키·상수컬럼</a:t>
            </a: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000" b="1" dirty="0">
                <a:solidFill>
                  <a:srgbClr val="081F46"/>
                </a:solidFill>
                <a:latin typeface="맑은 고딕"/>
                <a:ea typeface="맑은 고딕"/>
              </a:rPr>
              <a:t>※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이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아이템들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사이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규칙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중 cate1↔cate2</a:t>
            </a:r>
            <a:r>
              <a:rPr lang="ko-KR" altLang="en-US"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과 같은 명백한 규칙은 제외</a:t>
            </a: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705" name="a1-chip"/>
          <p:cNvSpPr/>
          <p:nvPr/>
        </p:nvSpPr>
        <p:spPr>
          <a:xfrm>
            <a:off x="713232" y="2948363"/>
            <a:ext cx="2743200" cy="292608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009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70000" lnSpcReduction="20000"/>
          </a:bodyPr>
          <a:lstStyle/>
          <a:p>
            <a:pPr algn="ctr"/>
            <a:endParaRPr/>
          </a:p>
        </p:txBody>
      </p:sp>
      <p:sp>
        <p:nvSpPr>
          <p:cNvPr id="706" name="a1-chiptx"/>
          <p:cNvSpPr txBox="1"/>
          <p:nvPr/>
        </p:nvSpPr>
        <p:spPr>
          <a:xfrm>
            <a:off x="713232" y="2948363"/>
            <a:ext cx="2743200" cy="29260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965F"/>
                </a:solidFill>
                <a:latin typeface="맑은 고딕"/>
                <a:ea typeface="맑은 고딕"/>
              </a:rPr>
              <a:t>cate2 = </a:t>
            </a:r>
            <a:r>
              <a:rPr sz="14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유아및초·중등교육</a:t>
            </a:r>
            <a:endParaRPr sz="1400" b="1" i="0" dirty="0">
              <a:solidFill>
                <a:srgbClr val="00965F"/>
              </a:solidFill>
              <a:latin typeface="맑은 고딕"/>
              <a:ea typeface="맑은 고딕"/>
            </a:endParaRPr>
          </a:p>
        </p:txBody>
      </p:sp>
      <p:sp>
        <p:nvSpPr>
          <p:cNvPr id="707" name="a1-arrow"/>
          <p:cNvSpPr txBox="1"/>
          <p:nvPr/>
        </p:nvSpPr>
        <p:spPr>
          <a:xfrm>
            <a:off x="3474720" y="2948363"/>
            <a:ext cx="310896" cy="292608"/>
          </a:xfrm>
          <a:prstGeom prst="rect">
            <a:avLst/>
          </a:prstGeom>
          <a:noFill/>
        </p:spPr>
        <p:txBody>
          <a:bodyPr wrap="square" lIns="0" tIns="6350" rIns="0" bIns="6350" anchor="ctr">
            <a:norm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05050"/>
                </a:solidFill>
                <a:latin typeface="맑은 고딕"/>
                <a:ea typeface="맑은 고딕"/>
              </a:rPr>
              <a:t>▶</a:t>
            </a:r>
          </a:p>
        </p:txBody>
      </p:sp>
      <p:sp>
        <p:nvSpPr>
          <p:cNvPr id="708" name="a1-chip"/>
          <p:cNvSpPr/>
          <p:nvPr/>
        </p:nvSpPr>
        <p:spPr>
          <a:xfrm>
            <a:off x="3803904" y="2948363"/>
            <a:ext cx="1810512" cy="292608"/>
          </a:xfrm>
          <a:prstGeom prst="roundRect">
            <a:avLst/>
          </a:prstGeom>
          <a:solidFill>
            <a:srgbClr val="FCE8E6"/>
          </a:solidFill>
          <a:ln w="95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70000" lnSpcReduction="20000"/>
          </a:bodyPr>
          <a:lstStyle/>
          <a:p>
            <a:pPr algn="ctr"/>
            <a:endParaRPr/>
          </a:p>
        </p:txBody>
      </p:sp>
      <p:sp>
        <p:nvSpPr>
          <p:cNvPr id="709" name="a1-chiptx"/>
          <p:cNvSpPr txBox="1"/>
          <p:nvPr/>
        </p:nvSpPr>
        <p:spPr>
          <a:xfrm>
            <a:off x="3803904" y="2948363"/>
            <a:ext cx="1810512" cy="29260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0392B"/>
                </a:solidFill>
                <a:latin typeface="맑은 고딕"/>
                <a:ea typeface="맑은 고딕"/>
              </a:rPr>
              <a:t>기관 = 미상(소스)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0E1BD3-E64C-17A6-9A6D-C255C5076C59}"/>
              </a:ext>
            </a:extLst>
          </p:cNvPr>
          <p:cNvSpPr txBox="1"/>
          <p:nvPr/>
        </p:nvSpPr>
        <p:spPr>
          <a:xfrm>
            <a:off x="3720794" y="3265892"/>
            <a:ext cx="20516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i="0" dirty="0">
                <a:solidFill>
                  <a:srgbClr val="505050"/>
                </a:solidFill>
                <a:latin typeface="맑은 고딕"/>
                <a:ea typeface="맑은 고딕"/>
              </a:rPr>
              <a:t>lift 6.89·conf 1.0</a:t>
            </a:r>
            <a:endParaRPr lang="ko-KR" alt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기타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98839"/>
            <a:ext cx="11057839" cy="410497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기타 분석 결과</a:t>
            </a:r>
            <a:endParaRPr sz="2600" b="1" i="0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16</a:t>
            </a:r>
          </a:p>
        </p:txBody>
      </p:sp>
      <p:sp>
        <p:nvSpPr>
          <p:cNvPr id="4003" name="etc-core"/>
          <p:cNvSpPr txBox="1"/>
          <p:nvPr/>
        </p:nvSpPr>
        <p:spPr>
          <a:xfrm>
            <a:off x="566928" y="1060704"/>
            <a:ext cx="11055096" cy="512064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505050"/>
                </a:solidFill>
                <a:latin typeface="맑은 고딕"/>
                <a:ea typeface="맑은 고딕"/>
              </a:rPr>
              <a:t>핵심 방법(FP-Growth·연관규칙) 산출이 아닌 1D 집계·샘플 기반 부가 결과</a:t>
            </a:r>
          </a:p>
        </p:txBody>
      </p:sp>
      <p:sp>
        <p:nvSpPr>
          <p:cNvPr id="4004" name="card-bg"/>
          <p:cNvSpPr/>
          <p:nvPr/>
        </p:nvSpPr>
        <p:spPr>
          <a:xfrm>
            <a:off x="566928" y="1874520"/>
            <a:ext cx="3526536" cy="397764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4005" name="card-hdr"/>
          <p:cNvSpPr/>
          <p:nvPr/>
        </p:nvSpPr>
        <p:spPr>
          <a:xfrm>
            <a:off x="566928" y="1874520"/>
            <a:ext cx="3526536" cy="329184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4006" name="card-title"/>
          <p:cNvSpPr txBox="1"/>
          <p:nvPr/>
        </p:nvSpPr>
        <p:spPr>
          <a:xfrm>
            <a:off x="566928" y="1874520"/>
            <a:ext cx="3526536" cy="329184"/>
          </a:xfrm>
          <a:prstGeom prst="rect">
            <a:avLst/>
          </a:prstGeom>
          <a:noFill/>
        </p:spPr>
        <p:txBody>
          <a:bodyPr wrap="square" lIns="118872" tIns="6350" rIns="118872" bIns="6350" anchor="ctr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① 컬럼 표준·품질 (값 지문)</a:t>
            </a:r>
          </a:p>
        </p:txBody>
      </p:sp>
      <p:sp>
        <p:nvSpPr>
          <p:cNvPr id="4007" name="etc-c1"/>
          <p:cNvSpPr txBox="1"/>
          <p:nvPr/>
        </p:nvSpPr>
        <p:spPr>
          <a:xfrm>
            <a:off x="685800" y="2258568"/>
            <a:ext cx="3288792" cy="3538728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"/>
              </a:spcAft>
              <a:buNone/>
            </a:pPr>
            <a:r>
              <a:rPr sz="1000" b="1" i="0">
                <a:solidFill>
                  <a:srgbClr val="081F46"/>
                </a:solidFill>
                <a:latin typeface="맑은 고딕"/>
                <a:ea typeface="맑은 고딕"/>
              </a:rPr>
              <a:t>연번·순번·번호</a:t>
            </a:r>
            <a:r>
              <a:rPr sz="1000" b="0" i="0">
                <a:solidFill>
                  <a:srgbClr val="282D37"/>
                </a:solidFill>
                <a:latin typeface="맑은 고딕"/>
                <a:ea typeface="맑은 고딕"/>
              </a:rPr>
              <a:t> = min1·pk≈1.0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10"/>
              </a:spcAft>
              <a:buNone/>
            </a:pPr>
            <a:r>
              <a:rPr sz="1000" b="0" i="0">
                <a:solidFill>
                  <a:srgbClr val="505050"/>
                </a:solidFill>
                <a:latin typeface="맑은 고딕"/>
                <a:ea typeface="맑은 고딕"/>
              </a:rPr>
              <a:t>→ 행 식별자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"/>
              </a:spcAft>
              <a:buNone/>
            </a:pPr>
            <a:r>
              <a:rPr sz="1000" b="1" i="0">
                <a:solidFill>
                  <a:srgbClr val="081F46"/>
                </a:solidFill>
                <a:latin typeface="맑은 고딕"/>
                <a:ea typeface="맑은 고딕"/>
              </a:rPr>
              <a:t>데이터기준일자·데이터기준일</a:t>
            </a:r>
            <a:r>
              <a:rPr sz="1000" b="0" i="0">
                <a:solidFill>
                  <a:srgbClr val="282D37"/>
                </a:solidFill>
                <a:latin typeface="맑은 고딕"/>
                <a:ea typeface="맑은 고딕"/>
              </a:rPr>
              <a:t> = pk≈0.0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10"/>
              </a:spcAft>
              <a:buNone/>
            </a:pPr>
            <a:r>
              <a:rPr sz="1000" b="0" i="0">
                <a:solidFill>
                  <a:srgbClr val="505050"/>
                </a:solidFill>
                <a:latin typeface="맑은 고딕"/>
                <a:ea typeface="맑은 고딕"/>
              </a:rPr>
              <a:t>→ 스냅샷 날짜(거의 상수)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282D37"/>
                </a:solidFill>
                <a:latin typeface="맑은 고딕"/>
                <a:ea typeface="맑은 고딕"/>
              </a:rPr>
              <a:t>같은 개념·다른 이름 → 값 지문(min·pk)으로 판별·표준화</a:t>
            </a:r>
          </a:p>
        </p:txBody>
      </p:sp>
      <p:sp>
        <p:nvSpPr>
          <p:cNvPr id="4008" name="card-bg"/>
          <p:cNvSpPr/>
          <p:nvPr/>
        </p:nvSpPr>
        <p:spPr>
          <a:xfrm>
            <a:off x="4331208" y="1874520"/>
            <a:ext cx="3526536" cy="397764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4009" name="card-hdr"/>
          <p:cNvSpPr/>
          <p:nvPr/>
        </p:nvSpPr>
        <p:spPr>
          <a:xfrm>
            <a:off x="4331208" y="1874520"/>
            <a:ext cx="3526536" cy="329184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4010" name="card-title"/>
          <p:cNvSpPr txBox="1"/>
          <p:nvPr/>
        </p:nvSpPr>
        <p:spPr>
          <a:xfrm>
            <a:off x="4331208" y="1874520"/>
            <a:ext cx="3526536" cy="329184"/>
          </a:xfrm>
          <a:prstGeom prst="rect">
            <a:avLst/>
          </a:prstGeom>
          <a:noFill/>
        </p:spPr>
        <p:txBody>
          <a:bodyPr wrap="square" lIns="118872" tIns="6350" rIns="118872" bIns="6350" anchor="ctr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② 상수컬럼 · 스키마 불일치</a:t>
            </a:r>
          </a:p>
        </p:txBody>
      </p:sp>
      <p:sp>
        <p:nvSpPr>
          <p:cNvPr id="4011" name="etc-c2"/>
          <p:cNvSpPr txBox="1"/>
          <p:nvPr/>
        </p:nvSpPr>
        <p:spPr>
          <a:xfrm>
            <a:off x="4450080" y="2258568"/>
            <a:ext cx="3288792" cy="3538728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"/>
              </a:spcAft>
              <a:buNone/>
            </a:pPr>
            <a:r>
              <a:rPr sz="1000" b="1" i="0">
                <a:solidFill>
                  <a:srgbClr val="081F46"/>
                </a:solidFill>
                <a:latin typeface="맑은 고딕"/>
                <a:ea typeface="맑은 고딕"/>
              </a:rPr>
              <a:t>상수 컬럼(distinct=1): </a:t>
            </a:r>
            <a:r>
              <a:rPr sz="1000" b="1" i="0">
                <a:solidFill>
                  <a:srgbClr val="C0392B"/>
                </a:solidFill>
                <a:latin typeface="맑은 고딕"/>
                <a:ea typeface="맑은 고딕"/>
              </a:rPr>
              <a:t>1,372개(13.9%)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10"/>
              </a:spcAft>
              <a:buNone/>
            </a:pPr>
            <a:r>
              <a:rPr sz="1000" b="0" i="0">
                <a:solidFill>
                  <a:srgbClr val="505050"/>
                </a:solidFill>
                <a:latin typeface="맑은 고딕"/>
                <a:ea typeface="맑은 고딕"/>
              </a:rPr>
              <a:t>→ 전 행 동일값 = 정보량 0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"/>
              </a:spcAft>
              <a:buNone/>
            </a:pPr>
            <a:r>
              <a:rPr sz="1000" b="1" i="0">
                <a:solidFill>
                  <a:srgbClr val="081F46"/>
                </a:solidFill>
                <a:latin typeface="맑은 고딕"/>
                <a:ea typeface="맑은 고딕"/>
              </a:rPr>
              <a:t>스키마 불일치: </a:t>
            </a:r>
            <a:r>
              <a:rPr sz="1000" b="1" i="0">
                <a:solidFill>
                  <a:srgbClr val="C0392B"/>
                </a:solidFill>
                <a:latin typeface="맑은 고딕"/>
                <a:ea typeface="맑은 고딕"/>
              </a:rPr>
              <a:t>56개 테이블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10"/>
              </a:spcAft>
              <a:buNone/>
            </a:pPr>
            <a:r>
              <a:rPr sz="1000" b="0" i="0">
                <a:solidFill>
                  <a:srgbClr val="505050"/>
                </a:solidFill>
                <a:latin typeface="맑은 고딕"/>
                <a:ea typeface="맑은 고딕"/>
              </a:rPr>
              <a:t>→ column_cnt ≠ 범주+수치(미분류 컬럼)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282D37"/>
                </a:solidFill>
                <a:latin typeface="맑은 고딕"/>
                <a:ea typeface="맑은 고딕"/>
              </a:rPr>
              <a:t>단순 1D 집계·정합성 검사로 발견</a:t>
            </a:r>
          </a:p>
        </p:txBody>
      </p:sp>
      <p:sp>
        <p:nvSpPr>
          <p:cNvPr id="4012" name="card-bg"/>
          <p:cNvSpPr/>
          <p:nvPr/>
        </p:nvSpPr>
        <p:spPr>
          <a:xfrm>
            <a:off x="8095488" y="1874520"/>
            <a:ext cx="3526536" cy="397764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4013" name="card-hdr"/>
          <p:cNvSpPr/>
          <p:nvPr/>
        </p:nvSpPr>
        <p:spPr>
          <a:xfrm>
            <a:off x="8095488" y="1874520"/>
            <a:ext cx="3526536" cy="329184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4014" name="card-title"/>
          <p:cNvSpPr txBox="1"/>
          <p:nvPr/>
        </p:nvSpPr>
        <p:spPr>
          <a:xfrm>
            <a:off x="8095488" y="1874520"/>
            <a:ext cx="3526536" cy="329184"/>
          </a:xfrm>
          <a:prstGeom prst="rect">
            <a:avLst/>
          </a:prstGeom>
          <a:noFill/>
        </p:spPr>
        <p:txBody>
          <a:bodyPr wrap="square" lIns="118872" tIns="6350" rIns="118872" bIns="6350" anchor="ctr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③ 교차도메인 값 공유</a:t>
            </a:r>
          </a:p>
        </p:txBody>
      </p:sp>
      <p:sp>
        <p:nvSpPr>
          <p:cNvPr id="4015" name="etc-c3"/>
          <p:cNvSpPr txBox="1"/>
          <p:nvPr/>
        </p:nvSpPr>
        <p:spPr>
          <a:xfrm>
            <a:off x="8214360" y="2258568"/>
            <a:ext cx="3288792" cy="3538728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"/>
              </a:spcAft>
              <a:buNone/>
            </a:pPr>
            <a:r>
              <a:rPr sz="1000" b="1" i="0">
                <a:solidFill>
                  <a:srgbClr val="081F46"/>
                </a:solidFill>
                <a:latin typeface="맑은 고딕"/>
                <a:ea typeface="맑은 고딕"/>
              </a:rPr>
              <a:t>3개 도메인 공통 값 상위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10"/>
              </a:spcAft>
              <a:buNone/>
            </a:pPr>
            <a:r>
              <a:rPr sz="1000" b="0" i="0">
                <a:solidFill>
                  <a:srgbClr val="282D37"/>
                </a:solidFill>
                <a:latin typeface="맑은 고딕"/>
                <a:ea typeface="맑은 고딕"/>
              </a:rPr>
              <a:t>= 소수·연도(1·8·2018) = 잡음 지배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10"/>
              </a:spcAft>
              <a:buNone/>
            </a:pPr>
            <a:r>
              <a:rPr sz="1000" b="0" i="0">
                <a:solidFill>
                  <a:srgbClr val="505050"/>
                </a:solidFill>
                <a:latin typeface="맑은 고딕"/>
                <a:ea typeface="맑은 고딕"/>
              </a:rPr>
              <a:t>샘플 집계 기반 → 전체검증 필요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282D37"/>
                </a:solidFill>
                <a:latin typeface="맑은 고딕"/>
                <a:ea typeface="맑은 고딕"/>
              </a:rPr>
              <a:t>의미 코드만 필터해야 연계 신호 추출 가능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인텔리전스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인텔리전스 스키마 패밀리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12</a:t>
            </a:r>
          </a:p>
        </p:txBody>
      </p:sp>
      <p:sp>
        <p:nvSpPr>
          <p:cNvPr id="613" name="metric-bg"/>
          <p:cNvSpPr/>
          <p:nvPr/>
        </p:nvSpPr>
        <p:spPr>
          <a:xfrm>
            <a:off x="566928" y="1115568"/>
            <a:ext cx="11055096" cy="676656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C7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14" name="metric-pattern"/>
          <p:cNvSpPr txBox="1"/>
          <p:nvPr/>
        </p:nvSpPr>
        <p:spPr>
          <a:xfrm>
            <a:off x="804672" y="1161288"/>
            <a:ext cx="10597896" cy="182880"/>
          </a:xfrm>
          <a:prstGeom prst="rect">
            <a:avLst/>
          </a:prstGeom>
          <a:noFill/>
        </p:spPr>
        <p:txBody>
          <a:bodyPr wrap="square" lIns="36576" tIns="6350" rIns="36576" bIns="635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965F"/>
                </a:solidFill>
                <a:latin typeface="맑은 고딕"/>
                <a:ea typeface="맑은 고딕"/>
              </a:rPr>
              <a:t>발견 패턴  ▸  </a:t>
            </a:r>
            <a:r>
              <a:rPr sz="1000" b="1" i="0">
                <a:solidFill>
                  <a:srgbClr val="505050"/>
                </a:solidFill>
                <a:latin typeface="맑은 고딕"/>
                <a:ea typeface="맑은 고딕"/>
              </a:rPr>
              <a:t>FP-Growth 최대빈발 컬럼군 (≥8테이블)</a:t>
            </a:r>
          </a:p>
        </p:txBody>
      </p:sp>
      <p:sp>
        <p:nvSpPr>
          <p:cNvPr id="615" name="metric-number"/>
          <p:cNvSpPr txBox="1"/>
          <p:nvPr/>
        </p:nvSpPr>
        <p:spPr>
          <a:xfrm>
            <a:off x="786384" y="1339596"/>
            <a:ext cx="3154680" cy="420624"/>
          </a:xfrm>
          <a:prstGeom prst="rect">
            <a:avLst/>
          </a:prstGeom>
          <a:noFill/>
        </p:spPr>
        <p:txBody>
          <a:bodyPr wrap="square" lIns="36576" tIns="6350" rIns="36576" bIns="635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965F"/>
                </a:solidFill>
                <a:latin typeface="맑은 고딕"/>
                <a:ea typeface="맑은 고딕"/>
              </a:rPr>
              <a:t>11개 테이블</a:t>
            </a:r>
          </a:p>
        </p:txBody>
      </p:sp>
      <p:sp>
        <p:nvSpPr>
          <p:cNvPr id="616" name="metric-desc"/>
          <p:cNvSpPr txBox="1"/>
          <p:nvPr/>
        </p:nvSpPr>
        <p:spPr>
          <a:xfrm>
            <a:off x="4059936" y="1339596"/>
            <a:ext cx="7351776" cy="420624"/>
          </a:xfrm>
          <a:prstGeom prst="rect">
            <a:avLst/>
          </a:prstGeom>
          <a:noFill/>
        </p:spPr>
        <p:txBody>
          <a:bodyPr wrap="square" lIns="54864" tIns="6350" rIns="54864" bIns="635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동일 컬럼묶음의 반복 출현이 데이터셋 원형과 통합 후보를 드러냄</a:t>
            </a:r>
          </a:p>
        </p:txBody>
      </p:sp>
      <p:sp>
        <p:nvSpPr>
          <p:cNvPr id="901" name="g3-bg"/>
          <p:cNvSpPr/>
          <p:nvPr/>
        </p:nvSpPr>
        <p:spPr>
          <a:xfrm>
            <a:off x="566928" y="1828800"/>
            <a:ext cx="5285232" cy="2212848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02" name="g3-hdr"/>
          <p:cNvSpPr/>
          <p:nvPr/>
        </p:nvSpPr>
        <p:spPr>
          <a:xfrm>
            <a:off x="566928" y="1828800"/>
            <a:ext cx="5285232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03" name="g3-title"/>
          <p:cNvSpPr txBox="1"/>
          <p:nvPr/>
        </p:nvSpPr>
        <p:spPr>
          <a:xfrm>
            <a:off x="566928" y="1828800"/>
            <a:ext cx="5285232" cy="310896"/>
          </a:xfrm>
          <a:prstGeom prst="rect">
            <a:avLst/>
          </a:prstGeom>
          <a:noFill/>
        </p:spPr>
        <p:txBody>
          <a:bodyPr wrap="square" lIns="109728" tIns="6350" rIns="109728" bIns="6350" anchor="ctr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FFFFFF"/>
                </a:solidFill>
                <a:latin typeface="맑은 고딕"/>
                <a:ea typeface="맑은 고딕"/>
              </a:rPr>
              <a:t>‘동일 개념·다른 이름’의 수치적 의미 · 탐지 절차</a:t>
            </a:r>
          </a:p>
        </p:txBody>
      </p:sp>
      <p:sp>
        <p:nvSpPr>
          <p:cNvPr id="904" name="g3-terms"/>
          <p:cNvSpPr txBox="1"/>
          <p:nvPr/>
        </p:nvSpPr>
        <p:spPr>
          <a:xfrm>
            <a:off x="676656" y="2167128"/>
            <a:ext cx="5084064" cy="1828800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8"/>
              </a:spcAft>
            </a:pPr>
            <a:r>
              <a:rPr sz="845" b="1" i="0">
                <a:solidFill>
                  <a:srgbClr val="081F46"/>
                </a:solidFill>
                <a:latin typeface="맑은 고딕"/>
                <a:ea typeface="맑은 고딕"/>
              </a:rPr>
              <a:t>▸ 동일 개념 = </a:t>
            </a:r>
            <a:r>
              <a:rPr sz="845" b="0" i="0">
                <a:solidFill>
                  <a:srgbClr val="282D37"/>
                </a:solidFill>
                <a:latin typeface="맑은 고딕"/>
                <a:ea typeface="맑은 고딕"/>
              </a:rPr>
              <a:t>이름은 달라도 ‘값 지문’(값 범위·유일성)이 같은 컬럼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10"/>
              </a:spcAft>
            </a:pPr>
            <a:r>
              <a:rPr sz="840" b="1" i="0">
                <a:solidFill>
                  <a:srgbClr val="081F46"/>
                </a:solidFill>
                <a:latin typeface="맑은 고딕"/>
                <a:ea typeface="맑은 고딕"/>
              </a:rPr>
              <a:t>예) 일련번호 = </a:t>
            </a:r>
            <a:r>
              <a:rPr sz="840" b="0" i="0">
                <a:solidFill>
                  <a:srgbClr val="282D37"/>
                </a:solidFill>
                <a:latin typeface="맑은 고딕"/>
                <a:ea typeface="맑은 고딕"/>
              </a:rPr>
              <a:t>연번·순번·번호 — 셋 다 min_val=1, pk_ratio 0.96~0.99 (1부터의 거의-유일) = 같은 지문, 다른 이름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"/>
              </a:spcAft>
            </a:pPr>
            <a:r>
              <a:rPr sz="845" b="1" i="0">
                <a:solidFill>
                  <a:srgbClr val="081F46"/>
                </a:solidFill>
                <a:latin typeface="맑은 고딕"/>
                <a:ea typeface="맑은 고딕"/>
              </a:rPr>
              <a:t>▸ 탐지 절차 :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"/>
              </a:spcAft>
            </a:pPr>
            <a:r>
              <a:rPr sz="835" b="0" i="0">
                <a:solidFill>
                  <a:srgbClr val="282D37"/>
                </a:solidFill>
                <a:latin typeface="맑은 고딕"/>
                <a:ea typeface="맑은 고딕"/>
              </a:rPr>
              <a:t>① col_nm 정규화(괄호·공백·숫자접두 제거) → ② value_counts로 이름별 등장 테이블 수 집계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 i="0">
                <a:solidFill>
                  <a:srgbClr val="282D37"/>
                </a:solidFill>
                <a:latin typeface="맑은 고딕"/>
                <a:ea typeface="맑은 고딕"/>
              </a:rPr>
              <a:t>③ distinct_cnt=1 스캔(상수=정보량 0) · ④ column_cnt vs (범주+수치) 정합 검사</a:t>
            </a:r>
          </a:p>
        </p:txBody>
      </p:sp>
      <p:sp>
        <p:nvSpPr>
          <p:cNvPr id="905" name="g3-bg"/>
          <p:cNvSpPr/>
          <p:nvPr/>
        </p:nvSpPr>
        <p:spPr>
          <a:xfrm>
            <a:off x="566928" y="4133088"/>
            <a:ext cx="5285232" cy="217627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06" name="g3-hdr"/>
          <p:cNvSpPr/>
          <p:nvPr/>
        </p:nvSpPr>
        <p:spPr>
          <a:xfrm>
            <a:off x="566928" y="4133088"/>
            <a:ext cx="5285232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07" name="g3-title"/>
          <p:cNvSpPr txBox="1"/>
          <p:nvPr/>
        </p:nvSpPr>
        <p:spPr>
          <a:xfrm>
            <a:off x="566928" y="4133088"/>
            <a:ext cx="5285232" cy="310896"/>
          </a:xfrm>
          <a:prstGeom prst="rect">
            <a:avLst/>
          </a:prstGeom>
          <a:noFill/>
        </p:spPr>
        <p:txBody>
          <a:bodyPr wrap="square" lIns="109728" tIns="6350" rIns="109728" bIns="6350" anchor="ctr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FFFFFF"/>
                </a:solidFill>
                <a:latin typeface="맑은 고딕"/>
                <a:ea typeface="맑은 고딕"/>
              </a:rPr>
              <a:t>예시 데이터</a:t>
            </a:r>
          </a:p>
        </p:txBody>
      </p:sp>
      <p:sp>
        <p:nvSpPr>
          <p:cNvPr id="908" name="g3-ex"/>
          <p:cNvSpPr txBox="1"/>
          <p:nvPr/>
        </p:nvSpPr>
        <p:spPr>
          <a:xfrm>
            <a:off x="676656" y="4480560"/>
            <a:ext cx="5084064" cy="1792224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"/>
              </a:spcAft>
            </a:pPr>
            <a:r>
              <a:rPr sz="840" b="1" i="0">
                <a:solidFill>
                  <a:srgbClr val="081F46"/>
                </a:solidFill>
                <a:latin typeface="맑은 고딕"/>
                <a:ea typeface="맑은 고딕"/>
              </a:rPr>
              <a:t>① 같은 개념, 다른 이름 </a:t>
            </a:r>
            <a:r>
              <a:rPr sz="800" b="0" i="0">
                <a:solidFill>
                  <a:srgbClr val="505050"/>
                </a:solidFill>
                <a:latin typeface="맑은 고딕"/>
                <a:ea typeface="맑은 고딕"/>
              </a:rPr>
              <a:t>(등장 테이블 수)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"/>
              </a:spcAft>
            </a:pPr>
            <a:r>
              <a:rPr sz="840" b="1" i="0">
                <a:solidFill>
                  <a:srgbClr val="081F46"/>
                </a:solidFill>
                <a:latin typeface="맑은 고딕"/>
                <a:ea typeface="맑은 고딕"/>
              </a:rPr>
              <a:t>· 일련번호: </a:t>
            </a:r>
            <a:r>
              <a:rPr sz="840" b="0" i="0">
                <a:solidFill>
                  <a:srgbClr val="282D37"/>
                </a:solidFill>
                <a:latin typeface="맑은 고딕"/>
                <a:ea typeface="맑은 고딕"/>
              </a:rPr>
              <a:t>연번 169 · 순번 81 · 번호 34  (모두 min=1·pk≈0.99)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8"/>
              </a:spcAft>
            </a:pPr>
            <a:r>
              <a:rPr sz="840" b="1" i="0">
                <a:solidFill>
                  <a:srgbClr val="081F46"/>
                </a:solidFill>
                <a:latin typeface="맑은 고딕"/>
                <a:ea typeface="맑은 고딕"/>
              </a:rPr>
              <a:t>· 기준일: </a:t>
            </a:r>
            <a:r>
              <a:rPr sz="840" b="0" i="0">
                <a:solidFill>
                  <a:srgbClr val="282D37"/>
                </a:solidFill>
                <a:latin typeface="맑은 고딕"/>
                <a:ea typeface="맑은 고딕"/>
              </a:rPr>
              <a:t>데이터기준일자 177 · 데이터기준일 49 · 기준일자 12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"/>
              </a:spcAft>
            </a:pPr>
            <a:r>
              <a:rPr sz="840" b="1" i="0">
                <a:solidFill>
                  <a:srgbClr val="081F46"/>
                </a:solidFill>
                <a:latin typeface="맑은 고딕"/>
                <a:ea typeface="맑은 고딕"/>
              </a:rPr>
              <a:t>② 상수 컬럼(distinct=1) — 1,372개(13.9%)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8"/>
              </a:spcAft>
            </a:pPr>
            <a:r>
              <a:rPr sz="840" b="0" i="0">
                <a:solidFill>
                  <a:srgbClr val="282D37"/>
                </a:solidFill>
                <a:latin typeface="맑은 고딕"/>
                <a:ea typeface="맑은 고딕"/>
              </a:rPr>
              <a:t>· 예) </a:t>
            </a:r>
            <a:r>
              <a:rPr sz="840" b="1" i="0">
                <a:solidFill>
                  <a:srgbClr val="C0392B"/>
                </a:solidFill>
                <a:latin typeface="맑은 고딕"/>
                <a:ea typeface="맑은 고딕"/>
              </a:rPr>
              <a:t>‘삭제여부 디폴트 N’ → 전 행 ‘N’</a:t>
            </a:r>
            <a:r>
              <a:rPr sz="820" b="0" i="0">
                <a:solidFill>
                  <a:srgbClr val="505050"/>
                </a:solidFill>
                <a:latin typeface="맑은 고딕"/>
                <a:ea typeface="맑은 고딕"/>
              </a:rPr>
              <a:t> (정보량 0)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"/>
              </a:spcAft>
            </a:pPr>
            <a:r>
              <a:rPr sz="840" b="1" i="0">
                <a:solidFill>
                  <a:srgbClr val="081F46"/>
                </a:solidFill>
                <a:latin typeface="맑은 고딕"/>
                <a:ea typeface="맑은 고딕"/>
              </a:rPr>
              <a:t>③ 스키마 회계 불일치 — 56개 테이블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82D37"/>
                </a:solidFill>
                <a:latin typeface="맑은 고딕"/>
                <a:ea typeface="맑은 고딕"/>
              </a:rPr>
              <a:t>· 예) </a:t>
            </a:r>
            <a:r>
              <a:rPr sz="840" b="1" i="0">
                <a:solidFill>
                  <a:srgbClr val="C0392B"/>
                </a:solidFill>
                <a:latin typeface="맑은 고딕"/>
                <a:ea typeface="맑은 고딕"/>
              </a:rPr>
              <a:t>상주시 투표정보 column_cnt=8 ≠ 범주1+수치3</a:t>
            </a:r>
          </a:p>
        </p:txBody>
      </p:sp>
      <p:sp>
        <p:nvSpPr>
          <p:cNvPr id="909" name="g3-bg"/>
          <p:cNvSpPr/>
          <p:nvPr/>
        </p:nvSpPr>
        <p:spPr>
          <a:xfrm>
            <a:off x="6053328" y="1828800"/>
            <a:ext cx="5568696" cy="265176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10" name="g3-hdr"/>
          <p:cNvSpPr/>
          <p:nvPr/>
        </p:nvSpPr>
        <p:spPr>
          <a:xfrm>
            <a:off x="6053328" y="1828800"/>
            <a:ext cx="5568696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11" name="g3-title"/>
          <p:cNvSpPr txBox="1"/>
          <p:nvPr/>
        </p:nvSpPr>
        <p:spPr>
          <a:xfrm>
            <a:off x="6053328" y="1828800"/>
            <a:ext cx="5568696" cy="310896"/>
          </a:xfrm>
          <a:prstGeom prst="rect">
            <a:avLst/>
          </a:prstGeom>
          <a:noFill/>
        </p:spPr>
        <p:txBody>
          <a:bodyPr wrap="square" lIns="109728" tIns="6350" rIns="109728" bIns="6350" anchor="ctr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FFFFFF"/>
                </a:solidFill>
                <a:latin typeface="맑은 고딕"/>
                <a:ea typeface="맑은 고딕"/>
              </a:rPr>
              <a:t>② 의미 분석 (구체)</a:t>
            </a:r>
          </a:p>
        </p:txBody>
      </p:sp>
      <p:sp>
        <p:nvSpPr>
          <p:cNvPr id="912" name="g3-mean"/>
          <p:cNvSpPr txBox="1"/>
          <p:nvPr/>
        </p:nvSpPr>
        <p:spPr>
          <a:xfrm>
            <a:off x="6163056" y="2185416"/>
            <a:ext cx="5367528" cy="2249424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6"/>
              </a:spcAft>
            </a:pPr>
            <a:r>
              <a:rPr sz="865" b="1" i="0">
                <a:solidFill>
                  <a:srgbClr val="081F46"/>
                </a:solidFill>
                <a:latin typeface="맑은 고딕"/>
                <a:ea typeface="맑은 고딕"/>
              </a:rPr>
              <a:t>① 표준 부재 비용: </a:t>
            </a:r>
            <a:r>
              <a:rPr sz="865" b="0" i="0">
                <a:solidFill>
                  <a:srgbClr val="282D37"/>
                </a:solidFill>
                <a:latin typeface="맑은 고딕"/>
                <a:ea typeface="맑은 고딕"/>
              </a:rPr>
              <a:t>일련번호 1개 개념이 3개 이름으로 분산(연번169+순번81+번호34=284테이블), 기준일은 4개 이름 → 표준화 시 각 1컬럼으로 통합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6"/>
              </a:spcAft>
            </a:pPr>
            <a:r>
              <a:rPr sz="865" b="1" i="0">
                <a:solidFill>
                  <a:srgbClr val="081F46"/>
                </a:solidFill>
                <a:latin typeface="맑은 고딕"/>
                <a:ea typeface="맑은 고딕"/>
              </a:rPr>
              <a:t>② 동일성 근거: </a:t>
            </a:r>
            <a:r>
              <a:rPr sz="865" b="0" i="0">
                <a:solidFill>
                  <a:srgbClr val="282D37"/>
                </a:solidFill>
                <a:latin typeface="맑은 고딕"/>
                <a:ea typeface="맑은 고딕"/>
              </a:rPr>
              <a:t>이름이 달라도 값 지문 동일(min=1·pk≈0.99) → 사람 판단 없이 자동 통합 가능 신호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6"/>
              </a:spcAft>
            </a:pPr>
            <a:r>
              <a:rPr sz="865" b="1" i="0">
                <a:solidFill>
                  <a:srgbClr val="081F46"/>
                </a:solidFill>
                <a:latin typeface="맑은 고딕"/>
                <a:ea typeface="맑은 고딕"/>
              </a:rPr>
              <a:t>③ 상수 컬럼: </a:t>
            </a:r>
            <a:r>
              <a:rPr sz="865" b="0" i="0">
                <a:solidFill>
                  <a:srgbClr val="282D37"/>
                </a:solidFill>
                <a:latin typeface="맑은 고딕"/>
                <a:ea typeface="맑은 고딕"/>
              </a:rPr>
              <a:t>distinct=1인 1,372개(13.9%)는 전 행이 같은 값(예 ‘N’)=정보량 0; 최빈 데이터기준일자(166)·데이터기준일(45)=스냅샷 날짜 단일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6"/>
              </a:spcAft>
            </a:pPr>
            <a:r>
              <a:rPr sz="865" b="1" i="0">
                <a:solidFill>
                  <a:srgbClr val="081F46"/>
                </a:solidFill>
                <a:latin typeface="맑은 고딕"/>
                <a:ea typeface="맑은 고딕"/>
              </a:rPr>
              <a:t>④ 스키마 불일치: </a:t>
            </a:r>
            <a:r>
              <a:rPr sz="865" b="0" i="0">
                <a:solidFill>
                  <a:srgbClr val="282D37"/>
                </a:solidFill>
                <a:latin typeface="맑은 고딕"/>
                <a:ea typeface="맑은 고딕"/>
              </a:rPr>
              <a:t>56개 테이블 column_cnt ≠ 범주+수치(예 8≠4) → 미분류 컬럼 존재 = 메타 회계 오류</a:t>
            </a:r>
          </a:p>
        </p:txBody>
      </p:sp>
      <p:sp>
        <p:nvSpPr>
          <p:cNvPr id="913" name="g3-bg"/>
          <p:cNvSpPr/>
          <p:nvPr/>
        </p:nvSpPr>
        <p:spPr>
          <a:xfrm>
            <a:off x="6053328" y="4572000"/>
            <a:ext cx="5568696" cy="173736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14" name="g3-hdr"/>
          <p:cNvSpPr/>
          <p:nvPr/>
        </p:nvSpPr>
        <p:spPr>
          <a:xfrm>
            <a:off x="6053328" y="4572000"/>
            <a:ext cx="5568696" cy="310896"/>
          </a:xfrm>
          <a:prstGeom prst="roundRect">
            <a:avLst/>
          </a:prstGeom>
          <a:solidFill>
            <a:srgbClr val="00965F"/>
          </a:solidFill>
          <a:ln w="9525">
            <a:solidFill>
              <a:srgbClr val="009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15" name="g3-title"/>
          <p:cNvSpPr txBox="1"/>
          <p:nvPr/>
        </p:nvSpPr>
        <p:spPr>
          <a:xfrm>
            <a:off x="6053328" y="4572000"/>
            <a:ext cx="5568696" cy="310896"/>
          </a:xfrm>
          <a:prstGeom prst="rect">
            <a:avLst/>
          </a:prstGeom>
          <a:noFill/>
        </p:spPr>
        <p:txBody>
          <a:bodyPr wrap="square" lIns="109728" tIns="6350" rIns="109728" bIns="6350" anchor="ctr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FFFFFF"/>
                </a:solidFill>
                <a:latin typeface="맑은 고딕"/>
                <a:ea typeface="맑은 고딕"/>
              </a:rPr>
              <a:t>관련 패턴 · 대책</a:t>
            </a:r>
          </a:p>
        </p:txBody>
      </p:sp>
      <p:sp>
        <p:nvSpPr>
          <p:cNvPr id="916" name="g3-action"/>
          <p:cNvSpPr txBox="1"/>
          <p:nvPr/>
        </p:nvSpPr>
        <p:spPr>
          <a:xfrm>
            <a:off x="6163056" y="4928616"/>
            <a:ext cx="5367528" cy="1335024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4"/>
              </a:spcAft>
            </a:pPr>
            <a:r>
              <a:rPr sz="855" b="1" i="0">
                <a:solidFill>
                  <a:srgbClr val="081F46"/>
                </a:solidFill>
                <a:latin typeface="맑은 고딕"/>
                <a:ea typeface="맑은 고딕"/>
              </a:rPr>
              <a:t>발견 패턴: </a:t>
            </a:r>
            <a:r>
              <a:rPr sz="855" b="0" i="0">
                <a:solidFill>
                  <a:srgbClr val="282D37"/>
                </a:solidFill>
                <a:latin typeface="맑은 고딕"/>
                <a:ea typeface="맑은 고딕"/>
              </a:rPr>
              <a:t>연관규칙 아닌 1D 빈도·분포 집계(col_nm value_counts·distinct 분포). 값 지문 일치는 column_value_tree(값 유사도 군집, 최대 189컬럼/군집)로 자동 확인 가능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4"/>
              </a:spcAft>
            </a:pPr>
            <a:r>
              <a:rPr sz="855" b="1" i="0">
                <a:solidFill>
                  <a:srgbClr val="00965F"/>
                </a:solidFill>
                <a:latin typeface="맑은 고딕"/>
                <a:ea typeface="맑은 고딕"/>
              </a:rPr>
              <a:t>대책: </a:t>
            </a:r>
            <a:r>
              <a:rPr sz="855" b="0" i="0">
                <a:solidFill>
                  <a:srgbClr val="282D37"/>
                </a:solidFill>
                <a:latin typeface="맑은 고딕"/>
                <a:ea typeface="맑은 고딕"/>
              </a:rPr>
              <a:t>문자유사도(편집거리·자모)+값지문으로 표준어 사전 구축 · 상수/중복 컬럼 정리 · 스키마 검증 룰(컬럼수 정합) 적용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인텔리전스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인텔리전스 흥미로운 연관규칙 — 상세 지표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28800"/>
          <a:ext cx="11057835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0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9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95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2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16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16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0099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886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주제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규칙(선행→후행)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#테이블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support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conf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lift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leverage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conviction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지리좌표쌍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경도→위도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0.044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22.7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0.0421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기간쌍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교육시작일→교육종료일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90.8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행정구역계층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시도명→시군구명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0.94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39.0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0.0146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15.6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주소이중표기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지번주소→도로명주소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0.94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22.9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0.0153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16.3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소재지주소(공공행정)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소재지지번주소→소재지도로명주소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0.92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36.6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11.7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인구통계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연령대→성별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0.85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35.2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0.0107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6.3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의료기관PII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의료기관전화번호→의료기관명+의료기관주소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0.88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46.4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0.0147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8.3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교육스키마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교과목코드→분반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124.9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교육스키마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학종→학교명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23.8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745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사학재정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연구비→일반기부금+지정기부금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111.0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5943600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support=동시출현비율 · conf=P(후행│선행) · lift=우연대비배수 · leverage=관측−독립 · conviction=함의강도(∞=예외0) · scripts/09</a:t>
            </a:r>
          </a:p>
        </p:txBody>
      </p:sp>
      <p:sp>
        <p:nvSpPr>
          <p:cNvPr id="617" name="metric-bg"/>
          <p:cNvSpPr/>
          <p:nvPr/>
        </p:nvSpPr>
        <p:spPr>
          <a:xfrm>
            <a:off x="566928" y="1115568"/>
            <a:ext cx="11055096" cy="676656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C7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18" name="metric-pattern"/>
          <p:cNvSpPr txBox="1"/>
          <p:nvPr/>
        </p:nvSpPr>
        <p:spPr>
          <a:xfrm>
            <a:off x="804672" y="1161288"/>
            <a:ext cx="10597896" cy="182880"/>
          </a:xfrm>
          <a:prstGeom prst="rect">
            <a:avLst/>
          </a:prstGeom>
          <a:noFill/>
        </p:spPr>
        <p:txBody>
          <a:bodyPr wrap="square" lIns="36576" tIns="6350" rIns="36576" bIns="635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965F"/>
                </a:solidFill>
                <a:latin typeface="맑은 고딕"/>
                <a:ea typeface="맑은 고딕"/>
              </a:rPr>
              <a:t>발견 패턴  ▸  </a:t>
            </a:r>
            <a:r>
              <a:rPr sz="1000" b="1" i="0">
                <a:solidFill>
                  <a:srgbClr val="505050"/>
                </a:solidFill>
                <a:latin typeface="맑은 고딕"/>
                <a:ea typeface="맑은 고딕"/>
              </a:rPr>
              <a:t>컬럼 장바구니 연관규칙 (FP-Growth·lift)</a:t>
            </a:r>
          </a:p>
        </p:txBody>
      </p:sp>
      <p:sp>
        <p:nvSpPr>
          <p:cNvPr id="619" name="metric-number"/>
          <p:cNvSpPr txBox="1"/>
          <p:nvPr/>
        </p:nvSpPr>
        <p:spPr>
          <a:xfrm>
            <a:off x="786384" y="1339596"/>
            <a:ext cx="3154680" cy="420624"/>
          </a:xfrm>
          <a:prstGeom prst="rect">
            <a:avLst/>
          </a:prstGeom>
          <a:noFill/>
        </p:spPr>
        <p:txBody>
          <a:bodyPr wrap="square" lIns="36576" tIns="6350" rIns="36576" bIns="6350" anchor="ctr">
            <a:normAutofit fontScale="77500" lnSpcReduction="20000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965F"/>
                </a:solidFill>
                <a:latin typeface="맑은 고딕"/>
                <a:ea typeface="맑은 고딕"/>
              </a:rPr>
              <a:t>lift 124.9</a:t>
            </a:r>
          </a:p>
        </p:txBody>
      </p:sp>
      <p:sp>
        <p:nvSpPr>
          <p:cNvPr id="620" name="metric-desc"/>
          <p:cNvSpPr txBox="1"/>
          <p:nvPr/>
        </p:nvSpPr>
        <p:spPr>
          <a:xfrm>
            <a:off x="4059936" y="1339596"/>
            <a:ext cx="7351776" cy="420624"/>
          </a:xfrm>
          <a:prstGeom prst="rect">
            <a:avLst/>
          </a:prstGeom>
          <a:noFill/>
        </p:spPr>
        <p:txBody>
          <a:bodyPr wrap="square" lIns="54864" tIns="6350" rIns="54864" bIns="635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‘주말&gt;기저귀&gt;맥주’ 대응 — 이슈 패턴 10건의 전체 지표(N=999)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인텔리전스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인텔리전스 연관규칙 시각화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14</a:t>
            </a:r>
          </a:p>
        </p:txBody>
      </p:sp>
      <p:pic>
        <p:nvPicPr>
          <p:cNvPr id="7" name="Picture 6" descr="fig_rules_l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65960"/>
            <a:ext cx="5943600" cy="3241964"/>
          </a:xfrm>
          <a:prstGeom prst="rect">
            <a:avLst/>
          </a:prstGeom>
        </p:spPr>
      </p:pic>
      <p:pic>
        <p:nvPicPr>
          <p:cNvPr id="8" name="Picture 7" descr="fig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288" y="2148840"/>
            <a:ext cx="5029200" cy="298026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5989320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좌: 이슈 규칙 lift / 우: 전체 컬럼규칙의 support–lift 산점(초록=이슈) — scripts/09</a:t>
            </a:r>
          </a:p>
        </p:txBody>
      </p:sp>
      <p:sp>
        <p:nvSpPr>
          <p:cNvPr id="621" name="metric-bg"/>
          <p:cNvSpPr/>
          <p:nvPr/>
        </p:nvSpPr>
        <p:spPr>
          <a:xfrm>
            <a:off x="566928" y="1115568"/>
            <a:ext cx="11055096" cy="676656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C7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22" name="metric-pattern"/>
          <p:cNvSpPr txBox="1"/>
          <p:nvPr/>
        </p:nvSpPr>
        <p:spPr>
          <a:xfrm>
            <a:off x="804672" y="1161288"/>
            <a:ext cx="10597896" cy="182880"/>
          </a:xfrm>
          <a:prstGeom prst="rect">
            <a:avLst/>
          </a:prstGeom>
          <a:noFill/>
        </p:spPr>
        <p:txBody>
          <a:bodyPr wrap="square" lIns="36576" tIns="6350" rIns="36576" bIns="635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965F"/>
                </a:solidFill>
                <a:latin typeface="맑은 고딕"/>
                <a:ea typeface="맑은 고딕"/>
              </a:rPr>
              <a:t>발견 패턴  ▸  </a:t>
            </a:r>
            <a:r>
              <a:rPr sz="1000" b="1" i="0">
                <a:solidFill>
                  <a:srgbClr val="505050"/>
                </a:solidFill>
                <a:latin typeface="맑은 고딕"/>
                <a:ea typeface="맑은 고딕"/>
              </a:rPr>
              <a:t>연관규칙 support–lift 분포 (경도→위도)</a:t>
            </a:r>
          </a:p>
        </p:txBody>
      </p:sp>
      <p:sp>
        <p:nvSpPr>
          <p:cNvPr id="623" name="metric-number"/>
          <p:cNvSpPr txBox="1"/>
          <p:nvPr/>
        </p:nvSpPr>
        <p:spPr>
          <a:xfrm>
            <a:off x="786384" y="1339596"/>
            <a:ext cx="3154680" cy="420624"/>
          </a:xfrm>
          <a:prstGeom prst="rect">
            <a:avLst/>
          </a:prstGeom>
          <a:noFill/>
        </p:spPr>
        <p:txBody>
          <a:bodyPr wrap="square" lIns="36576" tIns="6350" rIns="36576" bIns="6350" anchor="ctr">
            <a:normAutofit fontScale="77500" lnSpcReduction="20000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965F"/>
                </a:solidFill>
                <a:latin typeface="맑은 고딕"/>
                <a:ea typeface="맑은 고딕"/>
              </a:rPr>
              <a:t>44개 테이블</a:t>
            </a:r>
          </a:p>
        </p:txBody>
      </p:sp>
      <p:sp>
        <p:nvSpPr>
          <p:cNvPr id="624" name="metric-desc"/>
          <p:cNvSpPr txBox="1"/>
          <p:nvPr/>
        </p:nvSpPr>
        <p:spPr>
          <a:xfrm>
            <a:off x="4059936" y="1339596"/>
            <a:ext cx="7351776" cy="420624"/>
          </a:xfrm>
          <a:prstGeom prst="rect">
            <a:avLst/>
          </a:prstGeom>
          <a:noFill/>
        </p:spPr>
        <p:txBody>
          <a:bodyPr wrap="square" lIns="54864" tIns="6350" rIns="54864" bIns="635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이슈 규칙의 lift 크기와 전체 규칙군 내 위치(support–lift)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인텔리전스·거버넌스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인텔리전스·거버넌스 교차도메인 재식별 위험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18470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① 이슈별 데이터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2677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의료기관 패밀리+연관규칙(전화→{명,주소} lift 46) 추출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교차도메인 공통 컬럼 집계(전화 140·주소 85·위경도 44)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PII 후보 컬럼 태깅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2151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42151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0167" y="18470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② 의미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167" y="22677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명+주소+전화 묶음=데이터셋 내 직접 재식별 가능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도메인 횡단 공통 식별자로 결합 위험 증폭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양면성: 데이터 연계 기회 ↔ 프라이버시 위험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66928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4944" y="42473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③ 대책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6680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PII 표준 거버넌스(마스킹·집계화) 적용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결합 위험 데이터셋 공개 전 영향평가 의무화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식별자 컬럼 자동 탐지·태깅 체계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2151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242151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70167" y="42473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④ 추가 필요 분석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0167" y="46680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combined_pair_map linking_ratio로 결합가능성 정량화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k-익명성·재식별 위험도 평가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도메인 횡단 식별자 전수 인벤토리</a:t>
            </a:r>
          </a:p>
        </p:txBody>
      </p:sp>
      <p:sp>
        <p:nvSpPr>
          <p:cNvPr id="625" name="metric-bg"/>
          <p:cNvSpPr/>
          <p:nvPr/>
        </p:nvSpPr>
        <p:spPr>
          <a:xfrm>
            <a:off x="566928" y="1115568"/>
            <a:ext cx="11055096" cy="676656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C7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26" name="metric-pattern"/>
          <p:cNvSpPr txBox="1"/>
          <p:nvPr/>
        </p:nvSpPr>
        <p:spPr>
          <a:xfrm>
            <a:off x="804672" y="1161288"/>
            <a:ext cx="10597896" cy="182880"/>
          </a:xfrm>
          <a:prstGeom prst="rect">
            <a:avLst/>
          </a:prstGeom>
          <a:noFill/>
        </p:spPr>
        <p:txBody>
          <a:bodyPr wrap="square" lIns="36576" tIns="6350" rIns="36576" bIns="635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965F"/>
                </a:solidFill>
                <a:latin typeface="맑은 고딕"/>
                <a:ea typeface="맑은 고딕"/>
              </a:rPr>
              <a:t>발견 패턴  ▸  </a:t>
            </a:r>
            <a:r>
              <a:rPr sz="1000" b="1" i="0">
                <a:solidFill>
                  <a:srgbClr val="505050"/>
                </a:solidFill>
                <a:latin typeface="맑은 고딕"/>
                <a:ea typeface="맑은 고딕"/>
              </a:rPr>
              <a:t>의료기관 패밀리 + 연관규칙 (conf 0.88)</a:t>
            </a:r>
          </a:p>
        </p:txBody>
      </p:sp>
      <p:sp>
        <p:nvSpPr>
          <p:cNvPr id="627" name="metric-number"/>
          <p:cNvSpPr txBox="1"/>
          <p:nvPr/>
        </p:nvSpPr>
        <p:spPr>
          <a:xfrm>
            <a:off x="786384" y="1339596"/>
            <a:ext cx="3154680" cy="420624"/>
          </a:xfrm>
          <a:prstGeom prst="rect">
            <a:avLst/>
          </a:prstGeom>
          <a:noFill/>
        </p:spPr>
        <p:txBody>
          <a:bodyPr wrap="square" lIns="36576" tIns="6350" rIns="36576" bIns="6350" anchor="ctr">
            <a:normAutofit fontScale="77500" lnSpcReduction="20000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965F"/>
                </a:solidFill>
                <a:latin typeface="맑은 고딕"/>
                <a:ea typeface="맑은 고딕"/>
              </a:rPr>
              <a:t>lift 46.4</a:t>
            </a:r>
          </a:p>
        </p:txBody>
      </p:sp>
      <p:sp>
        <p:nvSpPr>
          <p:cNvPr id="628" name="metric-desc"/>
          <p:cNvSpPr txBox="1"/>
          <p:nvPr/>
        </p:nvSpPr>
        <p:spPr>
          <a:xfrm>
            <a:off x="4059936" y="1339596"/>
            <a:ext cx="7351776" cy="420624"/>
          </a:xfrm>
          <a:prstGeom prst="rect">
            <a:avLst/>
          </a:prstGeom>
          <a:noFill/>
        </p:spPr>
        <p:txBody>
          <a:bodyPr wrap="square" lIns="54864" tIns="6350" rIns="54864" bIns="635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명·주소·전화번호가 항상 묶여 공개되어 단일·결합 재식별 위험을 형성함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규칙#4 국소→전체 검증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15</a:t>
            </a:r>
          </a:p>
        </p:txBody>
      </p:sp>
      <p:pic>
        <p:nvPicPr>
          <p:cNvPr id="7" name="Picture 6" descr="fig_rul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148840"/>
            <a:ext cx="5486400" cy="3251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5897880"/>
            <a:ext cx="5486400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국소(공공행정) vs 전체(999) confidence — scripts/09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73368" y="1828800"/>
            <a:ext cx="5251399" cy="214884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373368" y="1828800"/>
            <a:ext cx="5251399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01384" y="1847088"/>
            <a:ext cx="5031943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의미 분석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1384" y="2267712"/>
            <a:ext cx="5013655" cy="163677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소재지도로명→지번: 공공행정 1.00 → 전체 0.44 약화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보건은 지번주소 단독 보유 多 → 방향 붕괴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역방향(지번→도로명)은 0.92로 유지=비대칭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보건 일부는 데이터 명세서(사전) 파일=오분류 후보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73368" y="4160520"/>
            <a:ext cx="5251399" cy="182880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373368" y="4160520"/>
            <a:ext cx="5251399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01384" y="4178808"/>
            <a:ext cx="5031943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대책·추가 분석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4599432"/>
            <a:ext cx="5013655" cy="131673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규칙 일반화 전 전체검증 의무화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카탈로그 오분류(명세서 vs 실데이터) 재분류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방향성 규칙은 양방향 모두 표기·점검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명세서 의심 테이블 별도 군집·식별</a:t>
            </a:r>
          </a:p>
        </p:txBody>
      </p:sp>
      <p:sp>
        <p:nvSpPr>
          <p:cNvPr id="629" name="metric-bg"/>
          <p:cNvSpPr/>
          <p:nvPr/>
        </p:nvSpPr>
        <p:spPr>
          <a:xfrm>
            <a:off x="566928" y="1115568"/>
            <a:ext cx="11055096" cy="676656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C7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30" name="metric-pattern"/>
          <p:cNvSpPr txBox="1"/>
          <p:nvPr/>
        </p:nvSpPr>
        <p:spPr>
          <a:xfrm>
            <a:off x="804672" y="1161288"/>
            <a:ext cx="10597896" cy="182880"/>
          </a:xfrm>
          <a:prstGeom prst="rect">
            <a:avLst/>
          </a:prstGeom>
          <a:noFill/>
        </p:spPr>
        <p:txBody>
          <a:bodyPr wrap="square" lIns="36576" tIns="6350" rIns="36576" bIns="635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965F"/>
                </a:solidFill>
                <a:latin typeface="맑은 고딕"/>
                <a:ea typeface="맑은 고딕"/>
              </a:rPr>
              <a:t>발견 패턴  ▸  </a:t>
            </a:r>
            <a:r>
              <a:rPr sz="1000" b="1" i="0">
                <a:solidFill>
                  <a:srgbClr val="505050"/>
                </a:solidFill>
                <a:latin typeface="맑은 고딕"/>
                <a:ea typeface="맑은 고딕"/>
              </a:rPr>
              <a:t>규칙#4 국소→전체 재계산 (도로명→지번)</a:t>
            </a:r>
          </a:p>
        </p:txBody>
      </p:sp>
      <p:sp>
        <p:nvSpPr>
          <p:cNvPr id="631" name="metric-number"/>
          <p:cNvSpPr txBox="1"/>
          <p:nvPr/>
        </p:nvSpPr>
        <p:spPr>
          <a:xfrm>
            <a:off x="786384" y="1339596"/>
            <a:ext cx="3154680" cy="420624"/>
          </a:xfrm>
          <a:prstGeom prst="rect">
            <a:avLst/>
          </a:prstGeom>
          <a:noFill/>
        </p:spPr>
        <p:txBody>
          <a:bodyPr wrap="square" lIns="36576" tIns="6350" rIns="36576" bIns="6350" anchor="ctr">
            <a:normAutofit fontScale="77500" lnSpcReduction="20000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965F"/>
                </a:solidFill>
                <a:latin typeface="맑은 고딕"/>
                <a:ea typeface="맑은 고딕"/>
              </a:rPr>
              <a:t>1.00 → 0.44</a:t>
            </a:r>
          </a:p>
        </p:txBody>
      </p:sp>
      <p:sp>
        <p:nvSpPr>
          <p:cNvPr id="632" name="metric-desc"/>
          <p:cNvSpPr txBox="1"/>
          <p:nvPr/>
        </p:nvSpPr>
        <p:spPr>
          <a:xfrm>
            <a:off x="4059936" y="1339596"/>
            <a:ext cx="7351776" cy="420624"/>
          </a:xfrm>
          <a:prstGeom prst="rect">
            <a:avLst/>
          </a:prstGeom>
          <a:noFill/>
        </p:spPr>
        <p:txBody>
          <a:bodyPr wrap="square" lIns="54864" tIns="6350" rIns="54864" bIns="635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국소에서 강했던 규칙이 전체에서 약화·비대칭됨을 실증함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Appendix A 추가 컬럼 연관규칙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주요 이슈에 포함되지 않은 추가 동시출현 패턴(lift順·대칭/동일집합 제거)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28800"/>
          <a:ext cx="11057834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193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38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50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14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14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62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2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규칙(선행→후행)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#테이블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support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conf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lift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leverage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conv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{종료일}→{시작일}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99.9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{학종}→{학급}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90.8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{사업장소재지}→{사업장전화번호}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0.73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80.7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{교육종료일}→{교육장소}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60.5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{관리기관전화번호}→{관리기관명, 데이터기준일자}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0.80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57.1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{출판사}→{저자}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12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0.012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47.0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0.0118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{서명}→{출판사}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0.73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42.7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{확진자수}→{사망자수}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0.62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39.0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2.6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{시도}→{시군구}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0.42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27.8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{의료기관명}→{의료기관종별}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0.26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25.6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{학교명}→{학급}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0.19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23.8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1.2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{설립}→{학교명}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0.90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21.4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9.6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{우편번호}→{팩스번호}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0.30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21.1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{설립구분}→{학교명}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17.3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035040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신규 주제: 기간쌍·도서관(출판사·저자·서명)·감염병통계(확진자→사망자)·학교설립·사업장 — scripts/09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Appendix B 속성 규칙·스키마 패밀리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테이블 속성 비자명 규칙과 최대빈발 컬럼군(추가)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28800"/>
          <a:ext cx="6400798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69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13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12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12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테이블 속성 규칙(비자명, conf≥0.6)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support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conf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lift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{cate2=보건의료, 상수컬럼=없음, 유일키=있음}→{cate1=보건, 컬럼폭=협소}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0.068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{cate1=공공행정, 레코드=극소}→{cate2=일반행정, 상수컬럼=있음, 유일키=있음}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0.054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{cate1=공공행정, 컬럼폭=협소}→{cate2=일반행정, 상수컬럼=없음}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0.081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{cate1=보건, 컬럼폭=협소}→{cate2=보건의료, 상수컬럼=없음}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0.081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0.64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{cate2=보건의료, 유일키=있음, 컬럼폭=표준}→{cate1=보건, 상수컬럼=있음}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0.076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{cate2=일반행정, 유일키=있음, 컬럼폭=협소}→{cate1=공공행정, 상수컬럼=없음}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0.060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{cate2=일반행정, 유일키=있음, 컬럼폭=표준}→{cate1=공공행정, 상수컬럼=있음}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0.061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{cate2=보건의료, 컬럼폭=표준}→{cate1=보건, 상수컬럼=있음}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0.093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5669280"/>
            <a:ext cx="6400800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속성 연관규칙 — scripts/09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96328" y="1828800"/>
          <a:ext cx="4428438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8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6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33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스키마 패밀리(컬럼군)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#tbl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도메인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{순번,의료기관명,의료기관전화,의료기관주소}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보건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{경도,위도,도로명주소,전화번호}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보건/교육/행정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{연도,직종,회차}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보건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{소재지전화,업소명,업종명}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보건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{데이터기준일자,시군구명,시도명}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{우편번호,전화번호,주소}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{관리기관명,관리기관전화,데이터기준일자}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공공행정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196328" y="5669280"/>
            <a:ext cx="44284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FP-Growth 최대빈발 항목집합(≥8테이블) — analysis/I1_synthesis.md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종합 시사점 및 거버넌스 대책 로드맵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965F"/>
                </a:solidFill>
                <a:latin typeface="맑은 고딕"/>
                <a:ea typeface="맑은 고딕"/>
              </a:rPr>
              <a:t>발견을 즉시·단기·중기 조치로 우선순위화함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3503066" cy="411480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3503066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1847088"/>
            <a:ext cx="328361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즉시(거버넌스)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267712"/>
            <a:ext cx="3265322" cy="360273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출처 결손 배치 provenance 복구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적재 시 필수 메타 검증 도입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메타 네이밍·상수컬럼 정정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4314" y="1828800"/>
            <a:ext cx="3503066" cy="411480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344314" y="1828800"/>
            <a:ext cx="3503066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72330" y="1847088"/>
            <a:ext cx="328361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단기(표준화)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2330" y="2267712"/>
            <a:ext cx="3265322" cy="69217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</a:t>
            </a: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표준어</a:t>
            </a: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사전</a:t>
            </a: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(</a:t>
            </a:r>
            <a:r>
              <a:rPr lang="en-US"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G2</a:t>
            </a: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)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구축</a:t>
            </a:r>
            <a:endParaRPr sz="115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POI·의료기관</a:t>
            </a: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표준</a:t>
            </a: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데이터모델</a:t>
            </a:r>
            <a:endParaRPr sz="115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• PII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식별자</a:t>
            </a: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태깅·마스킹</a:t>
            </a: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정책</a:t>
            </a:r>
            <a:endParaRPr sz="115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121700" y="1828800"/>
            <a:ext cx="3503066" cy="411480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121700" y="1828800"/>
            <a:ext cx="3503066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9716" y="1847088"/>
            <a:ext cx="328361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중기(인텔리전스)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9716" y="2267712"/>
            <a:ext cx="3265322" cy="360273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조인키 검증으로 데이터 연계(I3)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서브스페이스 클러스터링(I5)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near-duplicate 통합 카탈로깅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다음 단계 분석 및 한계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심화 분석 경로와 현재 분석의 명시적 한계를 제시함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11057839" cy="16695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I3(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연계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):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POI·의료기관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패밀리를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linking_ratio로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실제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조인키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검증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G2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거버넌스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):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문자유사도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군집으로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표준어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사전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산출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I5(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심화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):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프로파일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서브스페이스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클러스터링으로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원형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정교화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한계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장바구니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규칙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support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낮음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(8~44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테이블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) →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운영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전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도메인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확인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필요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한계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활용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/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품질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지표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미충전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,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distinct_value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정렬편향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,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proj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이미지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손상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3405</Words>
  <Application>Microsoft Office PowerPoint</Application>
  <PresentationFormat>와이드스크린</PresentationFormat>
  <Paragraphs>640</Paragraphs>
  <Slides>20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5" baseType="lpstr">
      <vt:lpstr>맑은 고딕</vt:lpstr>
      <vt:lpstr>Arial</vt:lpstr>
      <vt:lpstr>Calibri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강훈(Hoon Kang) 책임연구원 HD현대인프라코어</cp:lastModifiedBy>
  <cp:revision>153</cp:revision>
  <dcterms:created xsi:type="dcterms:W3CDTF">2013-01-27T09:14:16Z</dcterms:created>
  <dcterms:modified xsi:type="dcterms:W3CDTF">2026-06-07T23:49:13Z</dcterms:modified>
  <cp:category/>
</cp:coreProperties>
</file>