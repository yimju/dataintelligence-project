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77" r:id="rId11"/>
    <p:sldId id="265" r:id="rId12"/>
    <p:sldId id="271" r:id="rId13"/>
    <p:sldId id="275" r:id="rId14"/>
    <p:sldId id="27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86" y="6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1CCFCC-030A-4CE8-A15F-A37FC6BFC187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2B268F-8D29-4E2C-AE3B-299A671290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5503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2B268F-8D29-4E2C-AE3B-299A67129087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0349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38100"/>
          </a:xfrm>
          <a:prstGeom prst="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286000"/>
            <a:ext cx="11057839" cy="18288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맑은 고딕"/>
                <a:ea typeface="맑은 고딕"/>
              </a:rPr>
              <a:t>공공데이터 ‘데이터 지도’
거버넌스·인텔리전스 분석 보고서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0"/>
            <a:ext cx="11057839" cy="1097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8D2E1"/>
                </a:solidFill>
                <a:latin typeface="맑은 고딕"/>
                <a:ea typeface="맑은 고딕"/>
              </a:rPr>
              <a:t>999개 공공데이터셋(교육·보건·공공행정) 데이터 지도의 비지도 데이터마이닝 분석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965F"/>
                </a:solidFill>
                <a:latin typeface="맑은 고딕"/>
                <a:ea typeface="맑은 고딕"/>
              </a:rPr>
              <a:t>1D 클러스터링 · AOI 롤업 · FP-Growth 빈발패턴 · 연관규칙 · 국소→전체 검증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분석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개요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및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목적</a:t>
            </a:r>
            <a:endParaRPr sz="26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원본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트랜잭션이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아닌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‘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데이터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지도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(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메타데이터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)’를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비지도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알고리즘으로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분석함</a:t>
            </a:r>
            <a:endParaRPr sz="18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828800"/>
            <a:ext cx="7198682" cy="1669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대상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공공데이터포털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999개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데이터셋의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프로파일링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산출물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지도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구성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/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프로파일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쌍별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값·도메인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중첩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유사도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클러스터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목표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거버넌스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이슈와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메타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비즈니스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인텔리전스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도출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형식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‘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주말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&gt;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기저귀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&gt;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맥주’형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연관규칙을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데이터셋·컬럼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수준에서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발굴</a:t>
            </a:r>
            <a:endParaRPr lang="ko-KR" alt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원칙</a:t>
            </a: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LLM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추론 배제</a:t>
            </a: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,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모든 결론은 설명가능한 알고리즘 실행 결과</a:t>
            </a:r>
          </a:p>
        </p:txBody>
      </p:sp>
      <p:pic>
        <p:nvPicPr>
          <p:cNvPr id="12" name="Picture 11" descr="fig_do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8936" y="2579261"/>
            <a:ext cx="4428439" cy="31631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대상 데이터 구성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9개 파일 = 프로파일 + 쌍별 중첩 + 유사도 클러스터의 3계층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0667075"/>
              </p:ext>
            </p:extLst>
          </p:nvPr>
        </p:nvGraphicFramePr>
        <p:xfrm>
          <a:off x="566928" y="1993900"/>
          <a:ext cx="11057837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0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5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1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파일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역할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규모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데이터셋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메타+분류+통계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999행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column_map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프로파일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키품질·고유값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등)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9,840행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distinct_value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컬럼별 distinct 값+빈도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803만행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table/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column_summary_map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객체별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중첩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통계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롤업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996/8,360행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combined_pair_map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컬럼쌍 조인가능성(linking_ratio)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74만행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table_pair_map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테이블쌍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유사도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25만행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column_pair_map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컬럼쌍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값·도메인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중첩·중복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524만행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*_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value_tree</a:t>
                      </a:r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/ *_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str_tree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값·이름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유사도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계층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클러스터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331~4,549행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분석 방법론 파이프라인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이산화 → AOI 롤업 → 빈발패턴 → 연관규칙 → 국소·전체 검증의 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7" name="Pentagon 6"/>
          <p:cNvSpPr/>
          <p:nvPr/>
        </p:nvSpPr>
        <p:spPr>
          <a:xfrm>
            <a:off x="566928" y="1920240"/>
            <a:ext cx="2138415" cy="868680"/>
          </a:xfrm>
          <a:prstGeom prst="homePlate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맑은 고딕"/>
                <a:ea typeface="맑은 고딕"/>
              </a:rPr>
              <a:t>① </a:t>
            </a:r>
            <a:r>
              <a:rPr sz="16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이산화</a:t>
            </a:r>
            <a:endParaRPr sz="1600" b="1" i="0" dirty="0">
              <a:solidFill>
                <a:srgbClr val="FFFFFF"/>
              </a:solidFill>
              <a:latin typeface="맑은 고딕"/>
              <a:ea typeface="맑은 고딕"/>
            </a:endParaRPr>
          </a:p>
          <a:p>
            <a:pPr algn="ctr"/>
            <a:r>
              <a:rPr sz="1050" b="0" i="0" dirty="0">
                <a:solidFill>
                  <a:srgbClr val="FFFFFF"/>
                </a:solidFill>
                <a:latin typeface="맑은 고딕"/>
                <a:ea typeface="맑은 고딕"/>
              </a:rPr>
              <a:t>1D </a:t>
            </a:r>
            <a:r>
              <a:rPr sz="1050" b="0" i="0" dirty="0" err="1">
                <a:solidFill>
                  <a:srgbClr val="FFFFFF"/>
                </a:solidFill>
                <a:latin typeface="맑은 고딕"/>
                <a:ea typeface="맑은 고딕"/>
              </a:rPr>
              <a:t>KMeans</a:t>
            </a:r>
            <a:endParaRPr sz="1050" b="0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8" name="Pentagon 7"/>
          <p:cNvSpPr/>
          <p:nvPr/>
        </p:nvSpPr>
        <p:spPr>
          <a:xfrm>
            <a:off x="2796783" y="1920240"/>
            <a:ext cx="2138415" cy="868680"/>
          </a:xfrm>
          <a:prstGeom prst="homePlate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② AOI 롤업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개념계층</a:t>
            </a:r>
          </a:p>
        </p:txBody>
      </p:sp>
      <p:sp>
        <p:nvSpPr>
          <p:cNvPr id="9" name="Pentagon 8"/>
          <p:cNvSpPr/>
          <p:nvPr/>
        </p:nvSpPr>
        <p:spPr>
          <a:xfrm>
            <a:off x="5026639" y="1920240"/>
            <a:ext cx="2138415" cy="868680"/>
          </a:xfrm>
          <a:prstGeom prst="homePlate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③ 빈발패턴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FP-Growth</a:t>
            </a:r>
          </a:p>
        </p:txBody>
      </p:sp>
      <p:sp>
        <p:nvSpPr>
          <p:cNvPr id="10" name="Pentagon 9"/>
          <p:cNvSpPr/>
          <p:nvPr/>
        </p:nvSpPr>
        <p:spPr>
          <a:xfrm>
            <a:off x="7256495" y="1920240"/>
            <a:ext cx="2138415" cy="868680"/>
          </a:xfrm>
          <a:prstGeom prst="homePlate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④ 연관규칙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lift 등</a:t>
            </a:r>
          </a:p>
        </p:txBody>
      </p:sp>
      <p:sp>
        <p:nvSpPr>
          <p:cNvPr id="11" name="Pentagon 10"/>
          <p:cNvSpPr/>
          <p:nvPr/>
        </p:nvSpPr>
        <p:spPr>
          <a:xfrm>
            <a:off x="9486351" y="1920240"/>
            <a:ext cx="2138415" cy="868680"/>
          </a:xfrm>
          <a:prstGeom prst="homePlate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⑤ 검증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규칙#4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6087620"/>
              </p:ext>
            </p:extLst>
          </p:nvPr>
        </p:nvGraphicFramePr>
        <p:xfrm>
          <a:off x="566928" y="3063240"/>
          <a:ext cx="1105783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3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146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단계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알고리즘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적용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이산화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log1p + 1D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KMeans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rec_cnt·column_cnt·수치비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→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순서형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구간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AOI 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롤업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정규식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개념계층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table_source→기관유형, col_nm→컬럼개념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빈발패턴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FP-Growth(max_len=3)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테이블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=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거래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속성·컬럼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=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아이템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연관규칙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association_rules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(lift)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support·confidence·lift·leverage·conviction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검증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도메인별→전체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재계산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국소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강규칙의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일반화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여부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판정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공통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데이터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준비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①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적재·인코딩·형변환</a:t>
            </a:r>
            <a:endParaRPr sz="26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80430"/>
            <a:ext cx="11057839" cy="2920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모든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이슈가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공유하는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기반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전처리</a:t>
            </a:r>
            <a:r>
              <a:rPr lang="en-US" b="1" dirty="0">
                <a:solidFill>
                  <a:srgbClr val="505050"/>
                </a:solidFill>
                <a:latin typeface="맑은 고딕"/>
                <a:ea typeface="맑은 고딕"/>
              </a:rPr>
              <a:t>: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인코딩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확정</a:t>
            </a:r>
            <a:r>
              <a:rPr lang="en-US"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lang="ko-KR" altLang="en-US"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및</a:t>
            </a:r>
            <a:r>
              <a:rPr lang="en-US" b="1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형변환</a:t>
            </a:r>
            <a:endParaRPr sz="18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11057839" cy="12512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인코딩 확정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UTF-8 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파일로 인코딩 통일</a:t>
            </a:r>
            <a:endParaRPr lang="en-US" altLang="ko-KR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적재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lang="en-US" altLang="ko-KR"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table_map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(999) · </a:t>
            </a:r>
            <a:r>
              <a:rPr lang="en-US" altLang="ko-KR"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column_map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(9,840)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을 </a:t>
            </a:r>
            <a:r>
              <a:rPr lang="en-US" altLang="ko-KR"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dtype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=str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로 안전 적재 후 </a:t>
            </a:r>
            <a:r>
              <a:rPr lang="ko-KR" altLang="en-US"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형변환</a:t>
            </a:r>
            <a:endParaRPr lang="ko-KR" altLang="en-US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형변환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컬럼은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to_numeric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(coerce) —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비수치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/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날짜는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NaN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처리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정합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기준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table_id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결측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행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제거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컬럼-테이블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조인키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정합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확인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공통 데이터 준비 ② 1D 이산화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80430"/>
            <a:ext cx="11057839" cy="2920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한쪽으로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심하게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쏠린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수치를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로그로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고르게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편 뒤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자동으로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구간을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나눔</a:t>
            </a:r>
            <a:r>
              <a:rPr lang="en-US"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.</a:t>
            </a:r>
            <a:endParaRPr sz="18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7" y="1828800"/>
            <a:ext cx="9980360" cy="125271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문제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레코드수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1~833,466로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극단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쏠림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82D37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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그대로면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큰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값이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결과를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지배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해결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log(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로그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)로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쏠림을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편 뒤 1차원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KMeans로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자동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구간화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이산화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ko-KR" altLang="en-US" sz="1400" dirty="0">
                <a:solidFill>
                  <a:srgbClr val="282D37"/>
                </a:solidFill>
                <a:latin typeface="맑은 고딕"/>
                <a:ea typeface="맑은 고딕"/>
              </a:rPr>
              <a:t>대상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400"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레코드수</a:t>
            </a:r>
            <a:r>
              <a:rPr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(5구간)</a:t>
            </a:r>
            <a:r>
              <a:rPr lang="en-US"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 / </a:t>
            </a:r>
            <a:r>
              <a:rPr sz="1400"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컬럼폭</a:t>
            </a:r>
            <a:r>
              <a:rPr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(4구간)</a:t>
            </a:r>
            <a:r>
              <a:rPr lang="en-US"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 / </a:t>
            </a:r>
            <a:r>
              <a:rPr sz="1400"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수치비</a:t>
            </a:r>
            <a:r>
              <a:rPr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(3구간)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수치비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=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수치형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비율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(0~1)</a:t>
            </a:r>
            <a:r>
              <a:rPr lang="en-US" sz="140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82D37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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이미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고른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값이라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로그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없이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바로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구간화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pic>
        <p:nvPicPr>
          <p:cNvPr id="52" name="그림 51">
            <a:extLst>
              <a:ext uri="{FF2B5EF4-FFF2-40B4-BE49-F238E27FC236}">
                <a16:creationId xmlns:a16="http://schemas.microsoft.com/office/drawing/2014/main" id="{4F2DC526-7433-974C-F78C-8B3B1EF36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584" y="3370758"/>
            <a:ext cx="7472126" cy="33775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공통 데이터 준비 ③ AOI 롤업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제각각인 999개 기관명을 정규식 규칙으로 7개 상위 개념(기관유형)으로 롤업(상향 일반화)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4240462" cy="38587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AOI(속성지향 귀납)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롤업</a:t>
            </a: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구체적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상위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개념으로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끌어올리는 다계층 일반화(roll-up)</a:t>
            </a:r>
          </a:p>
          <a:p>
            <a:pPr marL="742950" lvl="1" indent="-285750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Font typeface="Wingdings" panose="05000000000000000000" pitchFamily="2" charset="2"/>
              <a:buChar char="ü"/>
            </a:pP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제각각인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 999개 </a:t>
            </a:r>
            <a:r>
              <a:rPr lang="en-US" sz="1300" dirty="0" err="1">
                <a:solidFill>
                  <a:srgbClr val="505050"/>
                </a:solidFill>
                <a:latin typeface="맑은 고딕"/>
                <a:ea typeface="맑은 고딕"/>
              </a:rPr>
              <a:t>table_source</a:t>
            </a:r>
            <a:r>
              <a:rPr lang="en-US" sz="1300" dirty="0">
                <a:solidFill>
                  <a:srgbClr val="505050"/>
                </a:solidFill>
                <a:latin typeface="맑은 고딕"/>
                <a:ea typeface="맑은 고딕"/>
              </a:rPr>
              <a:t>(</a:t>
            </a:r>
            <a:r>
              <a:rPr lang="ko-KR" altLang="en-US" sz="1300" dirty="0">
                <a:solidFill>
                  <a:srgbClr val="505050"/>
                </a:solidFill>
                <a:latin typeface="맑은 고딕"/>
                <a:ea typeface="맑은 고딕"/>
              </a:rPr>
              <a:t>기관명</a:t>
            </a:r>
            <a:r>
              <a:rPr lang="en-US" altLang="ko-KR" sz="1300" dirty="0">
                <a:solidFill>
                  <a:srgbClr val="505050"/>
                </a:solidFill>
                <a:latin typeface="맑은 고딕"/>
                <a:ea typeface="맑은 고딕"/>
              </a:rPr>
              <a:t>)</a:t>
            </a:r>
            <a:r>
              <a:rPr lang="ko-KR" altLang="en-US"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을 </a:t>
            </a:r>
            <a:r>
              <a:rPr lang="ko-KR" altLang="en-US"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이산화하여</a:t>
            </a:r>
            <a:r>
              <a:rPr lang="ko-KR" altLang="en-US"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 분석 </a:t>
            </a:r>
            <a:r>
              <a:rPr lang="en-US" altLang="ko-KR"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feature</a:t>
            </a:r>
            <a:r>
              <a:rPr lang="ko-KR" altLang="en-US"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로 활용</a:t>
            </a:r>
            <a:endParaRPr lang="en-US" altLang="ko-KR"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출처 롤업: table_source의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접미사·키워드를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정규식으로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매칭해 7개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기관유형으로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축약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marL="742950" lvl="1" indent="-285750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Font typeface="Wingdings" panose="05000000000000000000" pitchFamily="2" charset="2"/>
              <a:buChar char="ü"/>
            </a:pP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우선순위로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 1건씩 분류(</a:t>
            </a: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교육→중앙→공공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→</a:t>
            </a:r>
            <a:endParaRPr lang="en-US"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300" dirty="0">
                <a:solidFill>
                  <a:srgbClr val="505050"/>
                </a:solidFill>
                <a:latin typeface="맑은 고딕"/>
                <a:ea typeface="맑은 고딕"/>
              </a:rPr>
              <a:t>     </a:t>
            </a: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광역→기초→미상→기타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), </a:t>
            </a:r>
            <a:endParaRPr lang="en-US"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300" dirty="0">
                <a:solidFill>
                  <a:srgbClr val="505050"/>
                </a:solidFill>
                <a:latin typeface="맑은 고딕"/>
                <a:ea typeface="맑은 고딕"/>
              </a:rPr>
              <a:t>     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‘소스’·빈값은 </a:t>
            </a: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미상으로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분리</a:t>
            </a:r>
            <a:endParaRPr lang="en-US"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301" name="card-bg"/>
          <p:cNvSpPr/>
          <p:nvPr/>
        </p:nvSpPr>
        <p:spPr>
          <a:xfrm>
            <a:off x="4986223" y="1880178"/>
            <a:ext cx="1810512" cy="370332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02" name="card-hdr"/>
          <p:cNvSpPr/>
          <p:nvPr/>
        </p:nvSpPr>
        <p:spPr>
          <a:xfrm>
            <a:off x="4986223" y="1880178"/>
            <a:ext cx="181051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303" name="card-title"/>
          <p:cNvSpPr txBox="1"/>
          <p:nvPr/>
        </p:nvSpPr>
        <p:spPr>
          <a:xfrm>
            <a:off x="4986223" y="1880178"/>
            <a:ext cx="1810512" cy="310896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FFFFFF"/>
                </a:solidFill>
                <a:latin typeface="맑은 고딕"/>
                <a:ea typeface="맑은 고딕"/>
              </a:rPr>
              <a:t>① </a:t>
            </a:r>
            <a:r>
              <a:rPr sz="12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원시</a:t>
            </a:r>
            <a:r>
              <a:rPr sz="12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table_source</a:t>
            </a:r>
            <a:endParaRPr sz="12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304" name="card-body"/>
          <p:cNvSpPr txBox="1"/>
          <p:nvPr/>
        </p:nvSpPr>
        <p:spPr>
          <a:xfrm>
            <a:off x="5077663" y="2236794"/>
            <a:ext cx="1627632" cy="330098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 dirty="0">
                <a:solidFill>
                  <a:srgbClr val="081F46"/>
                </a:solidFill>
                <a:latin typeface="맑은 고딕"/>
                <a:ea typeface="맑은 고딕"/>
              </a:rPr>
              <a:t>999개 </a:t>
            </a:r>
            <a:r>
              <a:rPr sz="14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자유</a:t>
            </a:r>
            <a:r>
              <a:rPr sz="14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기관명</a:t>
            </a:r>
            <a:endParaRPr sz="1400" b="1" i="0" dirty="0">
              <a:solidFill>
                <a:srgbClr val="081F46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서울특별시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금천구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한국사학진흥재단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경상남도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‘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소스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’(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빈값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305" name="arrow1"/>
          <p:cNvSpPr txBox="1"/>
          <p:nvPr/>
        </p:nvSpPr>
        <p:spPr>
          <a:xfrm>
            <a:off x="6815023" y="1880178"/>
            <a:ext cx="310896" cy="3703320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965F"/>
                </a:solidFill>
                <a:latin typeface="맑은 고딕"/>
                <a:ea typeface="맑은 고딕"/>
              </a:rPr>
              <a:t>▶</a:t>
            </a:r>
          </a:p>
        </p:txBody>
      </p:sp>
      <p:sp>
        <p:nvSpPr>
          <p:cNvPr id="306" name="card-bg"/>
          <p:cNvSpPr/>
          <p:nvPr/>
        </p:nvSpPr>
        <p:spPr>
          <a:xfrm>
            <a:off x="7144207" y="1880178"/>
            <a:ext cx="2249424" cy="370332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07" name="card-hdr"/>
          <p:cNvSpPr/>
          <p:nvPr/>
        </p:nvSpPr>
        <p:spPr>
          <a:xfrm>
            <a:off x="7144207" y="1880178"/>
            <a:ext cx="2249424" cy="310896"/>
          </a:xfrm>
          <a:prstGeom prst="roundRect">
            <a:avLst/>
          </a:prstGeom>
          <a:solidFill>
            <a:srgbClr val="00965F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308" name="card-title"/>
          <p:cNvSpPr txBox="1"/>
          <p:nvPr/>
        </p:nvSpPr>
        <p:spPr>
          <a:xfrm>
            <a:off x="7144207" y="1880178"/>
            <a:ext cx="2249424" cy="310896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② 정규식 규칙</a:t>
            </a:r>
          </a:p>
        </p:txBody>
      </p:sp>
      <p:sp>
        <p:nvSpPr>
          <p:cNvPr id="309" name="card-body"/>
          <p:cNvSpPr txBox="1"/>
          <p:nvPr/>
        </p:nvSpPr>
        <p:spPr>
          <a:xfrm>
            <a:off x="7235647" y="2236794"/>
            <a:ext cx="2066544" cy="330098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기관명</a:t>
            </a:r>
            <a:r>
              <a:rPr sz="11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1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접미사·키워드</a:t>
            </a:r>
            <a:r>
              <a:rPr sz="11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1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매칭</a:t>
            </a:r>
            <a:endParaRPr sz="11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교육청·대학교·학교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교육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부·청·위원회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중앙행정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공단·재단·병원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공공기관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특별시·도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광역지자체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시·군·구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기초지자체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그 외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기타</a:t>
            </a:r>
            <a:endParaRPr lang="en-US"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>
              <a:lnSpc>
                <a:spcPct val="124000"/>
              </a:lnSpc>
              <a:spcAft>
                <a:spcPts val="100"/>
              </a:spcAft>
            </a:pP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· ‘</a:t>
            </a:r>
            <a:r>
              <a:rPr lang="ko-KR" altLang="en-US" sz="1200" b="1" dirty="0">
                <a:solidFill>
                  <a:srgbClr val="00965F"/>
                </a:solidFill>
                <a:latin typeface="맑은 고딕"/>
                <a:ea typeface="맑은 고딕"/>
              </a:rPr>
              <a:t>소스’</a:t>
            </a: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·</a:t>
            </a:r>
            <a:r>
              <a:rPr lang="ko-KR" altLang="en-US" sz="1200" b="1" dirty="0" err="1">
                <a:solidFill>
                  <a:srgbClr val="00965F"/>
                </a:solidFill>
                <a:latin typeface="맑은 고딕"/>
                <a:ea typeface="맑은 고딕"/>
              </a:rPr>
              <a:t>빈값</a:t>
            </a:r>
            <a:r>
              <a:rPr lang="ko-KR" altLang="en-US" sz="1200" b="1" dirty="0">
                <a:solidFill>
                  <a:srgbClr val="00965F"/>
                </a:solidFill>
                <a:latin typeface="맑은 고딕"/>
                <a:ea typeface="맑은 고딕"/>
              </a:rPr>
              <a:t> → 미상</a:t>
            </a:r>
          </a:p>
        </p:txBody>
      </p:sp>
      <p:sp>
        <p:nvSpPr>
          <p:cNvPr id="310" name="arrow2"/>
          <p:cNvSpPr txBox="1"/>
          <p:nvPr/>
        </p:nvSpPr>
        <p:spPr>
          <a:xfrm>
            <a:off x="9411919" y="1880178"/>
            <a:ext cx="310896" cy="3703320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965F"/>
                </a:solidFill>
                <a:latin typeface="맑은 고딕"/>
                <a:ea typeface="맑은 고딕"/>
              </a:rPr>
              <a:t>▶</a:t>
            </a:r>
          </a:p>
        </p:txBody>
      </p:sp>
      <p:sp>
        <p:nvSpPr>
          <p:cNvPr id="311" name="card-bg"/>
          <p:cNvSpPr/>
          <p:nvPr/>
        </p:nvSpPr>
        <p:spPr>
          <a:xfrm>
            <a:off x="9741103" y="1880178"/>
            <a:ext cx="2176272" cy="370332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12" name="card-hdr"/>
          <p:cNvSpPr/>
          <p:nvPr/>
        </p:nvSpPr>
        <p:spPr>
          <a:xfrm>
            <a:off x="9741103" y="1880178"/>
            <a:ext cx="217627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313" name="card-title"/>
          <p:cNvSpPr txBox="1"/>
          <p:nvPr/>
        </p:nvSpPr>
        <p:spPr>
          <a:xfrm>
            <a:off x="9741103" y="1880178"/>
            <a:ext cx="2176272" cy="310896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③ 7개 기관유형</a:t>
            </a:r>
          </a:p>
        </p:txBody>
      </p:sp>
      <p:sp>
        <p:nvSpPr>
          <p:cNvPr id="314" name="card-body"/>
          <p:cNvSpPr txBox="1"/>
          <p:nvPr/>
        </p:nvSpPr>
        <p:spPr>
          <a:xfrm>
            <a:off x="9832543" y="2236794"/>
            <a:ext cx="1993392" cy="330098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7개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기관유형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(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테이블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수)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기초지자체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404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공공기관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245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광역지자체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83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교육기관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49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중앙행정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39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기타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34</a:t>
            </a:r>
            <a:endParaRPr lang="en-US"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>
              <a:lnSpc>
                <a:spcPct val="124000"/>
              </a:lnSpc>
              <a:spcAft>
                <a:spcPts val="100"/>
              </a:spcAft>
            </a:pP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· </a:t>
            </a:r>
            <a:r>
              <a:rPr lang="ko-KR" altLang="en-US" sz="1200" b="1" dirty="0">
                <a:solidFill>
                  <a:srgbClr val="00965F"/>
                </a:solidFill>
                <a:latin typeface="맑은 고딕"/>
                <a:ea typeface="맑은 고딕"/>
              </a:rPr>
              <a:t>미상</a:t>
            </a: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(</a:t>
            </a:r>
            <a:r>
              <a:rPr lang="ko-KR" altLang="en-US" sz="1200" b="1" dirty="0">
                <a:solidFill>
                  <a:srgbClr val="00965F"/>
                </a:solidFill>
                <a:latin typeface="맑은 고딕"/>
                <a:ea typeface="맑은 고딕"/>
              </a:rPr>
              <a:t>소스</a:t>
            </a: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)  145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공통 데이터 준비 ④ 트랜잭션·패턴·검증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테이블을 거래로 보고 두 종류 아이템으로 FP-Growth·연관규칙·검증 수행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4864246" cy="380245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트랜잭션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1건 = 1 transaction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아이템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(A)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속성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cate·기관·레코드·컬럼폭·수치비·유일키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·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상수컬럼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아이템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(B)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장바구니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테이블이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보유한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컬럼개념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집합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평균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9.6개)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FP-Growth</a:t>
            </a:r>
            <a:r>
              <a:rPr 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→</a:t>
            </a:r>
            <a:r>
              <a:rPr 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association_rules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(lift)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검증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전체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999건에서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지표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재계산</a:t>
            </a: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ko-KR" alt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수행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401" name="card-bg"/>
          <p:cNvSpPr/>
          <p:nvPr/>
        </p:nvSpPr>
        <p:spPr>
          <a:xfrm>
            <a:off x="5522614" y="1828800"/>
            <a:ext cx="6071978" cy="859536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02" name="card-hdr"/>
          <p:cNvSpPr/>
          <p:nvPr/>
        </p:nvSpPr>
        <p:spPr>
          <a:xfrm>
            <a:off x="5522614" y="1828800"/>
            <a:ext cx="6071978" cy="292608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 lnSpcReduction="20000"/>
          </a:bodyPr>
          <a:lstStyle/>
          <a:p>
            <a:pPr algn="ctr"/>
            <a:endParaRPr/>
          </a:p>
        </p:txBody>
      </p:sp>
      <p:sp>
        <p:nvSpPr>
          <p:cNvPr id="403" name="card-title"/>
          <p:cNvSpPr txBox="1"/>
          <p:nvPr/>
        </p:nvSpPr>
        <p:spPr>
          <a:xfrm>
            <a:off x="5522614" y="1828800"/>
            <a:ext cx="6071978" cy="292608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예시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테이블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1건</a:t>
            </a:r>
          </a:p>
        </p:txBody>
      </p:sp>
      <p:sp>
        <p:nvSpPr>
          <p:cNvPr id="404" name="card-body"/>
          <p:cNvSpPr txBox="1"/>
          <p:nvPr/>
        </p:nvSpPr>
        <p:spPr>
          <a:xfrm>
            <a:off x="5667468" y="2157984"/>
            <a:ext cx="5835683" cy="493776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전북특별자치도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무주군_행정기관_20240831.csv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rec_cnt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=157 ·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column_cnt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=7 (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범주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5·수치 2) ·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=‘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전북특별자치도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무주군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’</a:t>
            </a:r>
          </a:p>
        </p:txBody>
      </p:sp>
      <p:sp>
        <p:nvSpPr>
          <p:cNvPr id="405" name="arrow1"/>
          <p:cNvSpPr txBox="1"/>
          <p:nvPr/>
        </p:nvSpPr>
        <p:spPr>
          <a:xfrm>
            <a:off x="4510735" y="2870495"/>
            <a:ext cx="7114032" cy="274320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▼  ① 1D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이산화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(6p) · ② AOI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롤업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(7p)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적용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→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아이템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생성</a:t>
            </a:r>
            <a:endParaRPr sz="1200" b="1" i="0" dirty="0">
              <a:solidFill>
                <a:srgbClr val="00965F"/>
              </a:solidFill>
              <a:latin typeface="맑은 고딕"/>
              <a:ea typeface="맑은 고딕"/>
            </a:endParaRPr>
          </a:p>
        </p:txBody>
      </p:sp>
      <p:sp>
        <p:nvSpPr>
          <p:cNvPr id="406" name="basket-bg"/>
          <p:cNvSpPr/>
          <p:nvPr/>
        </p:nvSpPr>
        <p:spPr>
          <a:xfrm>
            <a:off x="5522614" y="3589882"/>
            <a:ext cx="6071978" cy="2317137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07" name="basket-hdr"/>
          <p:cNvSpPr/>
          <p:nvPr/>
        </p:nvSpPr>
        <p:spPr>
          <a:xfrm>
            <a:off x="5522614" y="3597302"/>
            <a:ext cx="6071978" cy="292608"/>
          </a:xfrm>
          <a:prstGeom prst="roundRect">
            <a:avLst/>
          </a:prstGeom>
          <a:solidFill>
            <a:srgbClr val="00965F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 lnSpcReduction="20000"/>
          </a:bodyPr>
          <a:lstStyle/>
          <a:p>
            <a:pPr algn="ctr"/>
            <a:endParaRPr/>
          </a:p>
        </p:txBody>
      </p:sp>
      <p:sp>
        <p:nvSpPr>
          <p:cNvPr id="408" name="basket-title"/>
          <p:cNvSpPr txBox="1"/>
          <p:nvPr/>
        </p:nvSpPr>
        <p:spPr>
          <a:xfrm>
            <a:off x="5522614" y="3597302"/>
            <a:ext cx="6071978" cy="292608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트랜잭션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(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장바구니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) =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테이블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1건 = 1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거래</a:t>
            </a:r>
            <a:endParaRPr sz="14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409" name="subA"/>
          <p:cNvSpPr txBox="1"/>
          <p:nvPr/>
        </p:nvSpPr>
        <p:spPr>
          <a:xfrm>
            <a:off x="5667468" y="4051153"/>
            <a:ext cx="5780820" cy="201168"/>
          </a:xfrm>
          <a:prstGeom prst="rect">
            <a:avLst/>
          </a:prstGeom>
          <a:noFill/>
        </p:spPr>
        <p:txBody>
          <a:bodyPr wrap="square" lIns="12700" tIns="6350" rIns="12700" bIns="635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①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속성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아이템</a:t>
            </a:r>
            <a:endParaRPr sz="12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10" name="attrA"/>
          <p:cNvSpPr txBox="1"/>
          <p:nvPr/>
        </p:nvSpPr>
        <p:spPr>
          <a:xfrm>
            <a:off x="5667468" y="4243177"/>
            <a:ext cx="5780820" cy="42062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cate1=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공공행정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· cate2=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일반행정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레코드</a:t>
            </a:r>
            <a:r>
              <a:rPr lang="en-US"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 </a:t>
            </a:r>
            <a:r>
              <a:rPr lang="ko-KR" altLang="en-US"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수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=중 · 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컬럼폭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=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표준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 · 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수치비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=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혼합</a:t>
            </a:r>
            <a:endParaRPr sz="1100" b="1" i="0" dirty="0">
              <a:solidFill>
                <a:srgbClr val="00965F"/>
              </a:solidFill>
              <a:latin typeface="맑은 고딕"/>
              <a:ea typeface="맑은 고딕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기관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=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기초지자체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 · 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유일키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있음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상수컬럼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있음</a:t>
            </a:r>
            <a:endParaRPr sz="11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411" name="subB"/>
          <p:cNvSpPr txBox="1"/>
          <p:nvPr/>
        </p:nvSpPr>
        <p:spPr>
          <a:xfrm>
            <a:off x="5667468" y="4827077"/>
            <a:ext cx="5780820" cy="201168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 lnSpcReduction="10000"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②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컬럼개념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장바구니</a:t>
            </a:r>
            <a:r>
              <a:rPr lang="en-US"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: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보유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컬럼개념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7종</a:t>
            </a:r>
          </a:p>
        </p:txBody>
      </p:sp>
      <p:sp>
        <p:nvSpPr>
          <p:cNvPr id="412" name="chip-bg"/>
          <p:cNvSpPr/>
          <p:nvPr/>
        </p:nvSpPr>
        <p:spPr>
          <a:xfrm>
            <a:off x="5667468" y="5149131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소속</a:t>
            </a:r>
          </a:p>
        </p:txBody>
      </p:sp>
      <p:sp>
        <p:nvSpPr>
          <p:cNvPr id="414" name="chip-bg"/>
          <p:cNvSpPr/>
          <p:nvPr/>
        </p:nvSpPr>
        <p:spPr>
          <a:xfrm>
            <a:off x="7167750" y="516635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소재지도로명주소</a:t>
            </a:r>
          </a:p>
        </p:txBody>
      </p:sp>
      <p:sp>
        <p:nvSpPr>
          <p:cNvPr id="416" name="chip-bg"/>
          <p:cNvSpPr/>
          <p:nvPr/>
        </p:nvSpPr>
        <p:spPr>
          <a:xfrm>
            <a:off x="8668032" y="516635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>
                <a:solidFill>
                  <a:srgbClr val="081F46"/>
                </a:solidFill>
                <a:latin typeface="맑은 고딕"/>
                <a:ea typeface="맑은 고딕"/>
              </a:rPr>
              <a:t>소재지지번주소</a:t>
            </a:r>
            <a:endParaRPr lang="ko-KR" altLang="en-US" sz="1100" b="1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18" name="chip-bg"/>
          <p:cNvSpPr/>
          <p:nvPr/>
        </p:nvSpPr>
        <p:spPr>
          <a:xfrm>
            <a:off x="10168313" y="516635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>
                <a:solidFill>
                  <a:srgbClr val="081F46"/>
                </a:solidFill>
                <a:latin typeface="맑은 고딕"/>
                <a:ea typeface="맑은 고딕"/>
              </a:rPr>
              <a:t>위도</a:t>
            </a:r>
            <a:endParaRPr lang="ko-KR" altLang="en-US" sz="1100" b="1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20" name="chip-bg"/>
          <p:cNvSpPr/>
          <p:nvPr/>
        </p:nvSpPr>
        <p:spPr>
          <a:xfrm>
            <a:off x="5667467" y="550323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경도</a:t>
            </a:r>
          </a:p>
        </p:txBody>
      </p:sp>
      <p:sp>
        <p:nvSpPr>
          <p:cNvPr id="422" name="chip-bg"/>
          <p:cNvSpPr/>
          <p:nvPr/>
        </p:nvSpPr>
        <p:spPr>
          <a:xfrm>
            <a:off x="7167750" y="550323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전화번호</a:t>
            </a:r>
          </a:p>
        </p:txBody>
      </p:sp>
      <p:sp>
        <p:nvSpPr>
          <p:cNvPr id="424" name="chip-bg"/>
          <p:cNvSpPr/>
          <p:nvPr/>
        </p:nvSpPr>
        <p:spPr>
          <a:xfrm>
            <a:off x="8668032" y="550323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데이터기준일자</a:t>
            </a:r>
          </a:p>
        </p:txBody>
      </p:sp>
      <p:sp>
        <p:nvSpPr>
          <p:cNvPr id="426" name="arrow2"/>
          <p:cNvSpPr txBox="1"/>
          <p:nvPr/>
        </p:nvSpPr>
        <p:spPr>
          <a:xfrm>
            <a:off x="4480560" y="5926401"/>
            <a:ext cx="7114032" cy="274320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▼  999개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테이블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= 999개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트랜잭션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 →  FP-Growth  → 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연관규칙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(lift)</a:t>
            </a:r>
          </a:p>
        </p:txBody>
      </p:sp>
      <p:sp>
        <p:nvSpPr>
          <p:cNvPr id="427" name="legend"/>
          <p:cNvSpPr txBox="1"/>
          <p:nvPr/>
        </p:nvSpPr>
        <p:spPr>
          <a:xfrm>
            <a:off x="4803343" y="6336421"/>
            <a:ext cx="7114032" cy="256032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[</a:t>
            </a:r>
            <a:r>
              <a:rPr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1D </a:t>
            </a:r>
            <a:r>
              <a:rPr sz="12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이산화·AOI</a:t>
            </a:r>
            <a:r>
              <a:rPr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롤업</a:t>
            </a:r>
            <a:r>
              <a:rPr lang="ko-KR" alt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을</a:t>
            </a:r>
            <a:r>
              <a:rPr 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lang="ko-KR" alt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적용한 </a:t>
            </a:r>
            <a:r>
              <a:rPr lang="ko-KR" altLang="en-US" sz="12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트랜잭선</a:t>
            </a:r>
            <a:r>
              <a:rPr lang="ko-KR" alt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 구성 예시</a:t>
            </a:r>
            <a:r>
              <a:rPr 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]</a:t>
            </a:r>
            <a:endParaRPr sz="12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98839"/>
            <a:ext cx="11057839" cy="41049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연관규칙</a:t>
            </a:r>
            <a:r>
              <a:rPr lang="en-US" sz="2600" b="1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상세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지표</a:t>
            </a:r>
            <a:endParaRPr sz="26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8803844"/>
              </p:ext>
            </p:extLst>
          </p:nvPr>
        </p:nvGraphicFramePr>
        <p:xfrm>
          <a:off x="566928" y="2078182"/>
          <a:ext cx="11057835" cy="4070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4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854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9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2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16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16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09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88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086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주제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규칙</a:t>
                      </a:r>
                      <a:r>
                        <a:rPr sz="1400" b="1" i="0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선행→후행</a:t>
                      </a:r>
                      <a:r>
                        <a:rPr sz="1400" b="1" i="0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#테이블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support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conf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lift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leverage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conviction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086"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지리좌표쌍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경도→위도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0.044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22.7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0.0421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086"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기간쌍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교육시작일→교육종료일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90.8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086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행정구역계층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시도명→시군구명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39.0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0.0146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086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주소이중표기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지번주소→도로명주소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0.94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22.9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0.0153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16.3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086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소재지주소(공공행정)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소재지지번주소→소재지도로명주소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36.6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086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인구통계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연령대→성별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0.85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35.2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0.0107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6.3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086">
                <a:tc>
                  <a:txBody>
                    <a:bodyPr/>
                    <a:lstStyle/>
                    <a:p>
                      <a:pPr algn="ctr"/>
                      <a:r>
                        <a:rPr sz="12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의료기관</a:t>
                      </a:r>
                      <a:endParaRPr sz="12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의료기관전화번호→의료기관명+의료기관주소</a:t>
                      </a:r>
                      <a:endParaRPr sz="12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0.88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46.4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0.0147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8.3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086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교육스키마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교과목코드→분반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124.9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086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교육스키마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학종→학교명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23.8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089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사학재정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연구비→일반기부금+지정기부금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111.0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17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20" name="metric-desc"/>
          <p:cNvSpPr txBox="1"/>
          <p:nvPr/>
        </p:nvSpPr>
        <p:spPr>
          <a:xfrm>
            <a:off x="658091" y="1243584"/>
            <a:ext cx="10753621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ko-KR" altLang="en-US" b="1" dirty="0">
                <a:solidFill>
                  <a:srgbClr val="00965F"/>
                </a:solidFill>
                <a:latin typeface="맑은 고딕"/>
                <a:ea typeface="맑은 고딕"/>
              </a:rPr>
              <a:t>발견 패턴  ▸  </a:t>
            </a:r>
            <a:r>
              <a:rPr lang="ko-KR" altLang="en-US" b="1" dirty="0">
                <a:solidFill>
                  <a:srgbClr val="505050"/>
                </a:solidFill>
                <a:latin typeface="맑은 고딕"/>
                <a:ea typeface="맑은 고딕"/>
              </a:rPr>
              <a:t>컬럼 장바구니 연관규칙 </a:t>
            </a:r>
            <a:r>
              <a:rPr lang="en-US" altLang="ko-KR" b="1" dirty="0">
                <a:solidFill>
                  <a:srgbClr val="505050"/>
                </a:solidFill>
                <a:latin typeface="맑은 고딕"/>
                <a:ea typeface="맑은 고딕"/>
              </a:rPr>
              <a:t>(</a:t>
            </a:r>
            <a:r>
              <a:rPr lang="en-US" altLang="ko-KR" b="1" dirty="0" err="1">
                <a:solidFill>
                  <a:srgbClr val="505050"/>
                </a:solidFill>
                <a:latin typeface="맑은 고딕"/>
                <a:ea typeface="맑은 고딕"/>
              </a:rPr>
              <a:t>FP-Growth·lift</a:t>
            </a:r>
            <a:r>
              <a:rPr lang="en-US" altLang="ko-KR" b="1" dirty="0">
                <a:solidFill>
                  <a:srgbClr val="505050"/>
                </a:solidFill>
                <a:latin typeface="맑은 고딕"/>
                <a:ea typeface="맑은 고딕"/>
              </a:rPr>
              <a:t>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탐사 대상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98839"/>
            <a:ext cx="11057839" cy="41049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탐사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대상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규칙</a:t>
            </a:r>
            <a:r>
              <a:rPr lang="en-US"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적절한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lift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구간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lang="ko-KR" altLang="en-US"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선정</a:t>
            </a:r>
            <a:endParaRPr sz="26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1040918"/>
              </p:ext>
            </p:extLst>
          </p:nvPr>
        </p:nvGraphicFramePr>
        <p:xfrm>
          <a:off x="566928" y="2078182"/>
          <a:ext cx="11057835" cy="31313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4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854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9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2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16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16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09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88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3206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주제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규칙</a:t>
                      </a:r>
                      <a:r>
                        <a:rPr sz="1400" b="1" i="0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선행→후행</a:t>
                      </a:r>
                      <a:r>
                        <a:rPr sz="1400" b="1" i="0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#테이블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support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conf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lift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leverage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conviction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206"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도서관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출판사 → 저자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12</a:t>
                      </a:r>
                    </a:p>
                  </a:txBody>
                  <a:tcPr marL="36000" marR="36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0.012</a:t>
                      </a:r>
                    </a:p>
                  </a:txBody>
                  <a:tcPr marL="36000" marR="36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0.71</a:t>
                      </a:r>
                    </a:p>
                  </a:txBody>
                  <a:tcPr marL="36000" marR="36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47.0</a:t>
                      </a:r>
                    </a:p>
                  </a:txBody>
                  <a:tcPr marL="36000" marR="36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0.0118</a:t>
                      </a:r>
                    </a:p>
                  </a:txBody>
                  <a:tcPr marL="36000" marR="36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3.3</a:t>
                      </a:r>
                    </a:p>
                  </a:txBody>
                  <a:tcPr marL="36000" marR="360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206"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보건통계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확진자수</a:t>
                      </a:r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→ </a:t>
                      </a:r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사망자수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36000" marR="360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36000" marR="360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0.62</a:t>
                      </a:r>
                    </a:p>
                  </a:txBody>
                  <a:tcPr marL="36000" marR="360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39.0</a:t>
                      </a:r>
                    </a:p>
                  </a:txBody>
                  <a:tcPr marL="36000" marR="360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0.0098</a:t>
                      </a:r>
                    </a:p>
                  </a:txBody>
                  <a:tcPr marL="36000" marR="360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2.6</a:t>
                      </a:r>
                    </a:p>
                  </a:txBody>
                  <a:tcPr marL="36000" marR="360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353"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행정구역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시도명 → 시군구명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39.0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0.0146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103648"/>
                  </a:ext>
                </a:extLst>
              </a:tr>
              <a:tr h="378353"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인구통계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연령대 → 성별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0.85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35.2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0.0107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6.3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6471082"/>
                  </a:ext>
                </a:extLst>
              </a:tr>
              <a:tr h="378353"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설립 → 학교명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21.4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524925"/>
                  </a:ext>
                </a:extLst>
              </a:tr>
              <a:tr h="378353">
                <a:tc>
                  <a:txBody>
                    <a:bodyPr/>
                    <a:lstStyle/>
                    <a:p>
                      <a:pPr algn="ctr"/>
                      <a:r>
                        <a:rPr sz="12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거버넌스</a:t>
                      </a:r>
                      <a:endParaRPr sz="12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유아및초·중등교육</a:t>
                      </a:r>
                      <a:r>
                        <a:rPr sz="12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→ </a:t>
                      </a:r>
                      <a:r>
                        <a:rPr sz="12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기관</a:t>
                      </a:r>
                      <a:r>
                        <a:rPr sz="12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=</a:t>
                      </a:r>
                      <a:r>
                        <a:rPr sz="12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미상</a:t>
                      </a:r>
                      <a:r>
                        <a:rPr sz="12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sz="12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소스</a:t>
                      </a:r>
                      <a:r>
                        <a:rPr sz="12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0.100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6.89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0.0856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0396159"/>
                  </a:ext>
                </a:extLst>
              </a:tr>
              <a:tr h="378353"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속성원형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{보건·유일키·협소폭} → {보건의료·상수없음}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68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0.068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0.0530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359813"/>
                  </a:ext>
                </a:extLst>
              </a:tr>
            </a:tbl>
          </a:graphicData>
        </a:graphic>
      </p:graphicFrame>
      <p:sp>
        <p:nvSpPr>
          <p:cNvPr id="617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20" name="metric-desc"/>
          <p:cNvSpPr txBox="1"/>
          <p:nvPr/>
        </p:nvSpPr>
        <p:spPr>
          <a:xfrm>
            <a:off x="658091" y="1143508"/>
            <a:ext cx="10753621" cy="620776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Autofit/>
          </a:bodyPr>
          <a:lstStyle/>
          <a:p>
            <a:pPr>
              <a:lnSpc>
                <a:spcPct val="110000"/>
              </a:lnSpc>
            </a:pPr>
            <a:r>
              <a:rPr lang="ko-KR" altLang="en-US" b="1" dirty="0">
                <a:solidFill>
                  <a:srgbClr val="00965F"/>
                </a:solidFill>
                <a:latin typeface="맑은 고딕"/>
                <a:ea typeface="맑은 고딕"/>
              </a:rPr>
              <a:t>발견 패턴 ▸ lift 매우 높음(예 교과목코드↔분반 125)은 단일 템플릿 내 자명한 동반 </a:t>
            </a:r>
            <a:endParaRPr lang="en-US" altLang="ko-KR" b="1" dirty="0">
              <a:solidFill>
                <a:srgbClr val="00965F"/>
              </a:solidFill>
              <a:latin typeface="맑은 고딕"/>
              <a:ea typeface="맑은 고딕"/>
            </a:endParaRPr>
          </a:p>
          <a:p>
            <a:pPr>
              <a:lnSpc>
                <a:spcPct val="110000"/>
              </a:lnSpc>
            </a:pPr>
            <a:r>
              <a:rPr lang="ko-KR" altLang="en-US" b="1" dirty="0">
                <a:solidFill>
                  <a:srgbClr val="00965F"/>
                </a:solidFill>
                <a:latin typeface="맑은 고딕"/>
                <a:ea typeface="맑은 고딕"/>
              </a:rPr>
              <a:t>→ </a:t>
            </a:r>
            <a:r>
              <a:rPr lang="ko-KR" altLang="en-US" b="1" u="sng" dirty="0">
                <a:solidFill>
                  <a:srgbClr val="FF0000"/>
                </a:solidFill>
                <a:latin typeface="맑은 고딕"/>
                <a:ea typeface="맑은 고딕"/>
              </a:rPr>
              <a:t>적절 구간(lift 4~50)의 비자명 규칙을 탐사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거버넌스 이슈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98839"/>
            <a:ext cx="11057839" cy="41049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거버넌스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출처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lang="ko-KR" altLang="en-US"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누락 공통성</a:t>
            </a:r>
            <a:endParaRPr sz="26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46429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11</a:t>
            </a:r>
          </a:p>
        </p:txBody>
      </p:sp>
      <p:sp>
        <p:nvSpPr>
          <p:cNvPr id="505" name="g1-bg"/>
          <p:cNvSpPr/>
          <p:nvPr/>
        </p:nvSpPr>
        <p:spPr>
          <a:xfrm>
            <a:off x="566928" y="3630122"/>
            <a:ext cx="5285232" cy="2852928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06" name="g1-hdr"/>
          <p:cNvSpPr/>
          <p:nvPr/>
        </p:nvSpPr>
        <p:spPr>
          <a:xfrm>
            <a:off x="566928" y="3630122"/>
            <a:ext cx="528523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507" name="g1-title"/>
          <p:cNvSpPr txBox="1"/>
          <p:nvPr/>
        </p:nvSpPr>
        <p:spPr>
          <a:xfrm>
            <a:off x="566928" y="3630122"/>
            <a:ext cx="5285232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예시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데이터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—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무엇이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누락됐나</a:t>
            </a:r>
            <a:endParaRPr sz="14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508" name="g1-ex-sub"/>
          <p:cNvSpPr txBox="1"/>
          <p:nvPr/>
        </p:nvSpPr>
        <p:spPr>
          <a:xfrm>
            <a:off x="676656" y="3977594"/>
            <a:ext cx="5065776" cy="365760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예시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1건: 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광주광역시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남구_어린이집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현황_20230712.csv</a:t>
            </a:r>
          </a:p>
        </p:txBody>
      </p:sp>
      <p:sp>
        <p:nvSpPr>
          <p:cNvPr id="509" name="g1-f0"/>
          <p:cNvSpPr txBox="1"/>
          <p:nvPr/>
        </p:nvSpPr>
        <p:spPr>
          <a:xfrm>
            <a:off x="713232" y="4506676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table_source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(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출처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510" name="g1-v0"/>
          <p:cNvSpPr txBox="1"/>
          <p:nvPr/>
        </p:nvSpPr>
        <p:spPr>
          <a:xfrm>
            <a:off x="2587752" y="4506676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>
                <a:solidFill>
                  <a:srgbClr val="C0392B"/>
                </a:solidFill>
                <a:latin typeface="맑은 고딕"/>
                <a:ea typeface="맑은 고딕"/>
              </a:rPr>
              <a:t>‘</a:t>
            </a:r>
            <a:r>
              <a:rPr sz="1000" b="1" i="0" dirty="0" err="1">
                <a:solidFill>
                  <a:srgbClr val="C0392B"/>
                </a:solidFill>
                <a:latin typeface="맑은 고딕"/>
                <a:ea typeface="맑은 고딕"/>
              </a:rPr>
              <a:t>소스</a:t>
            </a:r>
            <a:r>
              <a:rPr sz="1000" b="1" i="0" dirty="0">
                <a:solidFill>
                  <a:srgbClr val="C0392B"/>
                </a:solidFill>
                <a:latin typeface="맑은 고딕"/>
                <a:ea typeface="맑은 고딕"/>
              </a:rPr>
              <a:t>’</a:t>
            </a:r>
            <a:r>
              <a:rPr sz="1000" b="0" i="0" dirty="0">
                <a:solidFill>
                  <a:srgbClr val="C0392B"/>
                </a:solidFill>
                <a:latin typeface="맑은 고딕"/>
                <a:ea typeface="맑은 고딕"/>
              </a:rPr>
              <a:t>   ✗ placeholder (</a:t>
            </a:r>
            <a:r>
              <a:rPr sz="1000" b="0" i="0" dirty="0" err="1">
                <a:solidFill>
                  <a:srgbClr val="C0392B"/>
                </a:solidFill>
                <a:latin typeface="맑은 고딕"/>
                <a:ea typeface="맑은 고딕"/>
              </a:rPr>
              <a:t>기관명</a:t>
            </a:r>
            <a:r>
              <a:rPr sz="1000" b="0" i="0" dirty="0">
                <a:solidFill>
                  <a:srgbClr val="C0392B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C0392B"/>
                </a:solidFill>
                <a:latin typeface="맑은 고딕"/>
                <a:ea typeface="맑은 고딕"/>
              </a:rPr>
              <a:t>소실</a:t>
            </a:r>
            <a:r>
              <a:rPr sz="1000" b="0" i="0" dirty="0">
                <a:solidFill>
                  <a:srgbClr val="C0392B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511" name="g1-f1"/>
          <p:cNvSpPr txBox="1"/>
          <p:nvPr/>
        </p:nvSpPr>
        <p:spPr>
          <a:xfrm>
            <a:off x="713232" y="4822144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url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(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원본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링크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512" name="g1-v1"/>
          <p:cNvSpPr txBox="1"/>
          <p:nvPr/>
        </p:nvSpPr>
        <p:spPr>
          <a:xfrm>
            <a:off x="2587752" y="4822144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>
                <a:solidFill>
                  <a:srgbClr val="C0392B"/>
                </a:solidFill>
                <a:latin typeface="맑은 고딕"/>
                <a:ea typeface="맑은 고딕"/>
              </a:rPr>
              <a:t>‘</a:t>
            </a:r>
            <a:r>
              <a:rPr sz="1000" b="1" i="0" dirty="0" err="1">
                <a:solidFill>
                  <a:srgbClr val="C0392B"/>
                </a:solidFill>
                <a:latin typeface="맑은 고딕"/>
                <a:ea typeface="맑은 고딕"/>
              </a:rPr>
              <a:t>url</a:t>
            </a:r>
            <a:r>
              <a:rPr sz="1000" b="1" i="0" dirty="0">
                <a:solidFill>
                  <a:srgbClr val="C0392B"/>
                </a:solidFill>
                <a:latin typeface="맑은 고딕"/>
                <a:ea typeface="맑은 고딕"/>
              </a:rPr>
              <a:t>’</a:t>
            </a:r>
            <a:r>
              <a:rPr sz="1000" b="0" i="0" dirty="0">
                <a:solidFill>
                  <a:srgbClr val="C0392B"/>
                </a:solidFill>
                <a:latin typeface="맑은 고딕"/>
                <a:ea typeface="맑은 고딕"/>
              </a:rPr>
              <a:t>   ✗ placeholder</a:t>
            </a:r>
          </a:p>
        </p:txBody>
      </p:sp>
      <p:sp>
        <p:nvSpPr>
          <p:cNvPr id="513" name="g1-f2"/>
          <p:cNvSpPr txBox="1"/>
          <p:nvPr/>
        </p:nvSpPr>
        <p:spPr>
          <a:xfrm>
            <a:off x="713232" y="5137612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table_nm (파일명)</a:t>
            </a:r>
          </a:p>
        </p:txBody>
      </p:sp>
      <p:sp>
        <p:nvSpPr>
          <p:cNvPr id="514" name="g1-v2"/>
          <p:cNvSpPr txBox="1"/>
          <p:nvPr/>
        </p:nvSpPr>
        <p:spPr>
          <a:xfrm>
            <a:off x="2587752" y="5137612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82D37"/>
                </a:solidFill>
                <a:latin typeface="맑은 고딕"/>
                <a:ea typeface="맑은 고딕"/>
              </a:rPr>
              <a:t>‘광주광역시 남구…’</a:t>
            </a: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   ✓ 기관명 존재</a:t>
            </a:r>
          </a:p>
        </p:txBody>
      </p:sp>
      <p:sp>
        <p:nvSpPr>
          <p:cNvPr id="515" name="g1-f3"/>
          <p:cNvSpPr txBox="1"/>
          <p:nvPr/>
        </p:nvSpPr>
        <p:spPr>
          <a:xfrm>
            <a:off x="713232" y="5453080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regi_date (등록)</a:t>
            </a:r>
          </a:p>
        </p:txBody>
      </p:sp>
      <p:sp>
        <p:nvSpPr>
          <p:cNvPr id="516" name="g1-v3"/>
          <p:cNvSpPr txBox="1"/>
          <p:nvPr/>
        </p:nvSpPr>
        <p:spPr>
          <a:xfrm>
            <a:off x="2587752" y="5453080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2026-03-30</a:t>
            </a:r>
            <a:r>
              <a:rPr sz="1000" b="0" i="0" dirty="0">
                <a:solidFill>
                  <a:srgbClr val="505050"/>
                </a:solidFill>
                <a:latin typeface="맑은 고딕"/>
                <a:ea typeface="맑은 고딕"/>
              </a:rPr>
              <a:t>   (100건 </a:t>
            </a:r>
            <a:r>
              <a:rPr sz="10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전부</a:t>
            </a:r>
            <a:r>
              <a:rPr sz="10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동일</a:t>
            </a:r>
            <a:r>
              <a:rPr sz="1000" b="0" i="0" dirty="0">
                <a:solidFill>
                  <a:srgbClr val="505050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517" name="g1-f4"/>
          <p:cNvSpPr txBox="1"/>
          <p:nvPr/>
        </p:nvSpPr>
        <p:spPr>
          <a:xfrm>
            <a:off x="713232" y="5768548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src_platform</a:t>
            </a:r>
          </a:p>
        </p:txBody>
      </p:sp>
      <p:sp>
        <p:nvSpPr>
          <p:cNvPr id="518" name="g1-v4"/>
          <p:cNvSpPr txBox="1"/>
          <p:nvPr/>
        </p:nvSpPr>
        <p:spPr>
          <a:xfrm>
            <a:off x="2587752" y="5768548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82D37"/>
                </a:solidFill>
                <a:latin typeface="맑은 고딕"/>
                <a:ea typeface="맑은 고딕"/>
              </a:rPr>
              <a:t>공공데이터포털</a:t>
            </a: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   ✓ 정상</a:t>
            </a:r>
          </a:p>
        </p:txBody>
      </p:sp>
      <p:sp>
        <p:nvSpPr>
          <p:cNvPr id="520" name="g1-bg"/>
          <p:cNvSpPr/>
          <p:nvPr/>
        </p:nvSpPr>
        <p:spPr>
          <a:xfrm>
            <a:off x="6053328" y="1991758"/>
            <a:ext cx="5568696" cy="272491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21" name="g1-hdr"/>
          <p:cNvSpPr/>
          <p:nvPr/>
        </p:nvSpPr>
        <p:spPr>
          <a:xfrm>
            <a:off x="6053328" y="1991758"/>
            <a:ext cx="5568696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522" name="g1-title"/>
          <p:cNvSpPr txBox="1"/>
          <p:nvPr/>
        </p:nvSpPr>
        <p:spPr>
          <a:xfrm>
            <a:off x="6053328" y="1991758"/>
            <a:ext cx="5568696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>
              <a:lnSpc>
                <a:spcPct val="118000"/>
              </a:lnSpc>
            </a:pPr>
            <a:r>
              <a:rPr lang="ko-KR" altLang="en-US" sz="1400" b="1" dirty="0">
                <a:solidFill>
                  <a:srgbClr val="FFFFFF"/>
                </a:solidFill>
                <a:latin typeface="맑은 고딕"/>
                <a:ea typeface="맑은 고딕"/>
              </a:rPr>
              <a:t>①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의미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분석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(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구체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523" name="g1-mean"/>
          <p:cNvSpPr txBox="1"/>
          <p:nvPr/>
        </p:nvSpPr>
        <p:spPr>
          <a:xfrm>
            <a:off x="6163056" y="2348374"/>
            <a:ext cx="5367528" cy="2322576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①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누락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값: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table_source→‘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소스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’,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url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→‘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url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’ — 두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메타필드가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더미로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덮임</a:t>
            </a:r>
            <a:r>
              <a:rPr lang="en-US"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② </a:t>
            </a:r>
            <a:r>
              <a:rPr lang="ko-KR" altLang="en-US"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공통성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placeholder 145건 중 100건이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전부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‘</a:t>
            </a:r>
            <a:r>
              <a:rPr sz="1000" b="1" i="0" u="sng" dirty="0" err="1">
                <a:solidFill>
                  <a:srgbClr val="282D37"/>
                </a:solidFill>
                <a:latin typeface="맑은 고딕"/>
                <a:ea typeface="맑은 고딕"/>
              </a:rPr>
              <a:t>유아및초·중등교육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’(이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분류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100%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소실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, 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lang="en-US" sz="1000" dirty="0">
                <a:solidFill>
                  <a:srgbClr val="282D37"/>
                </a:solidFill>
                <a:latin typeface="맑은 고딕"/>
                <a:ea typeface="맑은 고딕"/>
              </a:rPr>
              <a:t>  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타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분류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1~15%)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③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단일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배치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100건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모두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1" i="0" u="sng" dirty="0" err="1">
                <a:solidFill>
                  <a:srgbClr val="282D37"/>
                </a:solidFill>
                <a:latin typeface="맑은 고딕"/>
                <a:ea typeface="맑은 고딕"/>
              </a:rPr>
              <a:t>regi_date</a:t>
            </a:r>
            <a:r>
              <a:rPr sz="1000" b="1" i="0" u="sng" dirty="0">
                <a:solidFill>
                  <a:srgbClr val="282D37"/>
                </a:solidFill>
                <a:latin typeface="맑은 고딕"/>
                <a:ea typeface="맑은 고딕"/>
              </a:rPr>
              <a:t>=2026-03-30 </a:t>
            </a:r>
            <a:r>
              <a:rPr sz="1000" b="1" i="0" u="sng" dirty="0" err="1">
                <a:solidFill>
                  <a:srgbClr val="282D37"/>
                </a:solidFill>
                <a:latin typeface="맑은 고딕"/>
                <a:ea typeface="맑은 고딕"/>
              </a:rPr>
              <a:t>동일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한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번의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적재에서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일괄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placeholder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lang="en-US" sz="10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처리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우연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아님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)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>
              <a:lnSpc>
                <a:spcPct val="118000"/>
              </a:lnSpc>
              <a:spcAft>
                <a:spcPts val="40"/>
              </a:spcAft>
            </a:pPr>
            <a:r>
              <a:rPr lang="ko-KR" altLang="en-US" sz="1000" b="1" dirty="0">
                <a:solidFill>
                  <a:srgbClr val="081F46"/>
                </a:solidFill>
                <a:latin typeface="맑은 고딕"/>
                <a:ea typeface="맑은 고딕"/>
              </a:rPr>
              <a:t>④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영향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신뢰성·책임추적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(provenance)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붕괴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. 단,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파일명에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기관명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잔존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복구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가능</a:t>
            </a: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524" name="g1-bg"/>
          <p:cNvSpPr/>
          <p:nvPr/>
        </p:nvSpPr>
        <p:spPr>
          <a:xfrm>
            <a:off x="6053328" y="4808110"/>
            <a:ext cx="5568696" cy="1664208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25" name="g1-hdr"/>
          <p:cNvSpPr/>
          <p:nvPr/>
        </p:nvSpPr>
        <p:spPr>
          <a:xfrm>
            <a:off x="6053328" y="4808110"/>
            <a:ext cx="5568696" cy="310896"/>
          </a:xfrm>
          <a:prstGeom prst="roundRect">
            <a:avLst/>
          </a:prstGeom>
          <a:solidFill>
            <a:srgbClr val="00965F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526" name="g1-title"/>
          <p:cNvSpPr txBox="1"/>
          <p:nvPr/>
        </p:nvSpPr>
        <p:spPr>
          <a:xfrm>
            <a:off x="6053328" y="4808110"/>
            <a:ext cx="5568696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>
              <a:lnSpc>
                <a:spcPct val="118000"/>
              </a:lnSpc>
            </a:pPr>
            <a:r>
              <a:rPr lang="ko-KR" altLang="en-US" sz="1400" b="1" dirty="0">
                <a:solidFill>
                  <a:srgbClr val="FFFFFF"/>
                </a:solidFill>
                <a:latin typeface="맑은 고딕"/>
                <a:ea typeface="맑은 고딕"/>
              </a:rPr>
              <a:t>②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처리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· ③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대책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· ④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추가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분석</a:t>
            </a:r>
            <a:endParaRPr sz="14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527" name="g1-action"/>
          <p:cNvSpPr txBox="1"/>
          <p:nvPr/>
        </p:nvSpPr>
        <p:spPr>
          <a:xfrm>
            <a:off x="6163056" y="5164726"/>
            <a:ext cx="5367528" cy="1261872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처리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AOI로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‘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소스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’=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미상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식별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cate2별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교차표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en-US"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→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결합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포착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(lift 6.89)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r>
              <a:rPr sz="10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대책</a:t>
            </a:r>
            <a:r>
              <a:rPr sz="1000" b="1" i="0" dirty="0">
                <a:solidFill>
                  <a:srgbClr val="00965F"/>
                </a:solidFill>
                <a:latin typeface="맑은 고딕"/>
                <a:ea typeface="맑은 고딕"/>
              </a:rPr>
              <a:t>: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①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파일명에서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복구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(1순위) ②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적재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시 </a:t>
            </a:r>
            <a:r>
              <a:rPr lang="ko-KR" altLang="en-US"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출처 표기 등록 로직 점검</a:t>
            </a:r>
            <a:r>
              <a:rPr lang="en-US" altLang="ko-KR" sz="100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③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표준코드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r>
              <a:rPr sz="10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추가</a:t>
            </a:r>
            <a:r>
              <a:rPr sz="1000" b="1" i="0" dirty="0">
                <a:solidFill>
                  <a:srgbClr val="00965F"/>
                </a:solidFill>
                <a:latin typeface="맑은 고딕"/>
                <a:ea typeface="맑은 고딕"/>
              </a:rPr>
              <a:t>: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regi_date·url로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배치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역추적</a:t>
            </a: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601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02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발견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패턴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 ▸  </a:t>
            </a:r>
            <a:r>
              <a:rPr lang="en-US" sz="1000" b="1" i="0" dirty="0">
                <a:solidFill>
                  <a:srgbClr val="505050"/>
                </a:solidFill>
                <a:latin typeface="맑은 고딕"/>
                <a:ea typeface="맑은 고딕"/>
              </a:rPr>
              <a:t>cate2 = </a:t>
            </a:r>
            <a:r>
              <a:rPr lang="ko-KR" altLang="en-US" sz="10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유아및초</a:t>
            </a:r>
            <a:r>
              <a:rPr lang="ko-KR" altLang="en-US" sz="1000" b="1" dirty="0" err="1">
                <a:solidFill>
                  <a:srgbClr val="505050"/>
                </a:solidFill>
                <a:latin typeface="맑은 고딕"/>
                <a:ea typeface="맑은 고딕"/>
              </a:rPr>
              <a:t>중등교육</a:t>
            </a:r>
            <a:r>
              <a:rPr lang="ko-KR" altLang="en-US" sz="1000" b="1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1" dirty="0">
                <a:solidFill>
                  <a:srgbClr val="505050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 </a:t>
            </a:r>
            <a:r>
              <a:rPr lang="ko-KR" altLang="en-US" sz="1000" b="1" dirty="0">
                <a:solidFill>
                  <a:srgbClr val="505050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기관 </a:t>
            </a:r>
            <a:r>
              <a:rPr lang="en-US" altLang="ko-KR" sz="1000" b="1" dirty="0">
                <a:solidFill>
                  <a:srgbClr val="505050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= </a:t>
            </a:r>
            <a:r>
              <a:rPr lang="ko-KR" altLang="en-US" sz="1000" b="1" dirty="0">
                <a:solidFill>
                  <a:srgbClr val="505050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미상</a:t>
            </a:r>
            <a:r>
              <a:rPr sz="1000" b="1" i="0" dirty="0">
                <a:solidFill>
                  <a:srgbClr val="505050"/>
                </a:solidFill>
                <a:latin typeface="맑은 고딕"/>
                <a:ea typeface="맑은 고딕"/>
              </a:rPr>
              <a:t> (lift 6.89·conf 1.0)</a:t>
            </a:r>
          </a:p>
        </p:txBody>
      </p:sp>
      <p:sp>
        <p:nvSpPr>
          <p:cNvPr id="603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 fontScale="77500" lnSpcReduction="2000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dirty="0">
                <a:solidFill>
                  <a:srgbClr val="081F46"/>
                </a:solidFill>
                <a:latin typeface="맑은 고딕"/>
                <a:ea typeface="맑은 고딕"/>
              </a:rPr>
              <a:t>100%</a:t>
            </a:r>
          </a:p>
        </p:txBody>
      </p:sp>
      <p:sp>
        <p:nvSpPr>
          <p:cNvPr id="604" name="metric-desc"/>
          <p:cNvSpPr txBox="1"/>
          <p:nvPr/>
        </p:nvSpPr>
        <p:spPr>
          <a:xfrm>
            <a:off x="2084832" y="1320673"/>
            <a:ext cx="9336024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누락은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무작위가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아니라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“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유아및초·중등교육”에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100% 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집중된</a:t>
            </a:r>
            <a:r>
              <a:rPr lang="en-US"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ko-KR" altLang="en-US" b="1" dirty="0">
                <a:solidFill>
                  <a:srgbClr val="282D37"/>
                </a:solidFill>
                <a:latin typeface="맑은 고딕"/>
                <a:ea typeface="맑은 고딕"/>
              </a:rPr>
              <a:t>공통 특성을 가짐</a:t>
            </a:r>
            <a:r>
              <a:rPr lang="en-US" altLang="ko-KR" b="1" dirty="0">
                <a:solidFill>
                  <a:srgbClr val="282D37"/>
                </a:solidFill>
                <a:latin typeface="맑은 고딕"/>
                <a:ea typeface="맑은 고딕"/>
              </a:rPr>
              <a:t>.</a:t>
            </a:r>
            <a:endParaRPr b="1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701" name="a1-bg"/>
          <p:cNvSpPr/>
          <p:nvPr/>
        </p:nvSpPr>
        <p:spPr>
          <a:xfrm>
            <a:off x="566928" y="1991758"/>
            <a:ext cx="5285232" cy="15544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02" name="a1-hdr"/>
          <p:cNvSpPr/>
          <p:nvPr/>
        </p:nvSpPr>
        <p:spPr>
          <a:xfrm>
            <a:off x="566928" y="1991758"/>
            <a:ext cx="528523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703" name="a1-title"/>
          <p:cNvSpPr txBox="1"/>
          <p:nvPr/>
        </p:nvSpPr>
        <p:spPr>
          <a:xfrm>
            <a:off x="566928" y="1991758"/>
            <a:ext cx="5285232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관련 트랜잭션 아이템 및 연관 규칙</a:t>
            </a:r>
            <a:endParaRPr sz="14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704" name="a1-text"/>
          <p:cNvSpPr txBox="1"/>
          <p:nvPr/>
        </p:nvSpPr>
        <p:spPr>
          <a:xfrm>
            <a:off x="676656" y="2330086"/>
            <a:ext cx="5084064" cy="603504"/>
          </a:xfrm>
          <a:prstGeom prst="rect">
            <a:avLst/>
          </a:prstGeom>
          <a:noFill/>
        </p:spPr>
        <p:txBody>
          <a:bodyPr wrap="square" lIns="12700" tIns="6350" rIns="12700" bIns="635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"/>
              </a:spcAft>
            </a:pP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·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트랜잭션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=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1건(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속성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트랜잭션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A)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"/>
              </a:spcAft>
            </a:pP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·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아이템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=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‘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속성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=값’ 8종 — cate1·cate2·기관(AOI)·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레코드·컬럼폭·수치비·유일키·상수컬럼</a:t>
            </a: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000" b="1" dirty="0">
                <a:solidFill>
                  <a:srgbClr val="081F46"/>
                </a:solidFill>
                <a:latin typeface="맑은 고딕"/>
                <a:ea typeface="맑은 고딕"/>
              </a:rPr>
              <a:t>※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이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아이템들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사이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규칙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중 cate1↔cate2</a:t>
            </a:r>
            <a:r>
              <a:rPr lang="ko-KR" altLang="en-US"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과 같은 명백한 규칙은 제외</a:t>
            </a: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705" name="a1-chip"/>
          <p:cNvSpPr/>
          <p:nvPr/>
        </p:nvSpPr>
        <p:spPr>
          <a:xfrm>
            <a:off x="713232" y="2948363"/>
            <a:ext cx="2743200" cy="292608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 lnSpcReduction="20000"/>
          </a:bodyPr>
          <a:lstStyle/>
          <a:p>
            <a:pPr algn="ctr"/>
            <a:endParaRPr/>
          </a:p>
        </p:txBody>
      </p:sp>
      <p:sp>
        <p:nvSpPr>
          <p:cNvPr id="706" name="a1-chiptx"/>
          <p:cNvSpPr txBox="1"/>
          <p:nvPr/>
        </p:nvSpPr>
        <p:spPr>
          <a:xfrm>
            <a:off x="713232" y="2948363"/>
            <a:ext cx="2743200" cy="29260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965F"/>
                </a:solidFill>
                <a:latin typeface="맑은 고딕"/>
                <a:ea typeface="맑은 고딕"/>
              </a:rPr>
              <a:t>cate2 = </a:t>
            </a:r>
            <a:r>
              <a:rPr sz="14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유아및초·중등교육</a:t>
            </a:r>
            <a:endParaRPr sz="1400" b="1" i="0" dirty="0">
              <a:solidFill>
                <a:srgbClr val="00965F"/>
              </a:solidFill>
              <a:latin typeface="맑은 고딕"/>
              <a:ea typeface="맑은 고딕"/>
            </a:endParaRPr>
          </a:p>
        </p:txBody>
      </p:sp>
      <p:sp>
        <p:nvSpPr>
          <p:cNvPr id="707" name="a1-arrow"/>
          <p:cNvSpPr txBox="1"/>
          <p:nvPr/>
        </p:nvSpPr>
        <p:spPr>
          <a:xfrm>
            <a:off x="3474720" y="2948363"/>
            <a:ext cx="310896" cy="292608"/>
          </a:xfrm>
          <a:prstGeom prst="rect">
            <a:avLst/>
          </a:prstGeom>
          <a:noFill/>
        </p:spPr>
        <p:txBody>
          <a:bodyPr wrap="square" lIns="0" tIns="6350" rIns="0" bIns="6350" anchor="ctr">
            <a:norm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05050"/>
                </a:solidFill>
                <a:latin typeface="맑은 고딕"/>
                <a:ea typeface="맑은 고딕"/>
              </a:rPr>
              <a:t>▶</a:t>
            </a:r>
          </a:p>
        </p:txBody>
      </p:sp>
      <p:sp>
        <p:nvSpPr>
          <p:cNvPr id="708" name="a1-chip"/>
          <p:cNvSpPr/>
          <p:nvPr/>
        </p:nvSpPr>
        <p:spPr>
          <a:xfrm>
            <a:off x="3803904" y="2948363"/>
            <a:ext cx="1810512" cy="292608"/>
          </a:xfrm>
          <a:prstGeom prst="roundRect">
            <a:avLst/>
          </a:prstGeom>
          <a:solidFill>
            <a:srgbClr val="FCE8E6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 lnSpcReduction="20000"/>
          </a:bodyPr>
          <a:lstStyle/>
          <a:p>
            <a:pPr algn="ctr"/>
            <a:endParaRPr/>
          </a:p>
        </p:txBody>
      </p:sp>
      <p:sp>
        <p:nvSpPr>
          <p:cNvPr id="709" name="a1-chiptx"/>
          <p:cNvSpPr txBox="1"/>
          <p:nvPr/>
        </p:nvSpPr>
        <p:spPr>
          <a:xfrm>
            <a:off x="3803904" y="2948363"/>
            <a:ext cx="1810512" cy="29260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0392B"/>
                </a:solidFill>
                <a:latin typeface="맑은 고딕"/>
                <a:ea typeface="맑은 고딕"/>
              </a:rPr>
              <a:t>기관 = 미상(소스)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0E1BD3-E64C-17A6-9A6D-C255C5076C59}"/>
              </a:ext>
            </a:extLst>
          </p:cNvPr>
          <p:cNvSpPr txBox="1"/>
          <p:nvPr/>
        </p:nvSpPr>
        <p:spPr>
          <a:xfrm>
            <a:off x="3720794" y="3265892"/>
            <a:ext cx="20516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i="0" dirty="0">
                <a:solidFill>
                  <a:srgbClr val="505050"/>
                </a:solidFill>
                <a:latin typeface="맑은 고딕"/>
                <a:ea typeface="맑은 고딕"/>
              </a:rPr>
              <a:t>lift 6.89·conf 1.0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 교차도메인 데이터 연계 기회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12</a:t>
            </a:r>
          </a:p>
        </p:txBody>
      </p:sp>
      <p:sp>
        <p:nvSpPr>
          <p:cNvPr id="625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26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발견</a:t>
            </a:r>
            <a:r>
              <a:rPr sz="1000" b="1" i="0" dirty="0">
                <a:solidFill>
                  <a:srgbClr val="00965F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패턴</a:t>
            </a:r>
            <a:r>
              <a:rPr sz="1000" b="1" i="0" dirty="0">
                <a:solidFill>
                  <a:srgbClr val="00965F"/>
                </a:solidFill>
                <a:latin typeface="맑은 고딕"/>
                <a:ea typeface="맑은 고딕"/>
              </a:rPr>
              <a:t>  ▸  </a:t>
            </a:r>
            <a:r>
              <a:rPr sz="10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의료기관</a:t>
            </a:r>
            <a:r>
              <a:rPr sz="10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패밀리</a:t>
            </a:r>
            <a:r>
              <a:rPr sz="1000" b="1" i="0" dirty="0">
                <a:solidFill>
                  <a:srgbClr val="505050"/>
                </a:solidFill>
                <a:latin typeface="맑은 고딕"/>
                <a:ea typeface="맑은 고딕"/>
              </a:rPr>
              <a:t> + </a:t>
            </a:r>
            <a:r>
              <a:rPr sz="10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연관규칙</a:t>
            </a:r>
            <a:r>
              <a:rPr sz="1000" b="1" i="0" dirty="0">
                <a:solidFill>
                  <a:srgbClr val="505050"/>
                </a:solidFill>
                <a:latin typeface="맑은 고딕"/>
                <a:ea typeface="맑은 고딕"/>
              </a:rPr>
              <a:t> (conf 0.88)</a:t>
            </a:r>
          </a:p>
        </p:txBody>
      </p:sp>
      <p:sp>
        <p:nvSpPr>
          <p:cNvPr id="627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 fontScale="77500" lnSpcReduction="2000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965F"/>
                </a:solidFill>
                <a:latin typeface="맑은 고딕"/>
                <a:ea typeface="맑은 고딕"/>
              </a:rPr>
              <a:t>lift 46.4</a:t>
            </a:r>
          </a:p>
        </p:txBody>
      </p:sp>
      <p:sp>
        <p:nvSpPr>
          <p:cNvPr id="628" name="metric-desc"/>
          <p:cNvSpPr txBox="1"/>
          <p:nvPr/>
        </p:nvSpPr>
        <p:spPr>
          <a:xfrm>
            <a:off x="2763981" y="1339596"/>
            <a:ext cx="9153393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명·주소·전화가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항상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묶여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있어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같은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기관을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연결할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수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있는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‘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연계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기회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’</a:t>
            </a:r>
            <a:r>
              <a:rPr lang="en-US"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ko-KR" altLang="en-US" b="1" dirty="0">
                <a:solidFill>
                  <a:srgbClr val="282D37"/>
                </a:solidFill>
                <a:latin typeface="맑은 고딕"/>
                <a:ea typeface="맑은 고딕"/>
              </a:rPr>
              <a:t>형성</a:t>
            </a:r>
            <a:endParaRPr b="1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6003" name="r-bg"/>
          <p:cNvSpPr/>
          <p:nvPr/>
        </p:nvSpPr>
        <p:spPr>
          <a:xfrm>
            <a:off x="566928" y="1828800"/>
            <a:ext cx="4572000" cy="210312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004" name="r-hdr"/>
          <p:cNvSpPr/>
          <p:nvPr/>
        </p:nvSpPr>
        <p:spPr>
          <a:xfrm>
            <a:off x="566928" y="1828800"/>
            <a:ext cx="4572000" cy="329184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6005" name="r-title"/>
          <p:cNvSpPr txBox="1"/>
          <p:nvPr/>
        </p:nvSpPr>
        <p:spPr>
          <a:xfrm>
            <a:off x="566928" y="1828800"/>
            <a:ext cx="4572000" cy="329184"/>
          </a:xfrm>
          <a:prstGeom prst="rect">
            <a:avLst/>
          </a:prstGeom>
          <a:noFill/>
        </p:spPr>
        <p:txBody>
          <a:bodyPr wrap="square" lIns="118872" tIns="6350" rIns="118872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①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의료기관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패밀리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생성</a:t>
            </a:r>
            <a:endParaRPr sz="14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6006" name="r-fam"/>
          <p:cNvSpPr txBox="1"/>
          <p:nvPr/>
        </p:nvSpPr>
        <p:spPr>
          <a:xfrm>
            <a:off x="685800" y="2203704"/>
            <a:ext cx="4334256" cy="1682496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"/>
              </a:spcAft>
              <a:buNone/>
            </a:pP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장바구니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각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보유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컬럼개념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집합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"/>
              </a:spcAft>
              <a:buNone/>
            </a:pP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FP-Growth: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최대빈발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항목집합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(≥8테이블)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"/>
              </a:spcAft>
              <a:buNone/>
            </a:pP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결과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: 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{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순번·의료기관명·의료기관전화번호·의료기관주소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} 4컬럼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공통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연계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키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후보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전화·주소·명·위경도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(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공통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조인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키)</a:t>
            </a:r>
          </a:p>
        </p:txBody>
      </p:sp>
      <p:sp>
        <p:nvSpPr>
          <p:cNvPr id="6007" name="r-bg"/>
          <p:cNvSpPr/>
          <p:nvPr/>
        </p:nvSpPr>
        <p:spPr>
          <a:xfrm>
            <a:off x="566928" y="4069080"/>
            <a:ext cx="4572000" cy="22402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008" name="r-hdr"/>
          <p:cNvSpPr/>
          <p:nvPr/>
        </p:nvSpPr>
        <p:spPr>
          <a:xfrm>
            <a:off x="566928" y="4069080"/>
            <a:ext cx="4572000" cy="329184"/>
          </a:xfrm>
          <a:prstGeom prst="roundRect">
            <a:avLst/>
          </a:prstGeom>
          <a:solidFill>
            <a:srgbClr val="00965F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6009" name="r-title"/>
          <p:cNvSpPr txBox="1"/>
          <p:nvPr/>
        </p:nvSpPr>
        <p:spPr>
          <a:xfrm>
            <a:off x="566928" y="4069080"/>
            <a:ext cx="4572000" cy="329184"/>
          </a:xfrm>
          <a:prstGeom prst="rect">
            <a:avLst/>
          </a:prstGeom>
          <a:noFill/>
        </p:spPr>
        <p:txBody>
          <a:bodyPr wrap="square" lIns="118872" tIns="6350" rIns="118872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③ 연관규칙 — 연계 근거</a:t>
            </a:r>
          </a:p>
        </p:txBody>
      </p:sp>
      <p:sp>
        <p:nvSpPr>
          <p:cNvPr id="6010" name="r-chip"/>
          <p:cNvSpPr/>
          <p:nvPr/>
        </p:nvSpPr>
        <p:spPr>
          <a:xfrm>
            <a:off x="1069848" y="4489704"/>
            <a:ext cx="3566160" cy="36576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6011" name="r-chiptx"/>
          <p:cNvSpPr txBox="1"/>
          <p:nvPr/>
        </p:nvSpPr>
        <p:spPr>
          <a:xfrm>
            <a:off x="1069848" y="4489704"/>
            <a:ext cx="3566160" cy="365760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의료기관전화번호</a:t>
            </a:r>
            <a:endParaRPr sz="1400" b="1" i="0" dirty="0">
              <a:solidFill>
                <a:srgbClr val="00965F"/>
              </a:solidFill>
              <a:latin typeface="맑은 고딕"/>
              <a:ea typeface="맑은 고딕"/>
            </a:endParaRPr>
          </a:p>
        </p:txBody>
      </p:sp>
      <p:sp>
        <p:nvSpPr>
          <p:cNvPr id="6012" name="r-arrow"/>
          <p:cNvSpPr txBox="1"/>
          <p:nvPr/>
        </p:nvSpPr>
        <p:spPr>
          <a:xfrm>
            <a:off x="1069848" y="4855464"/>
            <a:ext cx="3566160" cy="274320"/>
          </a:xfrm>
          <a:prstGeom prst="rect">
            <a:avLst/>
          </a:prstGeom>
          <a:noFill/>
        </p:spPr>
        <p:txBody>
          <a:bodyPr wrap="square" lIns="0" tIns="6350" rIns="0" bIns="6350" anchor="ctr">
            <a:norm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505050"/>
                </a:solidFill>
                <a:latin typeface="맑은 고딕"/>
                <a:ea typeface="맑은 고딕"/>
              </a:rPr>
              <a:t>▼</a:t>
            </a:r>
          </a:p>
        </p:txBody>
      </p:sp>
      <p:sp>
        <p:nvSpPr>
          <p:cNvPr id="6013" name="r-chip"/>
          <p:cNvSpPr/>
          <p:nvPr/>
        </p:nvSpPr>
        <p:spPr>
          <a:xfrm>
            <a:off x="1069848" y="5129784"/>
            <a:ext cx="3566160" cy="36576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6014" name="r-chiptx"/>
          <p:cNvSpPr txBox="1"/>
          <p:nvPr/>
        </p:nvSpPr>
        <p:spPr>
          <a:xfrm>
            <a:off x="1069848" y="5129784"/>
            <a:ext cx="3566160" cy="365760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081F46"/>
                </a:solidFill>
                <a:latin typeface="맑은 고딕"/>
                <a:ea typeface="맑은 고딕"/>
              </a:rPr>
              <a:t>의료기관명 · 의료기관주소</a:t>
            </a:r>
          </a:p>
        </p:txBody>
      </p:sp>
      <p:sp>
        <p:nvSpPr>
          <p:cNvPr id="6015" name="r-rule"/>
          <p:cNvSpPr txBox="1"/>
          <p:nvPr/>
        </p:nvSpPr>
        <p:spPr>
          <a:xfrm>
            <a:off x="713232" y="5605272"/>
            <a:ext cx="4297680" cy="731520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6"/>
              </a:spcAft>
              <a:buNone/>
            </a:pP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support 15 · conf 0.88 · lift 46.4</a:t>
            </a:r>
          </a:p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같은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기관을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여러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데이터셋에서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연결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=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연계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기회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6016" name="r-bg"/>
          <p:cNvSpPr/>
          <p:nvPr/>
        </p:nvSpPr>
        <p:spPr>
          <a:xfrm>
            <a:off x="5321808" y="1828800"/>
            <a:ext cx="6300216" cy="448056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017" name="r-hdr"/>
          <p:cNvSpPr/>
          <p:nvPr/>
        </p:nvSpPr>
        <p:spPr>
          <a:xfrm>
            <a:off x="5321808" y="1828800"/>
            <a:ext cx="6300216" cy="329184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6018" name="r-title"/>
          <p:cNvSpPr txBox="1"/>
          <p:nvPr/>
        </p:nvSpPr>
        <p:spPr>
          <a:xfrm>
            <a:off x="5321808" y="1828800"/>
            <a:ext cx="6300216" cy="329184"/>
          </a:xfrm>
          <a:prstGeom prst="rect">
            <a:avLst/>
          </a:prstGeom>
          <a:noFill/>
        </p:spPr>
        <p:txBody>
          <a:bodyPr wrap="square" lIns="118872" tIns="6350" rIns="118872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② 패밀리 구성 11개 테이블 (보건 · 4컬럼 공통 보유)</a:t>
            </a:r>
          </a:p>
        </p:txBody>
      </p:sp>
      <p:graphicFrame>
        <p:nvGraphicFramePr>
          <p:cNvPr id="6019" name="list-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0299688"/>
              </p:ext>
            </p:extLst>
          </p:nvPr>
        </p:nvGraphicFramePr>
        <p:xfrm>
          <a:off x="5452872" y="2334006"/>
          <a:ext cx="6025896" cy="3529584"/>
        </p:xfrm>
        <a:graphic>
          <a:graphicData uri="http://schemas.openxmlformats.org/drawingml/2006/table">
            <a:tbl>
              <a:tblPr firstRow="1" bandRow="1"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13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38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92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</a:t>
                      </a:r>
                    </a:p>
                  </a:txBody>
                  <a:tcPr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지자체</a:t>
                      </a:r>
                    </a:p>
                  </a:txBody>
                  <a:tcPr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데이터셋(의료기관 유형)</a:t>
                      </a:r>
                    </a:p>
                  </a:txBody>
                  <a:tcPr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레코드</a:t>
                      </a:r>
                    </a:p>
                  </a:txBody>
                  <a:tcPr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200" b="1" dirty="0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전북 익산시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의료기관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368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인천 부평구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의료기관 현황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682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부산 강서구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병의원</a:t>
                      </a:r>
                      <a:r>
                        <a:rPr lang="ko-KR" sz="1200" b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현황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118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전남 목포시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병원현황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대전 동구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특수의료장비 공동활용병상 의료기관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26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부산 기장군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한의원 현황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7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충남 아산시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한의원현황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61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충남 아산시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치과의원현황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전북 김제시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병원현황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65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부산 북구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의원급의료기관</a:t>
                      </a:r>
                      <a:r>
                        <a:rPr lang="ko-KR" sz="1200" b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현황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 dirty="0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339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부산 동래구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피부과의원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 dirty="0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종합 시사점 및 거버넌스 대책 로드맵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발견을</a:t>
            </a:r>
            <a:r>
              <a:rPr sz="1800" b="1" i="0" dirty="0">
                <a:solidFill>
                  <a:srgbClr val="00965F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즉시·단기·중기</a:t>
            </a:r>
            <a:r>
              <a:rPr sz="1800" b="1" i="0" dirty="0">
                <a:solidFill>
                  <a:srgbClr val="00965F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조치로</a:t>
            </a:r>
            <a:r>
              <a:rPr sz="1800" b="1" i="0" dirty="0">
                <a:solidFill>
                  <a:srgbClr val="00965F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우선순위화함</a:t>
            </a:r>
            <a:endParaRPr sz="1800" b="1" i="0" dirty="0">
              <a:solidFill>
                <a:srgbClr val="00965F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3503066" cy="411480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3503066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904382"/>
            <a:ext cx="3283610" cy="23288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즉시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(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거버넌스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3265322" cy="138550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결손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배치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provenance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복구</a:t>
            </a:r>
            <a:endParaRPr lang="en-US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적재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시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필수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메타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검증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도입</a:t>
            </a:r>
            <a:endParaRPr lang="en-US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메타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네이밍·상수컬럼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정정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44314" y="1828800"/>
            <a:ext cx="3503066" cy="411480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344314" y="1828800"/>
            <a:ext cx="3503066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72330" y="1904382"/>
            <a:ext cx="3283610" cy="23288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단기(표준화)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2330" y="2267712"/>
            <a:ext cx="3265322" cy="138550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표준어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사전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G2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)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구축</a:t>
            </a:r>
            <a:endParaRPr lang="en-US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POI·의료기관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표준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데이터모델</a:t>
            </a:r>
            <a:endParaRPr lang="en-US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PII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식별자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태깅·마스킹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정책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121700" y="1828800"/>
            <a:ext cx="3503066" cy="411480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121700" y="1828800"/>
            <a:ext cx="3503066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9716" y="1904382"/>
            <a:ext cx="3283610" cy="23288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중기(인텔리전스)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9716" y="2267712"/>
            <a:ext cx="3265322" cy="138550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조인키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검증으로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연계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(I3)</a:t>
            </a:r>
            <a:endParaRPr lang="en-US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서브스페이스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클러스터링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(I5)</a:t>
            </a:r>
            <a:endParaRPr lang="en-US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near-duplicate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통합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카탈로깅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다음 단계 분석 및 한계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심화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분석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경로와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현재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분석의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명시적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한계를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제시함</a:t>
            </a:r>
            <a:endParaRPr sz="18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11057839" cy="309148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I3(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연계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):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POI·의료기관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패밀리를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linking_ratio로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실제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조인키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검증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G2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거버넌스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):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문자유사도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군집으로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표준어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사전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산출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I5(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심화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):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프로파일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서브스페이스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클러스터링으로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원형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정교화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한계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장바구니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규칙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support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낮음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(8~44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) →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운영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전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도메인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확인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필요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한계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활용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/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품질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지표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미충전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,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distinct_value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정렬편향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,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proj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이미지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손상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2011</Words>
  <Application>Microsoft Office PowerPoint</Application>
  <PresentationFormat>와이드스크린</PresentationFormat>
  <Paragraphs>468</Paragraphs>
  <Slides>14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맑은 고딕</vt:lpstr>
      <vt:lpstr>Arial</vt:lpstr>
      <vt:lpstr>Calibri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강훈(Hoon Kang) 책임연구원 HD현대인프라코어</cp:lastModifiedBy>
  <cp:revision>196</cp:revision>
  <dcterms:created xsi:type="dcterms:W3CDTF">2013-01-27T09:14:16Z</dcterms:created>
  <dcterms:modified xsi:type="dcterms:W3CDTF">2026-06-08T11:01:43Z</dcterms:modified>
  <cp:category/>
</cp:coreProperties>
</file>