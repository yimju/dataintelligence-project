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7" r:id="rId11"/>
    <p:sldId id="265" r:id="rId12"/>
    <p:sldId id="290" r:id="rId13"/>
    <p:sldId id="271" r:id="rId14"/>
    <p:sldId id="291" r:id="rId15"/>
    <p:sldId id="27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86" y="6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CCFCC-030A-4CE8-A15F-A37FC6BFC18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B268F-8D29-4E2C-AE3B-299A67129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50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B268F-8D29-4E2C-AE3B-299A6712908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349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7839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공공데이터 ‘데이터 지도’
거버넌스·인텔리전스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2E1"/>
                </a:solidFill>
                <a:latin typeface="맑은 고딕"/>
                <a:ea typeface="맑은 고딕"/>
              </a:rPr>
              <a:t>999개 공공데이터셋(교육·보건·공공행정) 데이터 지도의 비지도 데이터마이닝 분석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965F"/>
                </a:solidFill>
                <a:latin typeface="맑은 고딕"/>
                <a:ea typeface="맑은 고딕"/>
              </a:rPr>
              <a:t>1D 클러스터링 · AOI 롤업 · FP-Growth 빈발패턴 · 연관규칙 · 국소→전체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개요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및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목적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원본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트랜잭션이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아닌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‘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메타데이터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)’를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비지도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알고리즘으로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분석함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7198682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쌍별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값·도메인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목표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이슈와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비즈니스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인텔리전스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‘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기저귀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맥주’형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연관규칙을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데이터셋·컬럼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수준에서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발굴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원칙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LLM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추론 배제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모든 결론은 설명가능한 알고리즘 실행 결과</a:t>
            </a:r>
          </a:p>
        </p:txBody>
      </p:sp>
      <p:pic>
        <p:nvPicPr>
          <p:cNvPr id="12" name="Picture 11" descr="fig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579261"/>
            <a:ext cx="4428439" cy="3163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대상 데이터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9개 파일 = 프로파일 + 쌍별 중첩 + 유사도 클러스터의 3계층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667075"/>
              </p:ext>
            </p:extLst>
          </p:nvPr>
        </p:nvGraphicFramePr>
        <p:xfrm>
          <a:off x="566928" y="1993900"/>
          <a:ext cx="110578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파일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데이터셋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메타+분류+통계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999행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프로파일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키품질·고유값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등)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9,840행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distinct_value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컬럼별 distinct 값+빈도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803만행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table/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column_summary_map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객체별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통계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996/8,360행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combined_pair_map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조인가능성(linking_ratio)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74만행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25만행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값·도메인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중첩·중복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524만행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value_tree</a:t>
                      </a:r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/ 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str_tree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값·이름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클러스터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331~4,549행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방법론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이산화 → AOI 롤업 → 빈발패턴 → 연관규칙 → 국소·전체 검증의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66928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이산화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/>
            <a:r>
              <a:rPr sz="1050" b="0" i="0" dirty="0">
                <a:solidFill>
                  <a:srgbClr val="FFFFFF"/>
                </a:solidFill>
                <a:latin typeface="맑은 고딕"/>
                <a:ea typeface="맑은 고딕"/>
              </a:rPr>
              <a:t>1D </a:t>
            </a:r>
            <a:r>
              <a:rPr sz="105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KMeans</a:t>
            </a:r>
            <a:endParaRPr sz="105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796783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AOI 롤업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개념계층</a:t>
            </a:r>
          </a:p>
        </p:txBody>
      </p:sp>
      <p:sp>
        <p:nvSpPr>
          <p:cNvPr id="9" name="Pentagon 8"/>
          <p:cNvSpPr/>
          <p:nvPr/>
        </p:nvSpPr>
        <p:spPr>
          <a:xfrm>
            <a:off x="5026639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빈발패턴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FP-Growth</a:t>
            </a:r>
          </a:p>
        </p:txBody>
      </p:sp>
      <p:sp>
        <p:nvSpPr>
          <p:cNvPr id="10" name="Pentagon 9"/>
          <p:cNvSpPr/>
          <p:nvPr/>
        </p:nvSpPr>
        <p:spPr>
          <a:xfrm>
            <a:off x="7256495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④ 연관규칙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lift 등</a:t>
            </a:r>
          </a:p>
        </p:txBody>
      </p:sp>
      <p:sp>
        <p:nvSpPr>
          <p:cNvPr id="11" name="Pentagon 10"/>
          <p:cNvSpPr/>
          <p:nvPr/>
        </p:nvSpPr>
        <p:spPr>
          <a:xfrm>
            <a:off x="9486351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⑤ 검증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규칙#4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087620"/>
              </p:ext>
            </p:extLst>
          </p:nvPr>
        </p:nvGraphicFramePr>
        <p:xfrm>
          <a:off x="566928" y="3063240"/>
          <a:ext cx="1105783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이산화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log1p + 1D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KMeans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rec_cnt·column_cnt·수치비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순서형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AOI 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정규식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개념계층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table_source→기관유형, col_nm→컬럼개념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빈발패턴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FP-Growth(max_len=3)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거래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속성·컬럼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아이템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association_rules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(lift)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support·confidence·lift·leverage·conviction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도메인별→전체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재계산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국소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강규칙의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일반화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여부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공통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데이터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준비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①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적재·인코딩·형변환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모든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공유하는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기반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전처리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: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인코딩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확정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및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형변환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251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인코딩 확정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UTF-8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파일로 인코딩 통일</a:t>
            </a:r>
            <a:endParaRPr lang="en-US" altLang="ko-KR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(999) ·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(9,840)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을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dtype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=str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로 안전 적재 후 </a:t>
            </a:r>
            <a:r>
              <a:rPr lang="ko-KR" altLang="en-US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endParaRPr lang="ko-KR" alt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to_numeric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(coerce) —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날짜는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NaN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table_id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행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컬럼-테이블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② 1D 이산화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한쪽으로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심하게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쏠린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수치를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로그로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고르게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편 뒤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자동으로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구간을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나눔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.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1828800"/>
            <a:ext cx="9980360" cy="12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1~833,466로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그대로면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결과를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지배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해결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log(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편 뒤 1차원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KMeans로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자동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이산화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(5구간)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컬럼폭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(4구간)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(3구간)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수치형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(0~1)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고른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없이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바로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4F2DC526-7433-974C-F78C-8B3B1EF3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84" y="3370758"/>
            <a:ext cx="7472126" cy="3377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③ AOI 롤업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제각각인 999개 기관명을 정규식 규칙으로 7개 상위 개념(기관유형)으로 롤업(상향 일반화)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240462" cy="3858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AOI(속성지향 귀납)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롤업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구체적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개념으로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끌어올리는 다계층 일반화(roll-up)</a:t>
            </a:r>
          </a:p>
          <a:p>
            <a:pPr marL="742950" lvl="1" indent="-285750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제각각인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999개 </a:t>
            </a:r>
            <a:r>
              <a:rPr lang="en-US" sz="1300" dirty="0" err="1">
                <a:solidFill>
                  <a:srgbClr val="505050"/>
                </a:solidFill>
                <a:latin typeface="맑은 고딕"/>
                <a:ea typeface="맑은 고딕"/>
              </a:rPr>
              <a:t>table_source</a:t>
            </a: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lang="en-US" altLang="ko-KR" sz="130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을 </a:t>
            </a:r>
            <a:r>
              <a:rPr lang="ko-KR" altLang="en-US"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이산화하여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분석 </a:t>
            </a:r>
            <a:r>
              <a:rPr lang="en-US" altLang="ko-KR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feature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로 활용</a:t>
            </a:r>
            <a:endParaRPr lang="en-US" altLang="ko-KR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출처 롤업: table_source의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접미사·키워드를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정규식으로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매칭해 7개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기관유형으로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축약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marL="742950" lvl="1" indent="-285750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우선순위로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1건씩 분류(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교육→중앙→공공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→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    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광역→기초→미상→기타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), 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     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‘소스’·빈값은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미상으로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분리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301" name="card-bg"/>
          <p:cNvSpPr/>
          <p:nvPr/>
        </p:nvSpPr>
        <p:spPr>
          <a:xfrm>
            <a:off x="4986223" y="1880178"/>
            <a:ext cx="181051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2" name="card-hdr"/>
          <p:cNvSpPr/>
          <p:nvPr/>
        </p:nvSpPr>
        <p:spPr>
          <a:xfrm>
            <a:off x="4986223" y="1880178"/>
            <a:ext cx="181051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3" name="card-title"/>
          <p:cNvSpPr txBox="1"/>
          <p:nvPr/>
        </p:nvSpPr>
        <p:spPr>
          <a:xfrm>
            <a:off x="4986223" y="1880178"/>
            <a:ext cx="181051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원시</a:t>
            </a: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table_source</a:t>
            </a:r>
            <a:endParaRPr sz="12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4" name="card-body"/>
          <p:cNvSpPr txBox="1"/>
          <p:nvPr/>
        </p:nvSpPr>
        <p:spPr>
          <a:xfrm>
            <a:off x="5077663" y="2236794"/>
            <a:ext cx="162763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999개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자유</a:t>
            </a: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기관명</a:t>
            </a:r>
            <a:endParaRPr sz="14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서울특별시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금천구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한국사학진흥재단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경상남도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‘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’(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빈값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05" name="arrow1"/>
          <p:cNvSpPr txBox="1"/>
          <p:nvPr/>
        </p:nvSpPr>
        <p:spPr>
          <a:xfrm>
            <a:off x="6815023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06" name="card-bg"/>
          <p:cNvSpPr/>
          <p:nvPr/>
        </p:nvSpPr>
        <p:spPr>
          <a:xfrm>
            <a:off x="7144207" y="1880178"/>
            <a:ext cx="2249424" cy="370332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7" name="card-hdr"/>
          <p:cNvSpPr/>
          <p:nvPr/>
        </p:nvSpPr>
        <p:spPr>
          <a:xfrm>
            <a:off x="7144207" y="1880178"/>
            <a:ext cx="2249424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8" name="card-title"/>
          <p:cNvSpPr txBox="1"/>
          <p:nvPr/>
        </p:nvSpPr>
        <p:spPr>
          <a:xfrm>
            <a:off x="7144207" y="1880178"/>
            <a:ext cx="2249424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정규식 규칙</a:t>
            </a:r>
          </a:p>
        </p:txBody>
      </p:sp>
      <p:sp>
        <p:nvSpPr>
          <p:cNvPr id="309" name="card-body"/>
          <p:cNvSpPr txBox="1"/>
          <p:nvPr/>
        </p:nvSpPr>
        <p:spPr>
          <a:xfrm>
            <a:off x="7235647" y="2236794"/>
            <a:ext cx="2066544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접미사·키워드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매칭</a:t>
            </a:r>
            <a:endParaRPr sz="11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교육청·대학교·학교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부·청·위원회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공단·재단·병원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특별시·도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시·군·구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그 외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‘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소스’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 b="1" dirty="0" err="1">
                <a:solidFill>
                  <a:srgbClr val="00965F"/>
                </a:solidFill>
                <a:latin typeface="맑은 고딕"/>
                <a:ea typeface="맑은 고딕"/>
              </a:rPr>
              <a:t>빈값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 → 미상</a:t>
            </a:r>
          </a:p>
        </p:txBody>
      </p:sp>
      <p:sp>
        <p:nvSpPr>
          <p:cNvPr id="310" name="arrow2"/>
          <p:cNvSpPr txBox="1"/>
          <p:nvPr/>
        </p:nvSpPr>
        <p:spPr>
          <a:xfrm>
            <a:off x="9411919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11" name="card-bg"/>
          <p:cNvSpPr/>
          <p:nvPr/>
        </p:nvSpPr>
        <p:spPr>
          <a:xfrm>
            <a:off x="9741103" y="1880178"/>
            <a:ext cx="217627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2" name="card-hdr"/>
          <p:cNvSpPr/>
          <p:nvPr/>
        </p:nvSpPr>
        <p:spPr>
          <a:xfrm>
            <a:off x="9741103" y="1880178"/>
            <a:ext cx="217627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13" name="card-title"/>
          <p:cNvSpPr txBox="1"/>
          <p:nvPr/>
        </p:nvSpPr>
        <p:spPr>
          <a:xfrm>
            <a:off x="9741103" y="1880178"/>
            <a:ext cx="217627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7개 기관유형</a:t>
            </a:r>
          </a:p>
        </p:txBody>
      </p:sp>
      <p:sp>
        <p:nvSpPr>
          <p:cNvPr id="314" name="card-body"/>
          <p:cNvSpPr txBox="1"/>
          <p:nvPr/>
        </p:nvSpPr>
        <p:spPr>
          <a:xfrm>
            <a:off x="9832543" y="2236794"/>
            <a:ext cx="199339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7개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기관유형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수)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404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245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83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34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미상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)  145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④ 트랜잭션·패턴·검증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테이블을 거래로 보고 두 종류 아이템으로 FP-Growth·연관규칙·검증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864246" cy="380245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 = 1 transaction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(A)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cate·기관·레코드·컬럼폭·수치비·유일키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·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(B)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보유한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컬럼개념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집합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평균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9.6개)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FP-Growth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→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association_rules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999건에서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재계산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수행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01" name="card-bg"/>
          <p:cNvSpPr/>
          <p:nvPr/>
        </p:nvSpPr>
        <p:spPr>
          <a:xfrm>
            <a:off x="5522614" y="1828800"/>
            <a:ext cx="6071978" cy="85953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2" name="card-hdr"/>
          <p:cNvSpPr/>
          <p:nvPr/>
        </p:nvSpPr>
        <p:spPr>
          <a:xfrm>
            <a:off x="5522614" y="1828800"/>
            <a:ext cx="6071978" cy="292608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3" name="card-title"/>
          <p:cNvSpPr txBox="1"/>
          <p:nvPr/>
        </p:nvSpPr>
        <p:spPr>
          <a:xfrm>
            <a:off x="5522614" y="1828800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</a:t>
            </a:r>
          </a:p>
        </p:txBody>
      </p:sp>
      <p:sp>
        <p:nvSpPr>
          <p:cNvPr id="404" name="card-body"/>
          <p:cNvSpPr txBox="1"/>
          <p:nvPr/>
        </p:nvSpPr>
        <p:spPr>
          <a:xfrm>
            <a:off x="5667468" y="2157984"/>
            <a:ext cx="5835683" cy="4937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전북특별자치도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무주군_행정기관_20240831.csv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rec_cnt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=157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=7 (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범주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5·수치 2)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=‘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전북특별자치도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무주군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’</a:t>
            </a:r>
          </a:p>
        </p:txBody>
      </p:sp>
      <p:sp>
        <p:nvSpPr>
          <p:cNvPr id="405" name="arrow1"/>
          <p:cNvSpPr txBox="1"/>
          <p:nvPr/>
        </p:nvSpPr>
        <p:spPr>
          <a:xfrm>
            <a:off x="4510735" y="2870495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① 1D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이산화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(6p) · ② AOI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롤업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(7p)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적용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→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아이템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생성</a:t>
            </a:r>
            <a:endParaRPr sz="12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406" name="basket-bg"/>
          <p:cNvSpPr/>
          <p:nvPr/>
        </p:nvSpPr>
        <p:spPr>
          <a:xfrm>
            <a:off x="5522614" y="3589882"/>
            <a:ext cx="6071978" cy="2317137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7" name="basket-hdr"/>
          <p:cNvSpPr/>
          <p:nvPr/>
        </p:nvSpPr>
        <p:spPr>
          <a:xfrm>
            <a:off x="5522614" y="3597302"/>
            <a:ext cx="6071978" cy="292608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8" name="basket-title"/>
          <p:cNvSpPr txBox="1"/>
          <p:nvPr/>
        </p:nvSpPr>
        <p:spPr>
          <a:xfrm>
            <a:off x="5522614" y="3597302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트랜잭션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장바구니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 =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 = 1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09" name="subA"/>
          <p:cNvSpPr txBox="1"/>
          <p:nvPr/>
        </p:nvSpPr>
        <p:spPr>
          <a:xfrm>
            <a:off x="5667468" y="4051153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속성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endParaRPr sz="12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0" name="attrA"/>
          <p:cNvSpPr txBox="1"/>
          <p:nvPr/>
        </p:nvSpPr>
        <p:spPr>
          <a:xfrm>
            <a:off x="5667468" y="4243177"/>
            <a:ext cx="5780820" cy="4206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cate1=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cate2=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일반행정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레코드</a:t>
            </a:r>
            <a:r>
              <a:rPr 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수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=중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컬럼폭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표준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수치비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혼합</a:t>
            </a:r>
            <a:endParaRPr sz="1100" b="1" i="0" dirty="0">
              <a:solidFill>
                <a:srgbClr val="00965F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기초지자체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 · 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유일키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endParaRPr sz="11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11" name="subB"/>
          <p:cNvSpPr txBox="1"/>
          <p:nvPr/>
        </p:nvSpPr>
        <p:spPr>
          <a:xfrm>
            <a:off x="5667468" y="4827077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 lnSpcReduction="1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장바구니</a:t>
            </a:r>
            <a:r>
              <a:rPr lang="en-US"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보유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7종</a:t>
            </a:r>
          </a:p>
        </p:txBody>
      </p:sp>
      <p:sp>
        <p:nvSpPr>
          <p:cNvPr id="412" name="chip-bg"/>
          <p:cNvSpPr/>
          <p:nvPr/>
        </p:nvSpPr>
        <p:spPr>
          <a:xfrm>
            <a:off x="5667468" y="5149131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소속</a:t>
            </a:r>
          </a:p>
        </p:txBody>
      </p:sp>
      <p:sp>
        <p:nvSpPr>
          <p:cNvPr id="414" name="chip-bg"/>
          <p:cNvSpPr/>
          <p:nvPr/>
        </p:nvSpPr>
        <p:spPr>
          <a:xfrm>
            <a:off x="7167750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소재지도로명주소</a:t>
            </a:r>
          </a:p>
        </p:txBody>
      </p:sp>
      <p:sp>
        <p:nvSpPr>
          <p:cNvPr id="416" name="chip-bg"/>
          <p:cNvSpPr/>
          <p:nvPr/>
        </p:nvSpPr>
        <p:spPr>
          <a:xfrm>
            <a:off x="8668032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소재지지번주소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8" name="chip-bg"/>
          <p:cNvSpPr/>
          <p:nvPr/>
        </p:nvSpPr>
        <p:spPr>
          <a:xfrm>
            <a:off x="10168313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위도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20" name="chip-bg"/>
          <p:cNvSpPr/>
          <p:nvPr/>
        </p:nvSpPr>
        <p:spPr>
          <a:xfrm>
            <a:off x="5667467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경도</a:t>
            </a:r>
          </a:p>
        </p:txBody>
      </p:sp>
      <p:sp>
        <p:nvSpPr>
          <p:cNvPr id="422" name="chip-bg"/>
          <p:cNvSpPr/>
          <p:nvPr/>
        </p:nvSpPr>
        <p:spPr>
          <a:xfrm>
            <a:off x="7167750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전화번호</a:t>
            </a:r>
          </a:p>
        </p:txBody>
      </p:sp>
      <p:sp>
        <p:nvSpPr>
          <p:cNvPr id="424" name="chip-bg"/>
          <p:cNvSpPr/>
          <p:nvPr/>
        </p:nvSpPr>
        <p:spPr>
          <a:xfrm>
            <a:off x="8668032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데이터기준일자</a:t>
            </a:r>
          </a:p>
        </p:txBody>
      </p:sp>
      <p:sp>
        <p:nvSpPr>
          <p:cNvPr id="426" name="arrow2"/>
          <p:cNvSpPr txBox="1"/>
          <p:nvPr/>
        </p:nvSpPr>
        <p:spPr>
          <a:xfrm>
            <a:off x="4480560" y="5926401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=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트랜잭션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 →  FP-Growth  → 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연관규칙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(lift)</a:t>
            </a:r>
          </a:p>
        </p:txBody>
      </p:sp>
      <p:sp>
        <p:nvSpPr>
          <p:cNvPr id="427" name="legend"/>
          <p:cNvSpPr txBox="1"/>
          <p:nvPr/>
        </p:nvSpPr>
        <p:spPr>
          <a:xfrm>
            <a:off x="4803343" y="6336421"/>
            <a:ext cx="7114032" cy="256032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[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1D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이산화·AOI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롤업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을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적용한 </a:t>
            </a:r>
            <a:r>
              <a:rPr lang="ko-KR" altLang="en-US"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트랜잭선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구성 예시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]</a:t>
            </a:r>
            <a:endParaRPr sz="12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연관규칙</a:t>
            </a:r>
            <a:r>
              <a:rPr lang="en-US" sz="2600" b="1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상세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지표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115555"/>
              </p:ext>
            </p:extLst>
          </p:nvPr>
        </p:nvGraphicFramePr>
        <p:xfrm>
          <a:off x="566928" y="2078182"/>
          <a:ext cx="11057835" cy="4070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5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선행→후행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지리좌표쌍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경도→위도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기간쌍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교육시작일→교육종료일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행정구역계층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시도명→시군구명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주소이중표기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지번주소→도로명주소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소재지주소(공공행정)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소재지지번주소→소재지도로명주소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36.6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연령대→성별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</a:t>
                      </a:r>
                      <a:endParaRPr sz="1200" b="1" i="1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의료기관전화번호→의료기관명+의료기관주소</a:t>
                      </a:r>
                      <a:endParaRPr sz="1200" b="1" i="1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46.4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8.3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교과목코드→분반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124.9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학종→학교명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089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사학재정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연구비→일반기부금+지정기부금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111.0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17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0" name="metric-desc"/>
          <p:cNvSpPr txBox="1"/>
          <p:nvPr/>
        </p:nvSpPr>
        <p:spPr>
          <a:xfrm>
            <a:off x="658091" y="1243584"/>
            <a:ext cx="10753621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ko-KR" altLang="en-US" b="1" dirty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lang="ko-KR" altLang="en-US" b="1" dirty="0">
                <a:solidFill>
                  <a:srgbClr val="505050"/>
                </a:solidFill>
                <a:latin typeface="맑은 고딕"/>
                <a:ea typeface="맑은 고딕"/>
              </a:rPr>
              <a:t>컬럼 장바구니 연관규칙 </a:t>
            </a:r>
            <a:r>
              <a:rPr lang="en-US" altLang="ko-KR" b="1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lang="en-US" altLang="ko-KR" b="1" dirty="0" err="1">
                <a:solidFill>
                  <a:srgbClr val="505050"/>
                </a:solidFill>
                <a:latin typeface="맑은 고딕"/>
                <a:ea typeface="맑은 고딕"/>
              </a:rPr>
              <a:t>FP-Growth·lift</a:t>
            </a:r>
            <a:r>
              <a:rPr lang="en-US" altLang="ko-KR" b="1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탐사 대상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탐사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대상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규칙</a:t>
            </a:r>
            <a:r>
              <a:rPr 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적절한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lift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구간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ko-KR" alt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선정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384084"/>
              </p:ext>
            </p:extLst>
          </p:nvPr>
        </p:nvGraphicFramePr>
        <p:xfrm>
          <a:off x="566928" y="2078182"/>
          <a:ext cx="11057835" cy="3131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5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3206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선행→후행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206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도서관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출판사 → 저자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0.012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0.71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47.0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0.0118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3.3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206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보건통계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확진자수</a:t>
                      </a:r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사망자수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0.62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0.0098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353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 → 시군구명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103648"/>
                  </a:ext>
                </a:extLst>
              </a:tr>
              <a:tr h="378353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 → 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471082"/>
                  </a:ext>
                </a:extLst>
              </a:tr>
              <a:tr h="378353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설립 → 학교명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524925"/>
                  </a:ext>
                </a:extLst>
              </a:tr>
              <a:tr h="378353">
                <a:tc>
                  <a:txBody>
                    <a:bodyPr/>
                    <a:lstStyle/>
                    <a:p>
                      <a:pPr algn="ctr"/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거버넌스</a:t>
                      </a:r>
                      <a:endParaRPr sz="1200" b="1" i="1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유아및초·중등교육</a:t>
                      </a:r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기관</a:t>
                      </a:r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미상</a:t>
                      </a:r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소스</a:t>
                      </a:r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0.100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6.89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0.0856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396159"/>
                  </a:ext>
                </a:extLst>
              </a:tr>
              <a:tr h="37835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 협소 테이블</a:t>
                      </a:r>
                      <a:endParaRPr sz="1200" b="1" i="1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{보건·유일키·협소폭} → {보건의료·상수없음}</a:t>
                      </a:r>
                      <a:endParaRPr sz="1200" b="1" i="1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0.0530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59813"/>
                  </a:ext>
                </a:extLst>
              </a:tr>
            </a:tbl>
          </a:graphicData>
        </a:graphic>
      </p:graphicFrame>
      <p:sp>
        <p:nvSpPr>
          <p:cNvPr id="617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0" name="metric-desc"/>
          <p:cNvSpPr txBox="1"/>
          <p:nvPr/>
        </p:nvSpPr>
        <p:spPr>
          <a:xfrm>
            <a:off x="658091" y="1143508"/>
            <a:ext cx="10753621" cy="620776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b="1" dirty="0">
                <a:solidFill>
                  <a:srgbClr val="00965F"/>
                </a:solidFill>
                <a:latin typeface="맑은 고딕"/>
                <a:ea typeface="맑은 고딕"/>
              </a:rPr>
              <a:t>발견 패턴 ▸ lift 매우 높음(예 교과목코드↔분반 125)은 단일 템플릿 내 자명한 동반 </a:t>
            </a:r>
            <a:endParaRPr lang="en-US" altLang="ko-KR" b="1" dirty="0">
              <a:solidFill>
                <a:srgbClr val="00965F"/>
              </a:solidFill>
              <a:latin typeface="맑은 고딕"/>
              <a:ea typeface="맑은 고딕"/>
            </a:endParaRPr>
          </a:p>
          <a:p>
            <a:pPr>
              <a:lnSpc>
                <a:spcPct val="110000"/>
              </a:lnSpc>
            </a:pPr>
            <a:r>
              <a:rPr lang="ko-KR" altLang="en-US" b="1" dirty="0">
                <a:solidFill>
                  <a:srgbClr val="00965F"/>
                </a:solidFill>
                <a:latin typeface="맑은 고딕"/>
                <a:ea typeface="맑은 고딕"/>
              </a:rPr>
              <a:t>→ </a:t>
            </a:r>
            <a:r>
              <a:rPr lang="ko-KR" altLang="en-US" b="1" u="sng" dirty="0">
                <a:solidFill>
                  <a:srgbClr val="FF0000"/>
                </a:solidFill>
                <a:latin typeface="맑은 고딕"/>
                <a:ea typeface="맑은 고딕"/>
              </a:rPr>
              <a:t>적절 구간(lift 4~50)의 비자명 규칙을 탐사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거버넌스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ko-KR" alt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누락 공통성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429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787878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505" name="g1-bg"/>
          <p:cNvSpPr/>
          <p:nvPr/>
        </p:nvSpPr>
        <p:spPr>
          <a:xfrm>
            <a:off x="566928" y="3630122"/>
            <a:ext cx="5285232" cy="285292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6" name="g1-hdr"/>
          <p:cNvSpPr/>
          <p:nvPr/>
        </p:nvSpPr>
        <p:spPr>
          <a:xfrm>
            <a:off x="566928" y="3630122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07" name="g1-title"/>
          <p:cNvSpPr txBox="1"/>
          <p:nvPr/>
        </p:nvSpPr>
        <p:spPr>
          <a:xfrm>
            <a:off x="566928" y="3630122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데이터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—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무엇이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누락됐나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08" name="g1-ex-sub"/>
          <p:cNvSpPr txBox="1"/>
          <p:nvPr/>
        </p:nvSpPr>
        <p:spPr>
          <a:xfrm>
            <a:off x="676656" y="3977594"/>
            <a:ext cx="5065776" cy="36576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예시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1건: 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광주광역시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남구_어린이집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현황_20230712.csv</a:t>
            </a:r>
          </a:p>
        </p:txBody>
      </p:sp>
      <p:sp>
        <p:nvSpPr>
          <p:cNvPr id="509" name="g1-f0"/>
          <p:cNvSpPr txBox="1"/>
          <p:nvPr/>
        </p:nvSpPr>
        <p:spPr>
          <a:xfrm>
            <a:off x="713232" y="4506676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table_source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0" name="g1-v0"/>
          <p:cNvSpPr txBox="1"/>
          <p:nvPr/>
        </p:nvSpPr>
        <p:spPr>
          <a:xfrm>
            <a:off x="2587752" y="4506676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소스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 (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1" name="g1-f1"/>
          <p:cNvSpPr txBox="1"/>
          <p:nvPr/>
        </p:nvSpPr>
        <p:spPr>
          <a:xfrm>
            <a:off x="713232" y="4822144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원본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링크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2" name="g1-v1"/>
          <p:cNvSpPr txBox="1"/>
          <p:nvPr/>
        </p:nvSpPr>
        <p:spPr>
          <a:xfrm>
            <a:off x="2587752" y="4822144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</a:t>
            </a:r>
          </a:p>
        </p:txBody>
      </p:sp>
      <p:sp>
        <p:nvSpPr>
          <p:cNvPr id="513" name="g1-f2"/>
          <p:cNvSpPr txBox="1"/>
          <p:nvPr/>
        </p:nvSpPr>
        <p:spPr>
          <a:xfrm>
            <a:off x="713232" y="5137612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table_nm (파일명)</a:t>
            </a:r>
          </a:p>
        </p:txBody>
      </p:sp>
      <p:sp>
        <p:nvSpPr>
          <p:cNvPr id="514" name="g1-v2"/>
          <p:cNvSpPr txBox="1"/>
          <p:nvPr/>
        </p:nvSpPr>
        <p:spPr>
          <a:xfrm>
            <a:off x="2587752" y="5137612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‘광주광역시 남구…’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기관명 존재</a:t>
            </a:r>
          </a:p>
        </p:txBody>
      </p:sp>
      <p:sp>
        <p:nvSpPr>
          <p:cNvPr id="515" name="g1-f3"/>
          <p:cNvSpPr txBox="1"/>
          <p:nvPr/>
        </p:nvSpPr>
        <p:spPr>
          <a:xfrm>
            <a:off x="713232" y="5453080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regi_date (등록)</a:t>
            </a:r>
          </a:p>
        </p:txBody>
      </p:sp>
      <p:sp>
        <p:nvSpPr>
          <p:cNvPr id="516" name="g1-v3"/>
          <p:cNvSpPr txBox="1"/>
          <p:nvPr/>
        </p:nvSpPr>
        <p:spPr>
          <a:xfrm>
            <a:off x="2587752" y="5453080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2026-03-30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  (100건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7" name="g1-f4"/>
          <p:cNvSpPr txBox="1"/>
          <p:nvPr/>
        </p:nvSpPr>
        <p:spPr>
          <a:xfrm>
            <a:off x="713232" y="5768548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src_platform</a:t>
            </a:r>
          </a:p>
        </p:txBody>
      </p:sp>
      <p:sp>
        <p:nvSpPr>
          <p:cNvPr id="518" name="g1-v4"/>
          <p:cNvSpPr txBox="1"/>
          <p:nvPr/>
        </p:nvSpPr>
        <p:spPr>
          <a:xfrm>
            <a:off x="2587752" y="5768548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정상</a:t>
            </a:r>
          </a:p>
        </p:txBody>
      </p:sp>
      <p:sp>
        <p:nvSpPr>
          <p:cNvPr id="520" name="g1-bg"/>
          <p:cNvSpPr/>
          <p:nvPr/>
        </p:nvSpPr>
        <p:spPr>
          <a:xfrm>
            <a:off x="6053328" y="1991758"/>
            <a:ext cx="5568696" cy="272491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1" name="g1-hdr"/>
          <p:cNvSpPr/>
          <p:nvPr/>
        </p:nvSpPr>
        <p:spPr>
          <a:xfrm>
            <a:off x="6053328" y="1991758"/>
            <a:ext cx="5568696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2" name="g1-title"/>
          <p:cNvSpPr txBox="1"/>
          <p:nvPr/>
        </p:nvSpPr>
        <p:spPr>
          <a:xfrm>
            <a:off x="6053328" y="1991758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의미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구체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23" name="g1-mean"/>
          <p:cNvSpPr txBox="1"/>
          <p:nvPr/>
        </p:nvSpPr>
        <p:spPr>
          <a:xfrm>
            <a:off x="6163056" y="2348374"/>
            <a:ext cx="5367528" cy="23225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누락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값: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table_source→‘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 — 두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메타필드가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더미로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덮임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lang="ko-KR" altLang="en-US"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공통성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placeholder 145건 중 100건이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’(이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타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1~15%)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③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단일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배치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100건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모두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regi_date</a:t>
            </a:r>
            <a:r>
              <a:rPr sz="1000" b="1" i="0" u="sng" dirty="0">
                <a:solidFill>
                  <a:srgbClr val="282D37"/>
                </a:solidFill>
                <a:latin typeface="맑은 고딕"/>
                <a:ea typeface="맑은 고딕"/>
              </a:rPr>
              <a:t>=2026-03-30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한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번의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placeholder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우연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18000"/>
              </a:lnSpc>
              <a:spcAft>
                <a:spcPts val="40"/>
              </a:spcAft>
            </a:pPr>
            <a:r>
              <a:rPr lang="ko-KR" altLang="en-US" sz="1000" b="1" dirty="0">
                <a:solidFill>
                  <a:srgbClr val="081F46"/>
                </a:solidFill>
                <a:latin typeface="맑은 고딕"/>
                <a:ea typeface="맑은 고딕"/>
              </a:rPr>
              <a:t>④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영향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신뢰성·책임추적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(provenance)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붕괴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 단,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잔존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가능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524" name="g1-bg"/>
          <p:cNvSpPr/>
          <p:nvPr/>
        </p:nvSpPr>
        <p:spPr>
          <a:xfrm>
            <a:off x="6053328" y="4808110"/>
            <a:ext cx="5568696" cy="16642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5" name="g1-hdr"/>
          <p:cNvSpPr/>
          <p:nvPr/>
        </p:nvSpPr>
        <p:spPr>
          <a:xfrm>
            <a:off x="6053328" y="4808110"/>
            <a:ext cx="5568696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6" name="g1-title"/>
          <p:cNvSpPr txBox="1"/>
          <p:nvPr/>
        </p:nvSpPr>
        <p:spPr>
          <a:xfrm>
            <a:off x="6053328" y="480811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②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처리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③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대책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④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추가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27" name="g1-action"/>
          <p:cNvSpPr txBox="1"/>
          <p:nvPr/>
        </p:nvSpPr>
        <p:spPr>
          <a:xfrm>
            <a:off x="6163056" y="5164726"/>
            <a:ext cx="5367528" cy="1261872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처리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AOI로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’=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식별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cate2별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교차표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포착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 6.89)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대책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①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(1순위) ②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시 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출처 표기 등록 로직 점검</a:t>
            </a:r>
            <a:r>
              <a:rPr lang="en-US" altLang="ko-KR" sz="10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③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표준코드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추가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regi_date·url로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역추적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발견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패턴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 ▸  </a:t>
            </a:r>
            <a:r>
              <a:rPr lang="en-US"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cate2 = </a:t>
            </a:r>
            <a:r>
              <a:rPr lang="ko-KR" altLang="en-US"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유아및초</a:t>
            </a:r>
            <a:r>
              <a:rPr lang="ko-KR" altLang="en-US" sz="1000" b="1" dirty="0" err="1">
                <a:solidFill>
                  <a:srgbClr val="505050"/>
                </a:solidFill>
                <a:latin typeface="맑은 고딕"/>
                <a:ea typeface="맑은 고딕"/>
              </a:rPr>
              <a:t>중등교육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기관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=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미상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(lift 6.89·conf 1.0)</a:t>
            </a:r>
          </a:p>
        </p:txBody>
      </p:sp>
      <p:sp>
        <p:nvSpPr>
          <p:cNvPr id="60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dirty="0">
                <a:solidFill>
                  <a:srgbClr val="081F46"/>
                </a:solidFill>
                <a:latin typeface="맑은 고딕"/>
                <a:ea typeface="맑은 고딕"/>
              </a:rPr>
              <a:t>100%</a:t>
            </a:r>
          </a:p>
        </p:txBody>
      </p:sp>
      <p:sp>
        <p:nvSpPr>
          <p:cNvPr id="604" name="metric-desc"/>
          <p:cNvSpPr txBox="1"/>
          <p:nvPr/>
        </p:nvSpPr>
        <p:spPr>
          <a:xfrm>
            <a:off x="2084832" y="1320673"/>
            <a:ext cx="9336024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누락은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무작위가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아니라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“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유아및초·중등교육”에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집중된</a:t>
            </a: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b="1" dirty="0">
                <a:solidFill>
                  <a:srgbClr val="282D37"/>
                </a:solidFill>
                <a:latin typeface="맑은 고딕"/>
                <a:ea typeface="맑은 고딕"/>
              </a:rPr>
              <a:t>공통 특성을 가짐</a:t>
            </a:r>
            <a:r>
              <a:rPr lang="en-US" altLang="ko-KR" b="1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  <a:endParaRPr b="1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1" name="a1-bg"/>
          <p:cNvSpPr/>
          <p:nvPr/>
        </p:nvSpPr>
        <p:spPr>
          <a:xfrm>
            <a:off x="566928" y="1991758"/>
            <a:ext cx="5285232" cy="15544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2" name="a1-hdr"/>
          <p:cNvSpPr/>
          <p:nvPr/>
        </p:nvSpPr>
        <p:spPr>
          <a:xfrm>
            <a:off x="566928" y="1991758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3" name="a1-title"/>
          <p:cNvSpPr txBox="1"/>
          <p:nvPr/>
        </p:nvSpPr>
        <p:spPr>
          <a:xfrm>
            <a:off x="566928" y="1991758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관련 트랜잭션 아이템 및 연관 규칙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04" name="a1-text"/>
          <p:cNvSpPr txBox="1"/>
          <p:nvPr/>
        </p:nvSpPr>
        <p:spPr>
          <a:xfrm>
            <a:off x="676656" y="2330086"/>
            <a:ext cx="5084064" cy="603504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트랜잭션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A)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=값’ 8종 — cate1·cate2·기관(AOI)·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레코드·컬럼폭·수치비·유일키·상수컬럼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000" b="1" dirty="0">
                <a:solidFill>
                  <a:srgbClr val="081F46"/>
                </a:solidFill>
                <a:latin typeface="맑은 고딕"/>
                <a:ea typeface="맑은 고딕"/>
              </a:rPr>
              <a:t>※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중 cate1↔cate2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과 같은 명백한 규칙은 제외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5" name="a1-chip"/>
          <p:cNvSpPr/>
          <p:nvPr/>
        </p:nvSpPr>
        <p:spPr>
          <a:xfrm>
            <a:off x="713232" y="2948363"/>
            <a:ext cx="2743200" cy="2926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6" name="a1-chiptx"/>
          <p:cNvSpPr txBox="1"/>
          <p:nvPr/>
        </p:nvSpPr>
        <p:spPr>
          <a:xfrm>
            <a:off x="713232" y="2948363"/>
            <a:ext cx="2743200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65F"/>
                </a:solidFill>
                <a:latin typeface="맑은 고딕"/>
                <a:ea typeface="맑은 고딕"/>
              </a:rPr>
              <a:t>cate2 = </a:t>
            </a:r>
            <a:r>
              <a:rPr sz="14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유아및초·중등교육</a:t>
            </a:r>
            <a:endParaRPr sz="14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707" name="a1-arrow"/>
          <p:cNvSpPr txBox="1"/>
          <p:nvPr/>
        </p:nvSpPr>
        <p:spPr>
          <a:xfrm>
            <a:off x="3474720" y="2948363"/>
            <a:ext cx="310896" cy="292608"/>
          </a:xfrm>
          <a:prstGeom prst="rect">
            <a:avLst/>
          </a:prstGeom>
          <a:noFill/>
        </p:spPr>
        <p:txBody>
          <a:bodyPr wrap="square" lIns="0" tIns="6350" rIns="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05050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708" name="a1-chip"/>
          <p:cNvSpPr/>
          <p:nvPr/>
        </p:nvSpPr>
        <p:spPr>
          <a:xfrm>
            <a:off x="3803904" y="2948363"/>
            <a:ext cx="1810512" cy="292608"/>
          </a:xfrm>
          <a:prstGeom prst="roundRect">
            <a:avLst/>
          </a:prstGeom>
          <a:solidFill>
            <a:srgbClr val="FCE8E6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9" name="a1-chiptx"/>
          <p:cNvSpPr txBox="1"/>
          <p:nvPr/>
        </p:nvSpPr>
        <p:spPr>
          <a:xfrm>
            <a:off x="3803904" y="2948363"/>
            <a:ext cx="1810512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맑은 고딕"/>
                <a:ea typeface="맑은 고딕"/>
              </a:rPr>
              <a:t>기관 = 미상(소스)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E1BD3-E64C-17A6-9A6D-C255C5076C59}"/>
              </a:ext>
            </a:extLst>
          </p:cNvPr>
          <p:cNvSpPr txBox="1"/>
          <p:nvPr/>
        </p:nvSpPr>
        <p:spPr>
          <a:xfrm>
            <a:off x="3720794" y="3265892"/>
            <a:ext cx="20516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i="0" dirty="0">
                <a:solidFill>
                  <a:srgbClr val="505050"/>
                </a:solidFill>
                <a:latin typeface="맑은 고딕"/>
                <a:ea typeface="맑은 고딕"/>
              </a:rPr>
              <a:t>lift 6.89·conf 1.0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거버넌스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누락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심화</a:t>
            </a:r>
            <a:r>
              <a:rPr 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ko-KR" alt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배치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·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도메인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비교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01" name="metric-bg"/>
          <p:cNvSpPr/>
          <p:nvPr/>
        </p:nvSpPr>
        <p:spPr>
          <a:xfrm>
            <a:off x="557197" y="1143507"/>
            <a:ext cx="11055096" cy="806597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발견 패턴 ▸ 적재 순서 연속 100건 = 단일 배치</a:t>
            </a:r>
          </a:p>
        </p:txBody>
      </p:sp>
      <p:sp>
        <p:nvSpPr>
          <p:cNvPr id="60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dirty="0">
                <a:solidFill>
                  <a:srgbClr val="081F46"/>
                </a:solidFill>
                <a:latin typeface="맑은 고딕"/>
                <a:ea typeface="맑은 고딕"/>
              </a:rPr>
              <a:t>100건</a:t>
            </a:r>
          </a:p>
        </p:txBody>
      </p:sp>
      <p:sp>
        <p:nvSpPr>
          <p:cNvPr id="604" name="metric-desc"/>
          <p:cNvSpPr txBox="1"/>
          <p:nvPr/>
        </p:nvSpPr>
        <p:spPr>
          <a:xfrm>
            <a:off x="2084832" y="1422612"/>
            <a:ext cx="9336024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순서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499~598(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연속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100건)이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모두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’ </a:t>
            </a:r>
            <a:endParaRPr lang="en-US" b="1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단일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수집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배치에서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일괄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소실</a:t>
            </a: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b="1" dirty="0">
                <a:solidFill>
                  <a:srgbClr val="282D37"/>
                </a:solidFill>
                <a:latin typeface="맑은 고딕"/>
                <a:ea typeface="맑은 고딕"/>
              </a:rPr>
              <a:t>의심</a:t>
            </a:r>
            <a:endParaRPr b="1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01" name="f-bg"/>
          <p:cNvSpPr/>
          <p:nvPr/>
        </p:nvSpPr>
        <p:spPr>
          <a:xfrm>
            <a:off x="566928" y="2097248"/>
            <a:ext cx="5349240" cy="44805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02" name="f-hdr"/>
          <p:cNvSpPr/>
          <p:nvPr/>
        </p:nvSpPr>
        <p:spPr>
          <a:xfrm>
            <a:off x="566928" y="2097248"/>
            <a:ext cx="5349240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03" name="f-title"/>
          <p:cNvSpPr txBox="1"/>
          <p:nvPr/>
        </p:nvSpPr>
        <p:spPr>
          <a:xfrm>
            <a:off x="566928" y="2097248"/>
            <a:ext cx="5349240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적재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배치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추적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regi_date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url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7004" name="dd-regi"/>
          <p:cNvSpPr txBox="1"/>
          <p:nvPr/>
        </p:nvSpPr>
        <p:spPr>
          <a:xfrm>
            <a:off x="694944" y="2481296"/>
            <a:ext cx="5221224" cy="404164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전체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999건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regi_date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= 2026-03-30 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카탈로그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일괄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적재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endParaRPr lang="en-US"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endParaRPr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순서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499~598번 =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연속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100건이 </a:t>
            </a:r>
            <a:r>
              <a:rPr sz="12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모두</a:t>
            </a:r>
            <a:r>
              <a:rPr sz="1200" b="1" i="0" dirty="0">
                <a:solidFill>
                  <a:srgbClr val="C0392B"/>
                </a:solidFill>
                <a:latin typeface="맑은 고딕"/>
                <a:ea typeface="맑은 고딕"/>
              </a:rPr>
              <a:t> ‘</a:t>
            </a:r>
            <a:r>
              <a:rPr sz="12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유아및초·중등교육</a:t>
            </a:r>
            <a:r>
              <a:rPr sz="12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endParaRPr lang="en-US"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</a:pPr>
            <a:r>
              <a:rPr lang="en-US" sz="1200" dirty="0">
                <a:solidFill>
                  <a:srgbClr val="505050"/>
                </a:solidFill>
                <a:latin typeface="맑은 고딕"/>
                <a:ea typeface="맑은 고딕"/>
              </a:rPr>
              <a:t>   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(타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분류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0건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혼입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endParaRPr lang="en-US"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endParaRPr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r>
              <a:rPr sz="1200" b="1" i="0" dirty="0">
                <a:solidFill>
                  <a:srgbClr val="282D37"/>
                </a:solidFill>
                <a:latin typeface="맑은 고딕"/>
                <a:ea typeface="맑은 고딕"/>
              </a:rPr>
              <a:t>11:28~11:37 (9분) </a:t>
            </a:r>
            <a:r>
              <a:rPr sz="12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연속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단일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수집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배치에서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table_source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소실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확증</a:t>
            </a:r>
            <a:endParaRPr sz="12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endParaRPr lang="en-US" sz="12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url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필드도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999건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전부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‘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url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’ placeholder 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=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카탈로그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전반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별도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품질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endParaRPr lang="en-US"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</a:pPr>
            <a:r>
              <a:rPr lang="en-US" sz="1200" dirty="0">
                <a:solidFill>
                  <a:srgbClr val="505050"/>
                </a:solidFill>
                <a:latin typeface="맑은 고딕"/>
                <a:ea typeface="맑은 고딕"/>
              </a:rPr>
              <a:t>  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출처누락과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독립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endParaRPr lang="en-US"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endParaRPr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함의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공급원·수집경로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단위로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lang="en-US"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일괄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누락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82D37"/>
                </a:solidFill>
                <a:latin typeface="맑은 고딕"/>
                <a:ea typeface="맑은 고딕"/>
              </a:rPr>
              <a:t>    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단위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추적·복구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가능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05" name="f-bg"/>
          <p:cNvSpPr/>
          <p:nvPr/>
        </p:nvSpPr>
        <p:spPr>
          <a:xfrm>
            <a:off x="6144768" y="2097248"/>
            <a:ext cx="5477256" cy="44805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06" name="f-hdr"/>
          <p:cNvSpPr/>
          <p:nvPr/>
        </p:nvSpPr>
        <p:spPr>
          <a:xfrm>
            <a:off x="6144768" y="2097248"/>
            <a:ext cx="5477256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07" name="f-title"/>
          <p:cNvSpPr txBox="1"/>
          <p:nvPr/>
        </p:nvSpPr>
        <p:spPr>
          <a:xfrm>
            <a:off x="6144768" y="2097248"/>
            <a:ext cx="547725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② 전체 도메인 비교 (출처 누락율)</a:t>
            </a:r>
          </a:p>
        </p:txBody>
      </p:sp>
      <p:graphicFrame>
        <p:nvGraphicFramePr>
          <p:cNvPr id="7008" name="cmp-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93614"/>
              </p:ext>
            </p:extLst>
          </p:nvPr>
        </p:nvGraphicFramePr>
        <p:xfrm>
          <a:off x="6272783" y="2499584"/>
          <a:ext cx="5221223" cy="2560320"/>
        </p:xfrm>
        <a:graphic>
          <a:graphicData uri="http://schemas.openxmlformats.org/drawingml/2006/table">
            <a:tbl>
              <a:tblPr firstRow="1" bandRow="1"/>
              <a:tblGrid>
                <a:gridCol w="2803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6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cate2 (중분류)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placeholder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율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 err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유아및초·중등교육</a:t>
                      </a:r>
                      <a:endParaRPr lang="ko-KR" sz="1200" b="1" dirty="0">
                        <a:solidFill>
                          <a:srgbClr val="081F4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100/100</a:t>
                      </a:r>
                    </a:p>
                  </a:txBody>
                  <a:tcPr anchor="ctr"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100%</a:t>
                      </a:r>
                    </a:p>
                  </a:txBody>
                  <a:tcPr anchor="ctr">
                    <a:solidFill>
                      <a:srgbClr val="E8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교육일반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15/100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고등교육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14/100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14%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보건의료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10/300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평생·직업교육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2/100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2%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일반행정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4/299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009" name="dd-cmp"/>
          <p:cNvSpPr txBox="1"/>
          <p:nvPr/>
        </p:nvSpPr>
        <p:spPr>
          <a:xfrm>
            <a:off x="6272784" y="5251928"/>
            <a:ext cx="5221224" cy="118872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8"/>
              </a:spcAft>
              <a:buFont typeface="Arial" panose="020B0604020202020204" pitchFamily="34" charset="0"/>
              <a:buChar char="•"/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cate1: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33%(131) ≫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3% ≫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공공행정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1%</a:t>
            </a: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8"/>
              </a:spcAft>
              <a:buFont typeface="Arial" panose="020B0604020202020204" pitchFamily="34" charset="0"/>
              <a:buChar char="•"/>
            </a:pPr>
            <a:r>
              <a:rPr sz="12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이슈</a:t>
            </a:r>
            <a:r>
              <a:rPr sz="1200" b="1" i="0" dirty="0">
                <a:solidFill>
                  <a:srgbClr val="C0392B"/>
                </a:solidFill>
                <a:latin typeface="맑은 고딕"/>
                <a:ea typeface="맑은 고딕"/>
              </a:rPr>
              <a:t>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누락은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특히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유아및초중등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)에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계통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집중</a:t>
            </a:r>
            <a:r>
              <a:rPr lang="en-US" sz="1200" dirty="0">
                <a:solidFill>
                  <a:srgbClr val="282D37"/>
                </a:solidFill>
                <a:latin typeface="맑은 고딕"/>
                <a:ea typeface="맑은 고딕"/>
              </a:rPr>
              <a:t>,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평균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14.5%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극단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outlier</a:t>
            </a: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대책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공급기관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메타표준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미준수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공급원별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검증·출처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필수화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5EF28B-45A4-CA02-D216-992B9144D513}"/>
              </a:ext>
            </a:extLst>
          </p:cNvPr>
          <p:cNvSpPr txBox="1"/>
          <p:nvPr/>
        </p:nvSpPr>
        <p:spPr>
          <a:xfrm>
            <a:off x="11094415" y="6446429"/>
            <a:ext cx="822960" cy="17363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0" i="0" dirty="0">
                <a:solidFill>
                  <a:srgbClr val="787878"/>
                </a:solidFill>
                <a:latin typeface="맑은 고딕"/>
                <a:ea typeface="맑은 고딕"/>
              </a:rPr>
              <a:t>12</a:t>
            </a:r>
            <a:endParaRPr sz="1000" b="0" i="0" dirty="0">
              <a:solidFill>
                <a:srgbClr val="787878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교차도메인 데이터 연계 기회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625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6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발견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패턴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  ▸  </a:t>
            </a:r>
            <a:r>
              <a:rPr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의료기관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패밀리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+ </a:t>
            </a:r>
            <a:r>
              <a:rPr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연관규칙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(conf 0.88)</a:t>
            </a:r>
          </a:p>
        </p:txBody>
      </p:sp>
      <p:sp>
        <p:nvSpPr>
          <p:cNvPr id="627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46.4</a:t>
            </a:r>
          </a:p>
        </p:txBody>
      </p:sp>
      <p:sp>
        <p:nvSpPr>
          <p:cNvPr id="628" name="metric-desc"/>
          <p:cNvSpPr txBox="1"/>
          <p:nvPr/>
        </p:nvSpPr>
        <p:spPr>
          <a:xfrm>
            <a:off x="2763981" y="1339596"/>
            <a:ext cx="9153393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명·주소·전화가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항상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묶여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있어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같은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기관을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연결할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수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있는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연계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기회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’</a:t>
            </a: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b="1" dirty="0">
                <a:solidFill>
                  <a:srgbClr val="282D37"/>
                </a:solidFill>
                <a:latin typeface="맑은 고딕"/>
                <a:ea typeface="맑은 고딕"/>
              </a:rPr>
              <a:t>형성</a:t>
            </a:r>
            <a:endParaRPr b="1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03" name="r-bg"/>
          <p:cNvSpPr/>
          <p:nvPr/>
        </p:nvSpPr>
        <p:spPr>
          <a:xfrm>
            <a:off x="566928" y="1828800"/>
            <a:ext cx="4572000" cy="21031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04" name="r-hdr"/>
          <p:cNvSpPr/>
          <p:nvPr/>
        </p:nvSpPr>
        <p:spPr>
          <a:xfrm>
            <a:off x="566928" y="1828800"/>
            <a:ext cx="4572000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6005" name="r-title"/>
          <p:cNvSpPr txBox="1"/>
          <p:nvPr/>
        </p:nvSpPr>
        <p:spPr>
          <a:xfrm>
            <a:off x="566928" y="1828800"/>
            <a:ext cx="4572000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의료기관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패밀리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생성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6006" name="r-fam"/>
          <p:cNvSpPr txBox="1"/>
          <p:nvPr/>
        </p:nvSpPr>
        <p:spPr>
          <a:xfrm>
            <a:off x="685800" y="2203704"/>
            <a:ext cx="4334256" cy="168249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"/>
              </a:spcAft>
              <a:buNone/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장바구니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각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보유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컬럼개념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집합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"/>
              </a:spcAft>
              <a:buNone/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FP-Growth: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최대빈발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항목집합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(≥8테이블)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"/>
              </a:spcAft>
              <a:buNone/>
            </a:pP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결과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{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순번·의료기관명·의료기관전화번호·의료기관주소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} 4컬럼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공통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연계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키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후보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전화·주소·명·위경도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공통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키)</a:t>
            </a:r>
          </a:p>
        </p:txBody>
      </p:sp>
      <p:sp>
        <p:nvSpPr>
          <p:cNvPr id="6007" name="r-bg"/>
          <p:cNvSpPr/>
          <p:nvPr/>
        </p:nvSpPr>
        <p:spPr>
          <a:xfrm>
            <a:off x="566928" y="4069080"/>
            <a:ext cx="4572000" cy="22402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08" name="r-hdr"/>
          <p:cNvSpPr/>
          <p:nvPr/>
        </p:nvSpPr>
        <p:spPr>
          <a:xfrm>
            <a:off x="566928" y="4069080"/>
            <a:ext cx="4572000" cy="329184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6009" name="r-title"/>
          <p:cNvSpPr txBox="1"/>
          <p:nvPr/>
        </p:nvSpPr>
        <p:spPr>
          <a:xfrm>
            <a:off x="566928" y="4069080"/>
            <a:ext cx="4572000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③ 연관규칙 — 연계 근거</a:t>
            </a:r>
          </a:p>
        </p:txBody>
      </p:sp>
      <p:sp>
        <p:nvSpPr>
          <p:cNvPr id="6010" name="r-chip"/>
          <p:cNvSpPr/>
          <p:nvPr/>
        </p:nvSpPr>
        <p:spPr>
          <a:xfrm>
            <a:off x="1069848" y="4489704"/>
            <a:ext cx="3566160" cy="36576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6011" name="r-chiptx"/>
          <p:cNvSpPr txBox="1"/>
          <p:nvPr/>
        </p:nvSpPr>
        <p:spPr>
          <a:xfrm>
            <a:off x="1069848" y="4489704"/>
            <a:ext cx="3566160" cy="365760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의료기관전화번호</a:t>
            </a:r>
            <a:endParaRPr sz="14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6012" name="r-arrow"/>
          <p:cNvSpPr txBox="1"/>
          <p:nvPr/>
        </p:nvSpPr>
        <p:spPr>
          <a:xfrm>
            <a:off x="1069848" y="4855464"/>
            <a:ext cx="3566160" cy="274320"/>
          </a:xfrm>
          <a:prstGeom prst="rect">
            <a:avLst/>
          </a:prstGeom>
          <a:noFill/>
        </p:spPr>
        <p:txBody>
          <a:bodyPr wrap="square" lIns="0" tIns="6350" rIns="0" bIns="6350" anchor="ctr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505050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6013" name="r-chip"/>
          <p:cNvSpPr/>
          <p:nvPr/>
        </p:nvSpPr>
        <p:spPr>
          <a:xfrm>
            <a:off x="1069848" y="5129784"/>
            <a:ext cx="3566160" cy="3657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6014" name="r-chiptx"/>
          <p:cNvSpPr txBox="1"/>
          <p:nvPr/>
        </p:nvSpPr>
        <p:spPr>
          <a:xfrm>
            <a:off x="1069848" y="5129784"/>
            <a:ext cx="3566160" cy="365760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081F46"/>
                </a:solidFill>
                <a:latin typeface="맑은 고딕"/>
                <a:ea typeface="맑은 고딕"/>
              </a:rPr>
              <a:t>의료기관명 · 의료기관주소</a:t>
            </a:r>
          </a:p>
        </p:txBody>
      </p:sp>
      <p:sp>
        <p:nvSpPr>
          <p:cNvPr id="6015" name="r-rule"/>
          <p:cNvSpPr txBox="1"/>
          <p:nvPr/>
        </p:nvSpPr>
        <p:spPr>
          <a:xfrm>
            <a:off x="713232" y="5605272"/>
            <a:ext cx="4297680" cy="73152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6"/>
              </a:spcAft>
              <a:buNone/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support 15 · conf 0.88 · lift 46.4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같은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여러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데이터셋에서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연결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=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기회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16" name="r-bg"/>
          <p:cNvSpPr/>
          <p:nvPr/>
        </p:nvSpPr>
        <p:spPr>
          <a:xfrm>
            <a:off x="5321808" y="1828800"/>
            <a:ext cx="6300216" cy="44805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17" name="r-hdr"/>
          <p:cNvSpPr/>
          <p:nvPr/>
        </p:nvSpPr>
        <p:spPr>
          <a:xfrm>
            <a:off x="5321808" y="1828800"/>
            <a:ext cx="6300216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6018" name="r-title"/>
          <p:cNvSpPr txBox="1"/>
          <p:nvPr/>
        </p:nvSpPr>
        <p:spPr>
          <a:xfrm>
            <a:off x="5321808" y="1828800"/>
            <a:ext cx="630021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② 패밀리 구성 11개 테이블 (보건 · 4컬럼 공통 보유)</a:t>
            </a:r>
          </a:p>
        </p:txBody>
      </p:sp>
      <p:graphicFrame>
        <p:nvGraphicFramePr>
          <p:cNvPr id="6019" name="list-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299688"/>
              </p:ext>
            </p:extLst>
          </p:nvPr>
        </p:nvGraphicFramePr>
        <p:xfrm>
          <a:off x="5452872" y="2334006"/>
          <a:ext cx="6025896" cy="3529584"/>
        </p:xfrm>
        <a:graphic>
          <a:graphicData uri="http://schemas.openxmlformats.org/drawingml/2006/table">
            <a:tbl>
              <a:tblPr firstRow="1" bandRow="1"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3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지자체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데이터셋(의료기관 유형)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레코드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전북 익산시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368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인천 부평구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 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682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부산 강서구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병의원</a:t>
                      </a:r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현황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118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전남 목포시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병원현황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대전 동구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특수의료장비 공동활용병상 의료기관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26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부산 기장군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한의원 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충남 아산시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한의원현황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61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충남 아산시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치과의원현황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전북 김제시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병원현황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65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부산 북구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의원급의료기관</a:t>
                      </a:r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339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부산 동래구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피부과의원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40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보건 협소 테이블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→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데이터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병합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기회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625" name="metric-bg"/>
          <p:cNvSpPr/>
          <p:nvPr/>
        </p:nvSpPr>
        <p:spPr>
          <a:xfrm>
            <a:off x="566928" y="1115567"/>
            <a:ext cx="11055096" cy="948963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6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발견 패턴 ▸ 동일 스키마 지자체별 조각 = 표준 UNION 병합</a:t>
            </a:r>
          </a:p>
        </p:txBody>
      </p:sp>
      <p:sp>
        <p:nvSpPr>
          <p:cNvPr id="627" name="metric-number"/>
          <p:cNvSpPr txBox="1"/>
          <p:nvPr/>
        </p:nvSpPr>
        <p:spPr>
          <a:xfrm>
            <a:off x="786384" y="1425391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dirty="0">
                <a:solidFill>
                  <a:srgbClr val="00965F"/>
                </a:solidFill>
                <a:latin typeface="맑은 고딕"/>
                <a:ea typeface="맑은 고딕"/>
              </a:rPr>
              <a:t>41쌍</a:t>
            </a:r>
          </a:p>
        </p:txBody>
      </p:sp>
      <p:sp>
        <p:nvSpPr>
          <p:cNvPr id="628" name="metric-desc"/>
          <p:cNvSpPr txBox="1"/>
          <p:nvPr/>
        </p:nvSpPr>
        <p:spPr>
          <a:xfrm>
            <a:off x="1848485" y="1465561"/>
            <a:ext cx="9797922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보건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lang="ko-KR" altLang="en-US" b="1" i="0" dirty="0">
                <a:solidFill>
                  <a:srgbClr val="282D37"/>
                </a:solidFill>
                <a:latin typeface="맑은 고딕"/>
                <a:ea typeface="맑은 고딕"/>
              </a:rPr>
              <a:t>컬럼이 작고 키가 있는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’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데이터셋이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동일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스키마로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산재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b="1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지자체·유형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조각을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전국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마스터로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통합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가능</a:t>
            </a:r>
            <a:r>
              <a:rPr lang="en-US"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동형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41</a:t>
            </a:r>
            <a:r>
              <a:rPr lang="ko-KR" altLang="en-US" b="1" i="0" dirty="0">
                <a:solidFill>
                  <a:srgbClr val="282D37"/>
                </a:solidFill>
                <a:latin typeface="맑은 고딕"/>
                <a:ea typeface="맑은 고딕"/>
              </a:rPr>
              <a:t>쌍 가능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8001" name="f-bg"/>
          <p:cNvSpPr/>
          <p:nvPr/>
        </p:nvSpPr>
        <p:spPr>
          <a:xfrm>
            <a:off x="566928" y="2155971"/>
            <a:ext cx="5349240" cy="1828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002" name="f-hdr"/>
          <p:cNvSpPr/>
          <p:nvPr/>
        </p:nvSpPr>
        <p:spPr>
          <a:xfrm>
            <a:off x="566928" y="2155971"/>
            <a:ext cx="5349240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003" name="f-title"/>
          <p:cNvSpPr txBox="1"/>
          <p:nvPr/>
        </p:nvSpPr>
        <p:spPr>
          <a:xfrm>
            <a:off x="566928" y="2155971"/>
            <a:ext cx="5349240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① 동형(同型) 판단 — Jaccard 유사도</a:t>
            </a:r>
          </a:p>
        </p:txBody>
      </p:sp>
      <p:sp>
        <p:nvSpPr>
          <p:cNvPr id="8004" name="m-ver"/>
          <p:cNvSpPr txBox="1"/>
          <p:nvPr/>
        </p:nvSpPr>
        <p:spPr>
          <a:xfrm>
            <a:off x="694943" y="2540019"/>
            <a:ext cx="5349239" cy="138988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marL="171450" indent="-171450" algn="l">
              <a:lnSpc>
                <a:spcPct val="108000"/>
              </a:lnSpc>
              <a:spcBef>
                <a:spcPts val="0"/>
              </a:spcBef>
              <a:spcAft>
                <a:spcPts val="8"/>
              </a:spcAft>
              <a:buFont typeface="Arial" panose="020B0604020202020204" pitchFamily="34" charset="0"/>
              <a:buChar char="•"/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방법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각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컬럼명을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정규화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‘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집합’으로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만들어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비교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08000"/>
              </a:lnSpc>
              <a:spcBef>
                <a:spcPts val="0"/>
              </a:spcBef>
              <a:spcAft>
                <a:spcPts val="8"/>
              </a:spcAft>
              <a:buFont typeface="Arial" panose="020B0604020202020204" pitchFamily="34" charset="0"/>
              <a:buChar char="•"/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Jaccard = |A∩B| ÷ |A∪B|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=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공통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합친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(0~1)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"/>
              </a:spcAft>
            </a:pP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  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예) 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A{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순번·명·전화·주소·종별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} · B{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순번·명·전화·주소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} → 4÷5 = 0.80</a:t>
            </a:r>
          </a:p>
          <a:p>
            <a:pPr marL="171450" indent="-171450" algn="l">
              <a:lnSpc>
                <a:spcPct val="108000"/>
              </a:lnSpc>
              <a:spcBef>
                <a:spcPts val="0"/>
              </a:spcBef>
              <a:spcAft>
                <a:spcPts val="8"/>
              </a:spcAft>
              <a:buFont typeface="Arial" panose="020B0604020202020204" pitchFamily="34" charset="0"/>
              <a:buChar char="•"/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왜 Jaccard?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완전일치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(1.0)만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1개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차이로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놓침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"/>
              </a:spcAft>
            </a:pPr>
            <a:r>
              <a:rPr lang="en-US" sz="1200" dirty="0">
                <a:solidFill>
                  <a:srgbClr val="282D37"/>
                </a:solidFill>
                <a:latin typeface="맑은 고딕"/>
                <a:ea typeface="맑은 고딕"/>
              </a:rPr>
              <a:t>    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→ ≥0.8을 ‘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동형’으로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같은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표까지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포착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결과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200" b="1" i="0" dirty="0">
                <a:solidFill>
                  <a:srgbClr val="C0392B"/>
                </a:solidFill>
                <a:latin typeface="맑은 고딕"/>
                <a:ea typeface="맑은 고딕"/>
              </a:rPr>
              <a:t>105개 중 </a:t>
            </a:r>
            <a:r>
              <a:rPr sz="12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완전일치</a:t>
            </a:r>
            <a:r>
              <a:rPr sz="1200" b="1" i="0" dirty="0">
                <a:solidFill>
                  <a:srgbClr val="C0392B"/>
                </a:solidFill>
                <a:latin typeface="맑은 고딕"/>
                <a:ea typeface="맑은 고딕"/>
              </a:rPr>
              <a:t> 3그룹(11개) + </a:t>
            </a:r>
            <a:r>
              <a:rPr sz="12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동형</a:t>
            </a:r>
            <a:r>
              <a:rPr sz="1200" b="1" i="0" dirty="0">
                <a:solidFill>
                  <a:srgbClr val="C0392B"/>
                </a:solidFill>
                <a:latin typeface="맑은 고딕"/>
                <a:ea typeface="맑은 고딕"/>
              </a:rPr>
              <a:t>(≥0.8) 41쌍</a:t>
            </a:r>
          </a:p>
        </p:txBody>
      </p:sp>
      <p:sp>
        <p:nvSpPr>
          <p:cNvPr id="8005" name="f-bg"/>
          <p:cNvSpPr/>
          <p:nvPr/>
        </p:nvSpPr>
        <p:spPr>
          <a:xfrm>
            <a:off x="6144768" y="2155971"/>
            <a:ext cx="5477256" cy="1828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006" name="f-hdr"/>
          <p:cNvSpPr/>
          <p:nvPr/>
        </p:nvSpPr>
        <p:spPr>
          <a:xfrm>
            <a:off x="6144768" y="2155971"/>
            <a:ext cx="5477256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007" name="f-title"/>
          <p:cNvSpPr txBox="1"/>
          <p:nvPr/>
        </p:nvSpPr>
        <p:spPr>
          <a:xfrm>
            <a:off x="6144768" y="2155971"/>
            <a:ext cx="547725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② 병합 방법 · 효과</a:t>
            </a:r>
          </a:p>
        </p:txBody>
      </p:sp>
      <p:sp>
        <p:nvSpPr>
          <p:cNvPr id="8008" name="m-how"/>
          <p:cNvSpPr txBox="1"/>
          <p:nvPr/>
        </p:nvSpPr>
        <p:spPr>
          <a:xfrm>
            <a:off x="6272783" y="2540019"/>
            <a:ext cx="5351983" cy="138988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marL="171450" indent="-171450" algn="l">
              <a:lnSpc>
                <a:spcPct val="112000"/>
              </a:lnSpc>
              <a:spcBef>
                <a:spcPts val="0"/>
              </a:spcBef>
              <a:spcAft>
                <a:spcPts val="8"/>
              </a:spcAft>
              <a:buFont typeface="Arial" panose="020B0604020202020204" pitchFamily="34" charset="0"/>
              <a:buChar char="•"/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방법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동일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)·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추가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UNION ALL 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"/>
              </a:spcAft>
            </a:pPr>
            <a:r>
              <a:rPr lang="en-US"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 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전국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마스터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12000"/>
              </a:lnSpc>
              <a:spcBef>
                <a:spcPts val="0"/>
              </a:spcBef>
              <a:spcAft>
                <a:spcPts val="8"/>
              </a:spcAft>
              <a:buFont typeface="Arial" panose="020B0604020202020204" pitchFamily="34" charset="0"/>
              <a:buChar char="•"/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12000"/>
              </a:lnSpc>
              <a:spcBef>
                <a:spcPts val="0"/>
              </a:spcBef>
              <a:spcAft>
                <a:spcPts val="8"/>
              </a:spcAft>
              <a:buFont typeface="Arial" panose="020B0604020202020204" pitchFamily="34" charset="0"/>
              <a:buChar char="•"/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키: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순번은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내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유일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전국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통합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시 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지자체+순번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복합키로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재부여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200" b="1" i="0" dirty="0">
              <a:solidFill>
                <a:srgbClr val="00965F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효과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전국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단위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분석·중복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제거·갱신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일원화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8009" name="f-bg"/>
          <p:cNvSpPr/>
          <p:nvPr/>
        </p:nvSpPr>
        <p:spPr>
          <a:xfrm>
            <a:off x="566928" y="4121931"/>
            <a:ext cx="11055096" cy="25146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010" name="f-hdr"/>
          <p:cNvSpPr/>
          <p:nvPr/>
        </p:nvSpPr>
        <p:spPr>
          <a:xfrm>
            <a:off x="566928" y="4121931"/>
            <a:ext cx="11055096" cy="329184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011" name="f-title"/>
          <p:cNvSpPr txBox="1"/>
          <p:nvPr/>
        </p:nvSpPr>
        <p:spPr>
          <a:xfrm>
            <a:off x="566928" y="4121931"/>
            <a:ext cx="1105509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③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실제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병합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동일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스키마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지자체만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상이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graphicFrame>
        <p:nvGraphicFramePr>
          <p:cNvPr id="8012" name="ex-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941598"/>
              </p:ext>
            </p:extLst>
          </p:nvPr>
        </p:nvGraphicFramePr>
        <p:xfrm>
          <a:off x="694944" y="4668773"/>
          <a:ext cx="10799064" cy="1517904"/>
        </p:xfrm>
        <a:graphic>
          <a:graphicData uri="http://schemas.openxmlformats.org/drawingml/2006/table">
            <a:tbl>
              <a:tblPr firstRow="1" bandRow="1"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예시</a:t>
                      </a:r>
                      <a:endParaRPr lang="ko-KR" sz="12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동일 컬럼(스키마)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조각 테이블 (지자체·레코드)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통합 결과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의료기기 판매업소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순번·영업소명·소재지·전화</a:t>
                      </a:r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(4)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부산 서구206·중구278·동구349·군산553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4개 → 전국 1,386행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의료기관 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순번·의료기관명·전화·종별·주소 (5)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익산368·부평682·아산한의원61·부산북구339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4개 → 전국 1,450행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종합 시사점 및 거버넌스 대책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발견을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즉시·단기·중기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조치로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우선순위화함</a:t>
            </a:r>
            <a:r>
              <a:rPr lang="en-US"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.</a:t>
            </a:r>
            <a:endParaRPr sz="18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7010" name="f-bg"/>
          <p:cNvSpPr/>
          <p:nvPr/>
        </p:nvSpPr>
        <p:spPr>
          <a:xfrm>
            <a:off x="566928" y="1874520"/>
            <a:ext cx="3502152" cy="40233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11" name="f-hdr"/>
          <p:cNvSpPr/>
          <p:nvPr/>
        </p:nvSpPr>
        <p:spPr>
          <a:xfrm>
            <a:off x="566928" y="1874520"/>
            <a:ext cx="3502152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12" name="f-title"/>
          <p:cNvSpPr txBox="1"/>
          <p:nvPr/>
        </p:nvSpPr>
        <p:spPr>
          <a:xfrm>
            <a:off x="566928" y="1874520"/>
            <a:ext cx="3502152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즉시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거버넌스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7013" name="rm-c1"/>
          <p:cNvSpPr txBox="1"/>
          <p:nvPr/>
        </p:nvSpPr>
        <p:spPr>
          <a:xfrm>
            <a:off x="685800" y="2258568"/>
            <a:ext cx="3264408" cy="358444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누락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단일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provenance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필수검증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누락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차단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placeholder(999건)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정정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14" name="f-bg"/>
          <p:cNvSpPr/>
          <p:nvPr/>
        </p:nvSpPr>
        <p:spPr>
          <a:xfrm>
            <a:off x="4343400" y="1874520"/>
            <a:ext cx="3502152" cy="40233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15" name="f-hdr"/>
          <p:cNvSpPr/>
          <p:nvPr/>
        </p:nvSpPr>
        <p:spPr>
          <a:xfrm>
            <a:off x="4343400" y="1874520"/>
            <a:ext cx="3502152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16" name="f-title"/>
          <p:cNvSpPr txBox="1"/>
          <p:nvPr/>
        </p:nvSpPr>
        <p:spPr>
          <a:xfrm>
            <a:off x="4343400" y="1874520"/>
            <a:ext cx="3502152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단기 (검증 · 표준)</a:t>
            </a:r>
          </a:p>
        </p:txBody>
      </p:sp>
      <p:sp>
        <p:nvSpPr>
          <p:cNvPr id="7017" name="rm-c2"/>
          <p:cNvSpPr txBox="1"/>
          <p:nvPr/>
        </p:nvSpPr>
        <p:spPr>
          <a:xfrm>
            <a:off x="4462272" y="2258568"/>
            <a:ext cx="3383280" cy="358444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탐사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적절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lift)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도메인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스키마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자동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태깅·무결성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체크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좌표·연락처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등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데이터모델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정의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18" name="f-bg"/>
          <p:cNvSpPr/>
          <p:nvPr/>
        </p:nvSpPr>
        <p:spPr>
          <a:xfrm>
            <a:off x="8119872" y="1874520"/>
            <a:ext cx="3502152" cy="402336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19" name="f-hdr"/>
          <p:cNvSpPr/>
          <p:nvPr/>
        </p:nvSpPr>
        <p:spPr>
          <a:xfrm>
            <a:off x="8119872" y="1874520"/>
            <a:ext cx="3502152" cy="329184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20" name="f-title"/>
          <p:cNvSpPr txBox="1"/>
          <p:nvPr/>
        </p:nvSpPr>
        <p:spPr>
          <a:xfrm>
            <a:off x="8119872" y="1874520"/>
            <a:ext cx="3502152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중기 (연계 · 인텔리전스)</a:t>
            </a:r>
          </a:p>
        </p:txBody>
      </p:sp>
      <p:sp>
        <p:nvSpPr>
          <p:cNvPr id="7021" name="rm-c3"/>
          <p:cNvSpPr txBox="1"/>
          <p:nvPr/>
        </p:nvSpPr>
        <p:spPr>
          <a:xfrm>
            <a:off x="8238744" y="2258568"/>
            <a:ext cx="3264408" cy="358444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4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교차도메인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연계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ombined_pair_map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/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linking_ratio로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정량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통합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마스터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주소·연락처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구축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2508</Words>
  <Application>Microsoft Office PowerPoint</Application>
  <PresentationFormat>와이드스크린</PresentationFormat>
  <Paragraphs>534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강훈(Hoon Kang) 책임연구원 HD현대인프라코어</cp:lastModifiedBy>
  <cp:revision>273</cp:revision>
  <dcterms:created xsi:type="dcterms:W3CDTF">2013-01-27T09:14:16Z</dcterms:created>
  <dcterms:modified xsi:type="dcterms:W3CDTF">2026-06-08T12:44:32Z</dcterms:modified>
  <cp:category/>
</cp:coreProperties>
</file>