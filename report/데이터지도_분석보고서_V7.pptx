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6" d="100"/>
          <a:sy n="106" d="100"/>
        </p:scale>
        <p:origin x="756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1CCFCC-030A-4CE8-A15F-A37FC6BFC187}" type="datetimeFigureOut">
              <a:rPr lang="ko-KR" altLang="en-US" smtClean="0"/>
              <a:t>2026-06-07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42B268F-8D29-4E2C-AE3B-299A6712908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55035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2B268F-8D29-4E2C-AE3B-299A67129087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303498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4572000"/>
            <a:ext cx="12191695" cy="38100"/>
          </a:xfrm>
          <a:prstGeom prst="rect">
            <a:avLst/>
          </a:prstGeom>
          <a:solidFill>
            <a:srgbClr val="009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2286000"/>
            <a:ext cx="11057839" cy="18288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FFFFFF"/>
                </a:solidFill>
                <a:latin typeface="맑은 고딕"/>
                <a:ea typeface="맑은 고딕"/>
              </a:rPr>
              <a:t>공공데이터 ‘데이터 지도’
거버넌스·인텔리전스 분석 보고서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754880"/>
            <a:ext cx="11057839" cy="10972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C8D2E1"/>
                </a:solidFill>
                <a:latin typeface="맑은 고딕"/>
                <a:ea typeface="맑은 고딕"/>
              </a:rPr>
              <a:t>999개 공공데이터셋(교육·보건·공공행정) 데이터 지도의 비지도 데이터마이닝 분석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00965F"/>
                </a:solidFill>
                <a:latin typeface="맑은 고딕"/>
                <a:ea typeface="맑은 고딕"/>
              </a:rPr>
              <a:t>1D 클러스터링 · AOI 롤업 · FP-Growth 빈발패턴 · 연관규칙 · 국소→전체 검증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09728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65F"/>
                </a:solidFill>
                <a:latin typeface="맑은 고딕"/>
                <a:ea typeface="맑은 고딕"/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6766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분석</a:t>
            </a:r>
            <a:r>
              <a:rPr sz="2600" b="1" i="0" dirty="0">
                <a:solidFill>
                  <a:srgbClr val="081F46"/>
                </a:solidFill>
                <a:latin typeface="맑은 고딕"/>
                <a:ea typeface="맑은 고딕"/>
              </a:rPr>
              <a:t> </a:t>
            </a:r>
            <a:r>
              <a:rPr sz="26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개요</a:t>
            </a:r>
            <a:r>
              <a:rPr sz="2600" b="1" i="0" dirty="0">
                <a:solidFill>
                  <a:srgbClr val="081F46"/>
                </a:solidFill>
                <a:latin typeface="맑은 고딕"/>
                <a:ea typeface="맑은 고딕"/>
              </a:rPr>
              <a:t> 및 </a:t>
            </a:r>
            <a:r>
              <a:rPr sz="26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목적</a:t>
            </a:r>
            <a:endParaRPr sz="2600" b="1" i="0" dirty="0">
              <a:solidFill>
                <a:srgbClr val="081F46"/>
              </a:solidFill>
              <a:latin typeface="맑은 고딕"/>
              <a:ea typeface="맑은 고딕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1057839" cy="2794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1170432"/>
            <a:ext cx="11057839" cy="51206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원본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트랜잭션이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아닌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 ‘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데이터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지도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(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메타데이터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)’를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비지도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알고리즘으로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분석함</a:t>
            </a:r>
            <a:endParaRPr sz="1800" b="1" i="0" dirty="0">
              <a:solidFill>
                <a:srgbClr val="505050"/>
              </a:solidFill>
              <a:latin typeface="맑은 고딕"/>
              <a:ea typeface="맑은 고딕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82296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맑은 고딕"/>
                <a:ea typeface="맑은 고딕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8" y="1828800"/>
            <a:ext cx="7198682" cy="16695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대상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: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공공데이터포털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999개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데이터셋의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프로파일링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산출물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(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데이터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지도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)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구성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: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컬럼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/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테이블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프로파일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·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쌍별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값·도메인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중첩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·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유사도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클러스터</a:t>
            </a:r>
            <a:endParaRPr sz="15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목표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: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데이터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거버넌스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이슈와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메타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수준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비즈니스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인텔리전스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도출</a:t>
            </a:r>
            <a:endParaRPr sz="15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형식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: ‘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주말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&gt;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기저귀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&gt;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맥주’형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연관규칙을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데이터셋·컬럼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수준에서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발굴</a:t>
            </a:r>
            <a:endParaRPr lang="ko-KR" altLang="en-US" sz="15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lang="en-US" altLang="ko-KR"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lang="ko-KR" altLang="en-US"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원칙</a:t>
            </a:r>
            <a:r>
              <a:rPr lang="en-US" altLang="ko-KR"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: LLM </a:t>
            </a:r>
            <a:r>
              <a:rPr lang="ko-KR" altLang="en-US"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추론 배제</a:t>
            </a:r>
            <a:r>
              <a:rPr lang="en-US" altLang="ko-KR"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, </a:t>
            </a:r>
            <a:r>
              <a:rPr lang="ko-KR" altLang="en-US"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모든 결론은 설명가능한 알고리즘 실행 결과</a:t>
            </a:r>
          </a:p>
        </p:txBody>
      </p:sp>
      <p:pic>
        <p:nvPicPr>
          <p:cNvPr id="12" name="Picture 11" descr="fig_dom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88936" y="2579261"/>
            <a:ext cx="4428439" cy="316317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09728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65F"/>
                </a:solidFill>
                <a:latin typeface="맑은 고딕"/>
                <a:ea typeface="맑은 고딕"/>
              </a:rPr>
              <a:t>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6766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81F46"/>
                </a:solidFill>
                <a:latin typeface="맑은 고딕"/>
                <a:ea typeface="맑은 고딕"/>
              </a:rPr>
              <a:t>대상 데이터 구성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1057839" cy="2794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1170432"/>
            <a:ext cx="11057839" cy="51206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505050"/>
                </a:solidFill>
                <a:latin typeface="맑은 고딕"/>
                <a:ea typeface="맑은 고딕"/>
              </a:rPr>
              <a:t>9개 파일 = 프로파일 + 쌍별 중첩 + 유사도 클러스터의 3계층 구조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82296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맑은 고딕"/>
                <a:ea typeface="맑은 고딕"/>
              </a:rPr>
              <a:t>3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0667075"/>
              </p:ext>
            </p:extLst>
          </p:nvPr>
        </p:nvGraphicFramePr>
        <p:xfrm>
          <a:off x="566928" y="1993900"/>
          <a:ext cx="11057837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09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053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115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47040">
                <a:tc>
                  <a:txBody>
                    <a:bodyPr/>
                    <a:lstStyle/>
                    <a:p>
                      <a:pPr algn="ctr"/>
                      <a:r>
                        <a:rPr sz="1400" b="1" i="0" dirty="0" err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파일</a:t>
                      </a:r>
                      <a:endParaRPr sz="1400" b="1" i="0" dirty="0">
                        <a:solidFill>
                          <a:srgbClr val="FFFFFF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 dirty="0" err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역할</a:t>
                      </a:r>
                      <a:endParaRPr sz="1400" b="1" i="0" dirty="0">
                        <a:solidFill>
                          <a:srgbClr val="FFFFFF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 dirty="0" err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규모</a:t>
                      </a:r>
                      <a:endParaRPr sz="1400" b="1" i="0" dirty="0">
                        <a:solidFill>
                          <a:srgbClr val="FFFFFF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7040">
                <a:tc>
                  <a:txBody>
                    <a:bodyPr/>
                    <a:lstStyle/>
                    <a:p>
                      <a:pPr algn="ctr"/>
                      <a:r>
                        <a:rPr sz="1400" b="1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table_map</a:t>
                      </a:r>
                      <a:endParaRPr sz="1400" b="1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데이터셋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메타+분류+통계</a:t>
                      </a:r>
                      <a:endParaRPr sz="1400" b="0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999행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7040">
                <a:tc>
                  <a:txBody>
                    <a:bodyPr/>
                    <a:lstStyle/>
                    <a:p>
                      <a:pPr algn="ctr"/>
                      <a:r>
                        <a:rPr sz="1400" b="1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column_map</a:t>
                      </a:r>
                      <a:endParaRPr sz="1400" b="1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컬럼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프로파일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(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키품질·고유값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등)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9,840행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7040">
                <a:tc>
                  <a:txBody>
                    <a:bodyPr/>
                    <a:lstStyle/>
                    <a:p>
                      <a:pPr algn="ctr"/>
                      <a:r>
                        <a:rPr sz="1400" b="1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distinct_value</a:t>
                      </a:r>
                      <a:endParaRPr sz="1400" b="1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컬럼별 distinct 값+빈도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803만행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7040">
                <a:tc>
                  <a:txBody>
                    <a:bodyPr/>
                    <a:lstStyle/>
                    <a:p>
                      <a:pPr algn="ctr"/>
                      <a:r>
                        <a:rPr sz="1400" b="1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table/</a:t>
                      </a:r>
                      <a:r>
                        <a:rPr sz="1400" b="1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column_summary_map</a:t>
                      </a:r>
                      <a:endParaRPr sz="1400" b="1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객체별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중첩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통계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롤업</a:t>
                      </a:r>
                      <a:endParaRPr sz="1400" b="0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996/8,360행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7040">
                <a:tc>
                  <a:txBody>
                    <a:bodyPr/>
                    <a:lstStyle/>
                    <a:p>
                      <a:pPr algn="ctr"/>
                      <a:r>
                        <a:rPr sz="1400" b="1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combined_pair_map</a:t>
                      </a:r>
                      <a:endParaRPr sz="1400" b="1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컬럼쌍 조인가능성(linking_ratio)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74만행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7040">
                <a:tc>
                  <a:txBody>
                    <a:bodyPr/>
                    <a:lstStyle/>
                    <a:p>
                      <a:pPr algn="ctr"/>
                      <a:r>
                        <a:rPr sz="1400" b="1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table_pair_map</a:t>
                      </a:r>
                      <a:endParaRPr sz="1400" b="1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테이블쌍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유사도</a:t>
                      </a:r>
                      <a:endParaRPr sz="1400" b="0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25만행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47040">
                <a:tc>
                  <a:txBody>
                    <a:bodyPr/>
                    <a:lstStyle/>
                    <a:p>
                      <a:pPr algn="ctr"/>
                      <a:r>
                        <a:rPr sz="1400" b="1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column_pair_map</a:t>
                      </a:r>
                      <a:endParaRPr sz="1400" b="1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컬럼쌍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값·도메인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중첩·중복</a:t>
                      </a:r>
                      <a:endParaRPr sz="1400" b="0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524만행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47040">
                <a:tc>
                  <a:txBody>
                    <a:bodyPr/>
                    <a:lstStyle/>
                    <a:p>
                      <a:pPr algn="ctr"/>
                      <a:r>
                        <a:rPr sz="1400" b="1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*_</a:t>
                      </a:r>
                      <a:r>
                        <a:rPr sz="1400" b="1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value_tree</a:t>
                      </a:r>
                      <a:r>
                        <a:rPr sz="1400" b="1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/ *_</a:t>
                      </a:r>
                      <a:r>
                        <a:rPr sz="1400" b="1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str_tree</a:t>
                      </a:r>
                      <a:endParaRPr sz="1400" b="1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값·이름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유사도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계층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클러스터</a:t>
                      </a:r>
                      <a:endParaRPr sz="1400" b="0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331~4,549행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09728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65F"/>
                </a:solidFill>
                <a:latin typeface="맑은 고딕"/>
                <a:ea typeface="맑은 고딕"/>
              </a:rPr>
              <a:t>METHOD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6766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81F46"/>
                </a:solidFill>
                <a:latin typeface="맑은 고딕"/>
                <a:ea typeface="맑은 고딕"/>
              </a:rPr>
              <a:t>분석 방법론 파이프라인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1057839" cy="2794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1170432"/>
            <a:ext cx="11057839" cy="51206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505050"/>
                </a:solidFill>
                <a:latin typeface="맑은 고딕"/>
                <a:ea typeface="맑은 고딕"/>
              </a:rPr>
              <a:t>이산화 → AOI 롤업 → 빈발패턴 → 연관규칙 → 국소·전체 검증의 5단계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82296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맑은 고딕"/>
                <a:ea typeface="맑은 고딕"/>
              </a:rPr>
              <a:t>4</a:t>
            </a:r>
          </a:p>
        </p:txBody>
      </p:sp>
      <p:sp>
        <p:nvSpPr>
          <p:cNvPr id="7" name="Pentagon 6"/>
          <p:cNvSpPr/>
          <p:nvPr/>
        </p:nvSpPr>
        <p:spPr>
          <a:xfrm>
            <a:off x="566928" y="1920240"/>
            <a:ext cx="2138415" cy="868680"/>
          </a:xfrm>
          <a:prstGeom prst="homePlate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sz="1600" b="1" i="0" dirty="0">
                <a:solidFill>
                  <a:srgbClr val="FFFFFF"/>
                </a:solidFill>
                <a:latin typeface="맑은 고딕"/>
                <a:ea typeface="맑은 고딕"/>
              </a:rPr>
              <a:t>① </a:t>
            </a:r>
            <a:r>
              <a:rPr sz="16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이산화</a:t>
            </a:r>
            <a:endParaRPr sz="1600" b="1" i="0" dirty="0">
              <a:solidFill>
                <a:srgbClr val="FFFFFF"/>
              </a:solidFill>
              <a:latin typeface="맑은 고딕"/>
              <a:ea typeface="맑은 고딕"/>
            </a:endParaRPr>
          </a:p>
          <a:p>
            <a:pPr algn="ctr"/>
            <a:r>
              <a:rPr sz="1050" b="0" i="0" dirty="0">
                <a:solidFill>
                  <a:srgbClr val="FFFFFF"/>
                </a:solidFill>
                <a:latin typeface="맑은 고딕"/>
                <a:ea typeface="맑은 고딕"/>
              </a:rPr>
              <a:t>1D </a:t>
            </a:r>
            <a:r>
              <a:rPr sz="1050" b="0" i="0" dirty="0" err="1">
                <a:solidFill>
                  <a:srgbClr val="FFFFFF"/>
                </a:solidFill>
                <a:latin typeface="맑은 고딕"/>
                <a:ea typeface="맑은 고딕"/>
              </a:rPr>
              <a:t>KMeans</a:t>
            </a:r>
            <a:endParaRPr sz="1050" b="0" i="0" dirty="0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sp>
        <p:nvSpPr>
          <p:cNvPr id="8" name="Pentagon 7"/>
          <p:cNvSpPr/>
          <p:nvPr/>
        </p:nvSpPr>
        <p:spPr>
          <a:xfrm>
            <a:off x="2796783" y="1920240"/>
            <a:ext cx="2138415" cy="868680"/>
          </a:xfrm>
          <a:prstGeom prst="homePlate">
            <a:avLst/>
          </a:prstGeom>
          <a:solidFill>
            <a:srgbClr val="009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② AOI 롤업</a:t>
            </a:r>
          </a:p>
          <a:p>
            <a:pPr algn="ctr"/>
            <a:r>
              <a:rPr sz="1050" b="0" i="0">
                <a:solidFill>
                  <a:srgbClr val="FFFFFF"/>
                </a:solidFill>
                <a:latin typeface="맑은 고딕"/>
                <a:ea typeface="맑은 고딕"/>
              </a:rPr>
              <a:t>개념계층</a:t>
            </a:r>
          </a:p>
        </p:txBody>
      </p:sp>
      <p:sp>
        <p:nvSpPr>
          <p:cNvPr id="9" name="Pentagon 8"/>
          <p:cNvSpPr/>
          <p:nvPr/>
        </p:nvSpPr>
        <p:spPr>
          <a:xfrm>
            <a:off x="5026639" y="1920240"/>
            <a:ext cx="2138415" cy="868680"/>
          </a:xfrm>
          <a:prstGeom prst="homePlate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③ 빈발패턴</a:t>
            </a:r>
          </a:p>
          <a:p>
            <a:pPr algn="ctr"/>
            <a:r>
              <a:rPr sz="1050" b="0" i="0">
                <a:solidFill>
                  <a:srgbClr val="FFFFFF"/>
                </a:solidFill>
                <a:latin typeface="맑은 고딕"/>
                <a:ea typeface="맑은 고딕"/>
              </a:rPr>
              <a:t>FP-Growth</a:t>
            </a:r>
          </a:p>
        </p:txBody>
      </p:sp>
      <p:sp>
        <p:nvSpPr>
          <p:cNvPr id="10" name="Pentagon 9"/>
          <p:cNvSpPr/>
          <p:nvPr/>
        </p:nvSpPr>
        <p:spPr>
          <a:xfrm>
            <a:off x="7256495" y="1920240"/>
            <a:ext cx="2138415" cy="868680"/>
          </a:xfrm>
          <a:prstGeom prst="homePlate">
            <a:avLst/>
          </a:prstGeom>
          <a:solidFill>
            <a:srgbClr val="009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④ 연관규칙</a:t>
            </a:r>
          </a:p>
          <a:p>
            <a:pPr algn="ctr"/>
            <a:r>
              <a:rPr sz="1050" b="0" i="0">
                <a:solidFill>
                  <a:srgbClr val="FFFFFF"/>
                </a:solidFill>
                <a:latin typeface="맑은 고딕"/>
                <a:ea typeface="맑은 고딕"/>
              </a:rPr>
              <a:t>lift 등</a:t>
            </a:r>
          </a:p>
        </p:txBody>
      </p:sp>
      <p:sp>
        <p:nvSpPr>
          <p:cNvPr id="11" name="Pentagon 10"/>
          <p:cNvSpPr/>
          <p:nvPr/>
        </p:nvSpPr>
        <p:spPr>
          <a:xfrm>
            <a:off x="9486351" y="1920240"/>
            <a:ext cx="2138415" cy="868680"/>
          </a:xfrm>
          <a:prstGeom prst="homePlate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⑤ 검증</a:t>
            </a:r>
          </a:p>
          <a:p>
            <a:pPr algn="ctr"/>
            <a:r>
              <a:rPr sz="1050" b="0" i="0">
                <a:solidFill>
                  <a:srgbClr val="FFFFFF"/>
                </a:solidFill>
                <a:latin typeface="맑은 고딕"/>
                <a:ea typeface="맑은 고딕"/>
              </a:rPr>
              <a:t>규칙#4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6087620"/>
              </p:ext>
            </p:extLst>
          </p:nvPr>
        </p:nvGraphicFramePr>
        <p:xfrm>
          <a:off x="566928" y="3063240"/>
          <a:ext cx="11057838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01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430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1465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400" b="1" i="0" dirty="0" err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단계</a:t>
                      </a:r>
                      <a:endParaRPr sz="1400" b="1" i="0" dirty="0">
                        <a:solidFill>
                          <a:srgbClr val="FFFFFF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 dirty="0" err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알고리즘</a:t>
                      </a:r>
                      <a:endParaRPr sz="1400" b="1" i="0" dirty="0">
                        <a:solidFill>
                          <a:srgbClr val="FFFFFF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 dirty="0" err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적용</a:t>
                      </a:r>
                      <a:endParaRPr sz="1400" b="1" i="0" dirty="0">
                        <a:solidFill>
                          <a:srgbClr val="FFFFFF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400" b="1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이산화</a:t>
                      </a:r>
                      <a:endParaRPr sz="1400" b="1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log1p + 1D 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KMeans</a:t>
                      </a:r>
                      <a:endParaRPr sz="1400" b="0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rec_cnt·column_cnt·수치비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→ 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순서형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구간</a:t>
                      </a:r>
                      <a:endParaRPr sz="1400" b="0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400" b="1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AOI </a:t>
                      </a:r>
                      <a:r>
                        <a:rPr sz="1400" b="1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롤업</a:t>
                      </a:r>
                      <a:endParaRPr sz="1400" b="1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정규식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개념계층</a:t>
                      </a:r>
                      <a:endParaRPr sz="1400" b="0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table_source→기관유형, col_nm→컬럼개념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400" b="1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빈발패턴</a:t>
                      </a:r>
                      <a:endParaRPr sz="1400" b="1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FP-Growth(max_len=3)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테이블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=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거래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, 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속성·컬럼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=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아이템</a:t>
                      </a:r>
                      <a:endParaRPr sz="1400" b="0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400" b="1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연관규칙</a:t>
                      </a:r>
                      <a:endParaRPr sz="1400" b="1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association_rules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(lift)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support·confidence·lift·leverage·conviction</a:t>
                      </a:r>
                      <a:endParaRPr sz="1400" b="0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400" b="1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검증</a:t>
                      </a:r>
                      <a:endParaRPr sz="1400" b="1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도메인별→전체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재계산</a:t>
                      </a:r>
                      <a:endParaRPr sz="1400" b="0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국소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강규칙의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일반화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여부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판정</a:t>
                      </a:r>
                      <a:endParaRPr sz="1400" b="0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09728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65F"/>
                </a:solidFill>
                <a:latin typeface="맑은 고딕"/>
                <a:ea typeface="맑은 고딕"/>
              </a:rPr>
              <a:t>공통 전처리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6766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공통</a:t>
            </a:r>
            <a:r>
              <a:rPr sz="2600" b="1" i="0" dirty="0">
                <a:solidFill>
                  <a:srgbClr val="081F46"/>
                </a:solidFill>
                <a:latin typeface="맑은 고딕"/>
                <a:ea typeface="맑은 고딕"/>
              </a:rPr>
              <a:t> </a:t>
            </a:r>
            <a:r>
              <a:rPr sz="26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데이터</a:t>
            </a:r>
            <a:r>
              <a:rPr sz="2600" b="1" i="0" dirty="0">
                <a:solidFill>
                  <a:srgbClr val="081F46"/>
                </a:solidFill>
                <a:latin typeface="맑은 고딕"/>
                <a:ea typeface="맑은 고딕"/>
              </a:rPr>
              <a:t> </a:t>
            </a:r>
            <a:r>
              <a:rPr sz="26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준비</a:t>
            </a:r>
            <a:r>
              <a:rPr sz="2600" b="1" i="0" dirty="0">
                <a:solidFill>
                  <a:srgbClr val="081F46"/>
                </a:solidFill>
                <a:latin typeface="맑은 고딕"/>
                <a:ea typeface="맑은 고딕"/>
              </a:rPr>
              <a:t> ① </a:t>
            </a:r>
            <a:r>
              <a:rPr sz="26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적재·인코딩·형변환</a:t>
            </a:r>
            <a:endParaRPr sz="2600" b="1" i="0" dirty="0">
              <a:solidFill>
                <a:srgbClr val="081F46"/>
              </a:solidFill>
              <a:latin typeface="맑은 고딕"/>
              <a:ea typeface="맑은 고딕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1057839" cy="2794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1280430"/>
            <a:ext cx="11057839" cy="29206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모든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이슈가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공유하는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기반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전처리</a:t>
            </a:r>
            <a:r>
              <a:rPr lang="en-US" b="1" dirty="0">
                <a:solidFill>
                  <a:srgbClr val="505050"/>
                </a:solidFill>
                <a:latin typeface="맑은 고딕"/>
                <a:ea typeface="맑은 고딕"/>
              </a:rPr>
              <a:t>: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인코딩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확정</a:t>
            </a:r>
            <a:r>
              <a:rPr lang="en-US"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lang="ko-KR" altLang="en-US"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및</a:t>
            </a:r>
            <a:r>
              <a:rPr lang="en-US" b="1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형변환</a:t>
            </a:r>
            <a:endParaRPr sz="1800" b="1" i="0" dirty="0">
              <a:solidFill>
                <a:srgbClr val="505050"/>
              </a:solidFill>
              <a:latin typeface="맑은 고딕"/>
              <a:ea typeface="맑은 고딕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82296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맑은 고딕"/>
                <a:ea typeface="맑은 고딕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828800"/>
            <a:ext cx="11057839" cy="12512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lang="ko-KR" altLang="en-US"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인코딩 확정</a:t>
            </a:r>
            <a:r>
              <a:rPr lang="en-US" altLang="ko-KR"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: UTF-8 </a:t>
            </a:r>
            <a:r>
              <a:rPr lang="ko-KR" altLang="en-US"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파일로 인코딩 통일</a:t>
            </a:r>
            <a:endParaRPr lang="en-US" altLang="ko-KR" sz="14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lang="en-US" altLang="ko-KR"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lang="ko-KR" altLang="en-US"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적재</a:t>
            </a:r>
            <a:r>
              <a:rPr lang="en-US" altLang="ko-KR"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: </a:t>
            </a:r>
            <a:r>
              <a:rPr lang="en-US" altLang="ko-KR"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table_map</a:t>
            </a:r>
            <a:r>
              <a:rPr lang="en-US" altLang="ko-KR"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(999) · </a:t>
            </a:r>
            <a:r>
              <a:rPr lang="en-US" altLang="ko-KR"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column_map</a:t>
            </a:r>
            <a:r>
              <a:rPr lang="en-US" altLang="ko-KR"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(9,840)</a:t>
            </a:r>
            <a:r>
              <a:rPr lang="ko-KR" altLang="en-US"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을 </a:t>
            </a:r>
            <a:r>
              <a:rPr lang="en-US" altLang="ko-KR"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dtype</a:t>
            </a:r>
            <a:r>
              <a:rPr lang="en-US" altLang="ko-KR"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=str</a:t>
            </a:r>
            <a:r>
              <a:rPr lang="ko-KR" altLang="en-US"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로 안전 적재 후 </a:t>
            </a:r>
            <a:r>
              <a:rPr lang="ko-KR" altLang="en-US"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형변환</a:t>
            </a:r>
            <a:endParaRPr lang="ko-KR" altLang="en-US" sz="14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형변환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: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수치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컬럼은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to_numeric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(coerce) —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비수치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/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날짜는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NaN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처리</a:t>
            </a:r>
            <a:endParaRPr sz="14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정합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기준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: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table_id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결측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행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제거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,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컬럼-테이블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조인키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정합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확인</a:t>
            </a:r>
            <a:endParaRPr sz="1400" b="0" i="0" dirty="0">
              <a:solidFill>
                <a:srgbClr val="282D37"/>
              </a:solidFill>
              <a:latin typeface="맑은 고딕"/>
              <a:ea typeface="맑은 고딕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09728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65F"/>
                </a:solidFill>
                <a:latin typeface="맑은 고딕"/>
                <a:ea typeface="맑은 고딕"/>
              </a:rPr>
              <a:t>공통 전처리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6766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81F46"/>
                </a:solidFill>
                <a:latin typeface="맑은 고딕"/>
                <a:ea typeface="맑은 고딕"/>
              </a:rPr>
              <a:t>공통 데이터 준비 ② 1D 이산화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1057839" cy="2794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1280430"/>
            <a:ext cx="11057839" cy="29206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한쪽으로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심하게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쏠린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수치를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로그로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고르게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 편 뒤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자동으로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구간을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나눔</a:t>
            </a:r>
            <a:r>
              <a:rPr lang="en-US"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.</a:t>
            </a:r>
            <a:endParaRPr sz="1800" b="1" i="0" dirty="0">
              <a:solidFill>
                <a:srgbClr val="505050"/>
              </a:solidFill>
              <a:latin typeface="맑은 고딕"/>
              <a:ea typeface="맑은 고딕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82296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맑은 고딕"/>
                <a:ea typeface="맑은 고딕"/>
              </a:rP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7" y="1828800"/>
            <a:ext cx="9980360" cy="1252715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문제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: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레코드수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1~833,466로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극단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쏠림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lang="en-US" sz="1400" dirty="0">
                <a:solidFill>
                  <a:srgbClr val="282D37"/>
                </a:solidFill>
                <a:latin typeface="맑은 고딕"/>
                <a:ea typeface="맑은 고딕"/>
                <a:sym typeface="Wingdings" panose="05000000000000000000" pitchFamily="2" charset="2"/>
              </a:rPr>
              <a:t>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그대로면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큰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값이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결과를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지배</a:t>
            </a:r>
            <a:endParaRPr sz="14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해결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: log(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로그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)로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쏠림을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편 뒤 1차원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KMeans로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자동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구간화</a:t>
            </a:r>
            <a:endParaRPr sz="14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이산화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lang="ko-KR" altLang="en-US" sz="1400" dirty="0">
                <a:solidFill>
                  <a:srgbClr val="282D37"/>
                </a:solidFill>
                <a:latin typeface="맑은 고딕"/>
                <a:ea typeface="맑은 고딕"/>
              </a:rPr>
              <a:t>대상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: </a:t>
            </a:r>
            <a:r>
              <a:rPr sz="1400" b="1" i="0" dirty="0" err="1">
                <a:solidFill>
                  <a:srgbClr val="282D37"/>
                </a:solidFill>
                <a:latin typeface="맑은 고딕"/>
                <a:ea typeface="맑은 고딕"/>
              </a:rPr>
              <a:t>레코드수</a:t>
            </a:r>
            <a:r>
              <a:rPr sz="1400" b="1" i="0" dirty="0">
                <a:solidFill>
                  <a:srgbClr val="282D37"/>
                </a:solidFill>
                <a:latin typeface="맑은 고딕"/>
                <a:ea typeface="맑은 고딕"/>
              </a:rPr>
              <a:t>(5구간)</a:t>
            </a:r>
            <a:r>
              <a:rPr lang="en-US" sz="1400" b="1" i="0" dirty="0">
                <a:solidFill>
                  <a:srgbClr val="282D37"/>
                </a:solidFill>
                <a:latin typeface="맑은 고딕"/>
                <a:ea typeface="맑은 고딕"/>
              </a:rPr>
              <a:t> / </a:t>
            </a:r>
            <a:r>
              <a:rPr sz="1400" b="1" i="0" dirty="0" err="1">
                <a:solidFill>
                  <a:srgbClr val="282D37"/>
                </a:solidFill>
                <a:latin typeface="맑은 고딕"/>
                <a:ea typeface="맑은 고딕"/>
              </a:rPr>
              <a:t>컬럼폭</a:t>
            </a:r>
            <a:r>
              <a:rPr sz="1400" b="1" i="0" dirty="0">
                <a:solidFill>
                  <a:srgbClr val="282D37"/>
                </a:solidFill>
                <a:latin typeface="맑은 고딕"/>
                <a:ea typeface="맑은 고딕"/>
              </a:rPr>
              <a:t>(4구간)</a:t>
            </a:r>
            <a:r>
              <a:rPr lang="en-US" sz="1400" b="1" i="0" dirty="0">
                <a:solidFill>
                  <a:srgbClr val="282D37"/>
                </a:solidFill>
                <a:latin typeface="맑은 고딕"/>
                <a:ea typeface="맑은 고딕"/>
              </a:rPr>
              <a:t> / </a:t>
            </a:r>
            <a:r>
              <a:rPr sz="1400" b="1" i="0" dirty="0" err="1">
                <a:solidFill>
                  <a:srgbClr val="282D37"/>
                </a:solidFill>
                <a:latin typeface="맑은 고딕"/>
                <a:ea typeface="맑은 고딕"/>
              </a:rPr>
              <a:t>수치비</a:t>
            </a:r>
            <a:r>
              <a:rPr sz="1400" b="1" i="0" dirty="0">
                <a:solidFill>
                  <a:srgbClr val="282D37"/>
                </a:solidFill>
                <a:latin typeface="맑은 고딕"/>
                <a:ea typeface="맑은 고딕"/>
              </a:rPr>
              <a:t>(3구간)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수치비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=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수치형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컬럼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비율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(0~1)</a:t>
            </a:r>
            <a:r>
              <a:rPr lang="en-US" sz="140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lang="en-US" sz="1400" dirty="0">
                <a:solidFill>
                  <a:srgbClr val="282D37"/>
                </a:solidFill>
                <a:latin typeface="맑은 고딕"/>
                <a:ea typeface="맑은 고딕"/>
                <a:sym typeface="Wingdings" panose="05000000000000000000" pitchFamily="2" charset="2"/>
              </a:rPr>
              <a:t>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이미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고른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값이라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로그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없이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바로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구간화</a:t>
            </a:r>
            <a:endParaRPr sz="1400" b="0" i="0" dirty="0">
              <a:solidFill>
                <a:srgbClr val="282D37"/>
              </a:solidFill>
              <a:latin typeface="맑은 고딕"/>
              <a:ea typeface="맑은 고딕"/>
            </a:endParaRPr>
          </a:p>
        </p:txBody>
      </p:sp>
      <p:pic>
        <p:nvPicPr>
          <p:cNvPr id="52" name="그림 51">
            <a:extLst>
              <a:ext uri="{FF2B5EF4-FFF2-40B4-BE49-F238E27FC236}">
                <a16:creationId xmlns:a16="http://schemas.microsoft.com/office/drawing/2014/main" id="{4F2DC526-7433-974C-F78C-8B3B1EF360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1584" y="3370758"/>
            <a:ext cx="7472126" cy="337751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09728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65F"/>
                </a:solidFill>
                <a:latin typeface="맑은 고딕"/>
                <a:ea typeface="맑은 고딕"/>
              </a:rPr>
              <a:t>공통 전처리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6766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81F46"/>
                </a:solidFill>
                <a:latin typeface="맑은 고딕"/>
                <a:ea typeface="맑은 고딕"/>
              </a:rPr>
              <a:t>공통 데이터 준비 ③ AOI 롤업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1057839" cy="2794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1170432"/>
            <a:ext cx="11057839" cy="51206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505050"/>
                </a:solidFill>
                <a:latin typeface="맑은 고딕"/>
                <a:ea typeface="맑은 고딕"/>
              </a:rPr>
              <a:t>제각각인 999개 기관명을 정규식 규칙으로 7개 상위 개념(기관유형)으로 롤업(상향 일반화)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82296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맑은 고딕"/>
                <a:ea typeface="맑은 고딕"/>
              </a:rP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828800"/>
            <a:ext cx="4240462" cy="3858768"/>
          </a:xfrm>
          <a:prstGeom prst="rect">
            <a:avLst/>
          </a:prstGeom>
          <a:noFill/>
        </p:spPr>
        <p:txBody>
          <a:bodyPr wrap="square" lIns="25400" tIns="12700" rIns="25400" bIns="12700" anchor="t">
            <a:norm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• AOI(속성지향 귀납)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롤업</a:t>
            </a:r>
            <a:r>
              <a:rPr lang="en-US" sz="1500" dirty="0">
                <a:solidFill>
                  <a:srgbClr val="282D37"/>
                </a:solidFill>
                <a:latin typeface="맑은 고딕"/>
                <a:ea typeface="맑은 고딕"/>
              </a:rPr>
              <a:t>: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구체적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값을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상위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endParaRPr lang="en-US" sz="15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lang="en-US" sz="1500" dirty="0">
                <a:solidFill>
                  <a:srgbClr val="282D37"/>
                </a:solidFill>
                <a:latin typeface="맑은 고딕"/>
                <a:ea typeface="맑은 고딕"/>
              </a:rPr>
              <a:t> 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개념으로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끌어올리는 다계층 일반화(roll-up)</a:t>
            </a:r>
          </a:p>
          <a:p>
            <a:pPr lvl="1"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0" i="0" dirty="0">
                <a:solidFill>
                  <a:srgbClr val="505050"/>
                </a:solidFill>
                <a:latin typeface="맑은 고딕"/>
                <a:ea typeface="맑은 고딕"/>
              </a:rPr>
              <a:t>– 제각각인 999개 </a:t>
            </a:r>
            <a:r>
              <a:rPr lang="en-US" sz="1300" dirty="0" err="1">
                <a:solidFill>
                  <a:srgbClr val="505050"/>
                </a:solidFill>
                <a:latin typeface="맑은 고딕"/>
                <a:ea typeface="맑은 고딕"/>
              </a:rPr>
              <a:t>table_source</a:t>
            </a:r>
            <a:r>
              <a:rPr lang="en-US" sz="1300" dirty="0">
                <a:solidFill>
                  <a:srgbClr val="505050"/>
                </a:solidFill>
                <a:latin typeface="맑은 고딕"/>
                <a:ea typeface="맑은 고딕"/>
              </a:rPr>
              <a:t>(</a:t>
            </a:r>
            <a:r>
              <a:rPr lang="ko-KR" altLang="en-US" sz="1300" dirty="0">
                <a:solidFill>
                  <a:srgbClr val="505050"/>
                </a:solidFill>
                <a:latin typeface="맑은 고딕"/>
                <a:ea typeface="맑은 고딕"/>
              </a:rPr>
              <a:t>기관명</a:t>
            </a:r>
            <a:r>
              <a:rPr lang="en-US" altLang="ko-KR" sz="1300" dirty="0">
                <a:solidFill>
                  <a:srgbClr val="505050"/>
                </a:solidFill>
                <a:latin typeface="맑은 고딕"/>
                <a:ea typeface="맑은 고딕"/>
              </a:rPr>
              <a:t>)</a:t>
            </a:r>
            <a:r>
              <a:rPr lang="ko-KR" altLang="en-US" sz="1300" b="0" i="0" dirty="0">
                <a:solidFill>
                  <a:srgbClr val="505050"/>
                </a:solidFill>
                <a:latin typeface="맑은 고딕"/>
                <a:ea typeface="맑은 고딕"/>
              </a:rPr>
              <a:t>을 </a:t>
            </a:r>
            <a:r>
              <a:rPr lang="ko-KR" altLang="en-US" sz="1300" b="0" i="0" dirty="0" err="1">
                <a:solidFill>
                  <a:srgbClr val="505050"/>
                </a:solidFill>
                <a:latin typeface="맑은 고딕"/>
                <a:ea typeface="맑은 고딕"/>
              </a:rPr>
              <a:t>이산화하여</a:t>
            </a:r>
            <a:r>
              <a:rPr lang="ko-KR" altLang="en-US" sz="1300" b="0" i="0" dirty="0">
                <a:solidFill>
                  <a:srgbClr val="505050"/>
                </a:solidFill>
                <a:latin typeface="맑은 고딕"/>
                <a:ea typeface="맑은 고딕"/>
              </a:rPr>
              <a:t> 분석 </a:t>
            </a:r>
            <a:r>
              <a:rPr lang="en-US" altLang="ko-KR" sz="1300" b="0" i="0" dirty="0">
                <a:solidFill>
                  <a:srgbClr val="505050"/>
                </a:solidFill>
                <a:latin typeface="맑은 고딕"/>
                <a:ea typeface="맑은 고딕"/>
              </a:rPr>
              <a:t>feature</a:t>
            </a:r>
            <a:r>
              <a:rPr lang="ko-KR" altLang="en-US" sz="1300" b="0" i="0" dirty="0">
                <a:solidFill>
                  <a:srgbClr val="505050"/>
                </a:solidFill>
                <a:latin typeface="맑은 고딕"/>
                <a:ea typeface="맑은 고딕"/>
              </a:rPr>
              <a:t>로 활용</a:t>
            </a:r>
            <a:endParaRPr lang="en-US" altLang="ko-KR" sz="1300" b="0" i="0" dirty="0">
              <a:solidFill>
                <a:srgbClr val="505050"/>
              </a:solidFill>
              <a:latin typeface="맑은 고딕"/>
              <a:ea typeface="맑은 고딕"/>
            </a:endParaRPr>
          </a:p>
          <a:p>
            <a:pPr lvl="1"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endParaRPr sz="1300" b="0" i="0" dirty="0">
              <a:solidFill>
                <a:srgbClr val="505050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• 출처 롤업: table_source의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접미사·키워드를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endParaRPr lang="en-US" sz="15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lang="en-US" sz="1500" dirty="0">
                <a:solidFill>
                  <a:srgbClr val="282D37"/>
                </a:solidFill>
                <a:latin typeface="맑은 고딕"/>
                <a:ea typeface="맑은 고딕"/>
              </a:rPr>
              <a:t> 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정규식으로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매칭해 7개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기관유형으로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축약</a:t>
            </a:r>
            <a:endParaRPr sz="15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lvl="1"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0" i="0" dirty="0">
                <a:solidFill>
                  <a:srgbClr val="505050"/>
                </a:solidFill>
                <a:latin typeface="맑은 고딕"/>
                <a:ea typeface="맑은 고딕"/>
              </a:rPr>
              <a:t>– 우선순위로 1건씩 분류(교육→중앙→공공→광역→기초→미상→기타), ‘소스’·빈값은 </a:t>
            </a:r>
            <a:r>
              <a:rPr sz="1300" b="0" i="0" dirty="0" err="1">
                <a:solidFill>
                  <a:srgbClr val="505050"/>
                </a:solidFill>
                <a:latin typeface="맑은 고딕"/>
                <a:ea typeface="맑은 고딕"/>
              </a:rPr>
              <a:t>미상으로</a:t>
            </a:r>
            <a:r>
              <a:rPr sz="1300" b="0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300" b="0" i="0" dirty="0" err="1">
                <a:solidFill>
                  <a:srgbClr val="505050"/>
                </a:solidFill>
                <a:latin typeface="맑은 고딕"/>
                <a:ea typeface="맑은 고딕"/>
              </a:rPr>
              <a:t>분리</a:t>
            </a:r>
            <a:endParaRPr lang="en-US" sz="1300" b="0" i="0" dirty="0">
              <a:solidFill>
                <a:srgbClr val="505050"/>
              </a:solidFill>
              <a:latin typeface="맑은 고딕"/>
              <a:ea typeface="맑은 고딕"/>
            </a:endParaRPr>
          </a:p>
          <a:p>
            <a:pPr lvl="1"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endParaRPr sz="1300" b="0" i="0" dirty="0">
              <a:solidFill>
                <a:srgbClr val="505050"/>
              </a:solidFill>
              <a:latin typeface="맑은 고딕"/>
              <a:ea typeface="맑은 고딕"/>
            </a:endParaRPr>
          </a:p>
        </p:txBody>
      </p:sp>
      <p:sp>
        <p:nvSpPr>
          <p:cNvPr id="301" name="card-bg"/>
          <p:cNvSpPr/>
          <p:nvPr/>
        </p:nvSpPr>
        <p:spPr>
          <a:xfrm>
            <a:off x="4986223" y="1880178"/>
            <a:ext cx="1810512" cy="3703320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302" name="card-hdr"/>
          <p:cNvSpPr/>
          <p:nvPr/>
        </p:nvSpPr>
        <p:spPr>
          <a:xfrm>
            <a:off x="4986223" y="1880178"/>
            <a:ext cx="1810512" cy="310896"/>
          </a:xfrm>
          <a:prstGeom prst="roundRect">
            <a:avLst/>
          </a:prstGeom>
          <a:solidFill>
            <a:srgbClr val="081F46"/>
          </a:solidFill>
          <a:ln w="9525">
            <a:solidFill>
              <a:srgbClr val="081F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85000" lnSpcReduction="20000"/>
          </a:bodyPr>
          <a:lstStyle/>
          <a:p>
            <a:pPr algn="ctr"/>
            <a:endParaRPr/>
          </a:p>
        </p:txBody>
      </p:sp>
      <p:sp>
        <p:nvSpPr>
          <p:cNvPr id="303" name="card-title"/>
          <p:cNvSpPr txBox="1"/>
          <p:nvPr/>
        </p:nvSpPr>
        <p:spPr>
          <a:xfrm>
            <a:off x="4986223" y="1880178"/>
            <a:ext cx="1810512" cy="310896"/>
          </a:xfrm>
          <a:prstGeom prst="rect">
            <a:avLst/>
          </a:prstGeom>
          <a:noFill/>
        </p:spPr>
        <p:txBody>
          <a:bodyPr wrap="square" lIns="12700" tIns="6350" rIns="12700" bIns="6350" anchor="ctr">
            <a:norm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dirty="0">
                <a:solidFill>
                  <a:srgbClr val="FFFFFF"/>
                </a:solidFill>
                <a:latin typeface="맑은 고딕"/>
                <a:ea typeface="맑은 고딕"/>
              </a:rPr>
              <a:t>① </a:t>
            </a:r>
            <a:r>
              <a:rPr sz="12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원시</a:t>
            </a:r>
            <a:r>
              <a:rPr sz="1200" b="1" i="0" dirty="0">
                <a:solidFill>
                  <a:srgbClr val="FFFFFF"/>
                </a:solidFill>
                <a:latin typeface="맑은 고딕"/>
                <a:ea typeface="맑은 고딕"/>
              </a:rPr>
              <a:t> </a:t>
            </a:r>
            <a:r>
              <a:rPr sz="12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table_source</a:t>
            </a:r>
            <a:endParaRPr sz="1200" b="1" i="0" dirty="0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sp>
        <p:nvSpPr>
          <p:cNvPr id="304" name="card-body"/>
          <p:cNvSpPr txBox="1"/>
          <p:nvPr/>
        </p:nvSpPr>
        <p:spPr>
          <a:xfrm>
            <a:off x="5077663" y="2236794"/>
            <a:ext cx="1627632" cy="3300984"/>
          </a:xfrm>
          <a:prstGeom prst="rect">
            <a:avLst/>
          </a:prstGeom>
          <a:noFill/>
        </p:spPr>
        <p:txBody>
          <a:bodyPr wrap="square" lIns="12700" tIns="6350" rIns="12700" bIns="6350" anchor="t">
            <a:norm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100"/>
              </a:spcAft>
            </a:pPr>
            <a:r>
              <a:rPr sz="1400" b="1" i="0" dirty="0">
                <a:solidFill>
                  <a:srgbClr val="081F46"/>
                </a:solidFill>
                <a:latin typeface="맑은 고딕"/>
                <a:ea typeface="맑은 고딕"/>
              </a:rPr>
              <a:t>999개 </a:t>
            </a:r>
            <a:r>
              <a:rPr sz="14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자유</a:t>
            </a:r>
            <a:r>
              <a:rPr sz="1400" b="1" i="0" dirty="0">
                <a:solidFill>
                  <a:srgbClr val="081F46"/>
                </a:solidFill>
                <a:latin typeface="맑은 고딕"/>
                <a:ea typeface="맑은 고딕"/>
              </a:rPr>
              <a:t> </a:t>
            </a:r>
            <a:r>
              <a:rPr sz="14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기관명</a:t>
            </a:r>
            <a:endParaRPr sz="1400" b="1" i="0" dirty="0">
              <a:solidFill>
                <a:srgbClr val="081F46"/>
              </a:solidFill>
              <a:latin typeface="맑은 고딕"/>
              <a:ea typeface="맑은 고딕"/>
            </a:endParaRP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·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서울특별시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금천구</a:t>
            </a:r>
            <a:endParaRPr sz="12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·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한국사학진흥재단</a:t>
            </a:r>
            <a:endParaRPr sz="12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·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경상남도</a:t>
            </a:r>
            <a:endParaRPr sz="12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· ‘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소스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’(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빈값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)</a:t>
            </a:r>
          </a:p>
        </p:txBody>
      </p:sp>
      <p:sp>
        <p:nvSpPr>
          <p:cNvPr id="305" name="arrow1"/>
          <p:cNvSpPr txBox="1"/>
          <p:nvPr/>
        </p:nvSpPr>
        <p:spPr>
          <a:xfrm>
            <a:off x="6815023" y="1880178"/>
            <a:ext cx="310896" cy="3703320"/>
          </a:xfrm>
          <a:prstGeom prst="rect">
            <a:avLst/>
          </a:prstGeom>
          <a:noFill/>
        </p:spPr>
        <p:txBody>
          <a:bodyPr wrap="square" lIns="12700" tIns="6350" rIns="12700" bIns="6350" anchor="ctr">
            <a:norm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00965F"/>
                </a:solidFill>
                <a:latin typeface="맑은 고딕"/>
                <a:ea typeface="맑은 고딕"/>
              </a:rPr>
              <a:t>▶</a:t>
            </a:r>
          </a:p>
        </p:txBody>
      </p:sp>
      <p:sp>
        <p:nvSpPr>
          <p:cNvPr id="306" name="card-bg"/>
          <p:cNvSpPr/>
          <p:nvPr/>
        </p:nvSpPr>
        <p:spPr>
          <a:xfrm>
            <a:off x="7144207" y="1880178"/>
            <a:ext cx="2249424" cy="3703320"/>
          </a:xfrm>
          <a:prstGeom prst="roundRect">
            <a:avLst/>
          </a:prstGeom>
          <a:solidFill>
            <a:srgbClr val="E8F5F0"/>
          </a:solidFill>
          <a:ln w="9525">
            <a:solidFill>
              <a:srgbClr val="C7DE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307" name="card-hdr"/>
          <p:cNvSpPr/>
          <p:nvPr/>
        </p:nvSpPr>
        <p:spPr>
          <a:xfrm>
            <a:off x="7144207" y="1880178"/>
            <a:ext cx="2249424" cy="310896"/>
          </a:xfrm>
          <a:prstGeom prst="roundRect">
            <a:avLst/>
          </a:prstGeom>
          <a:solidFill>
            <a:srgbClr val="00965F"/>
          </a:solidFill>
          <a:ln w="9525">
            <a:solidFill>
              <a:srgbClr val="0096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85000" lnSpcReduction="20000"/>
          </a:bodyPr>
          <a:lstStyle/>
          <a:p>
            <a:pPr algn="ctr"/>
            <a:endParaRPr/>
          </a:p>
        </p:txBody>
      </p:sp>
      <p:sp>
        <p:nvSpPr>
          <p:cNvPr id="308" name="card-title"/>
          <p:cNvSpPr txBox="1"/>
          <p:nvPr/>
        </p:nvSpPr>
        <p:spPr>
          <a:xfrm>
            <a:off x="7144207" y="1880178"/>
            <a:ext cx="2249424" cy="310896"/>
          </a:xfrm>
          <a:prstGeom prst="rect">
            <a:avLst/>
          </a:prstGeom>
          <a:noFill/>
        </p:spPr>
        <p:txBody>
          <a:bodyPr wrap="square" lIns="12700" tIns="6350" rIns="12700" bIns="6350" anchor="ctr">
            <a:norm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맑은 고딕"/>
                <a:ea typeface="맑은 고딕"/>
              </a:rPr>
              <a:t>② 정규식 규칙</a:t>
            </a:r>
          </a:p>
        </p:txBody>
      </p:sp>
      <p:sp>
        <p:nvSpPr>
          <p:cNvPr id="309" name="card-body"/>
          <p:cNvSpPr txBox="1"/>
          <p:nvPr/>
        </p:nvSpPr>
        <p:spPr>
          <a:xfrm>
            <a:off x="7235647" y="2236794"/>
            <a:ext cx="2066544" cy="3300984"/>
          </a:xfrm>
          <a:prstGeom prst="rect">
            <a:avLst/>
          </a:prstGeom>
          <a:noFill/>
        </p:spPr>
        <p:txBody>
          <a:bodyPr wrap="square" lIns="12700" tIns="6350" rIns="12700" bIns="6350" anchor="t">
            <a:norm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 i="0" dirty="0" err="1">
                <a:solidFill>
                  <a:srgbClr val="505050"/>
                </a:solidFill>
                <a:latin typeface="맑은 고딕"/>
                <a:ea typeface="맑은 고딕"/>
              </a:rPr>
              <a:t>기관명</a:t>
            </a:r>
            <a:r>
              <a:rPr sz="1100" b="0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100" b="0" i="0" dirty="0" err="1">
                <a:solidFill>
                  <a:srgbClr val="505050"/>
                </a:solidFill>
                <a:latin typeface="맑은 고딕"/>
                <a:ea typeface="맑은 고딕"/>
              </a:rPr>
              <a:t>접미사·키워드</a:t>
            </a:r>
            <a:r>
              <a:rPr sz="1100" b="0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100" b="0" i="0" dirty="0" err="1">
                <a:solidFill>
                  <a:srgbClr val="505050"/>
                </a:solidFill>
                <a:latin typeface="맑은 고딕"/>
                <a:ea typeface="맑은 고딕"/>
              </a:rPr>
              <a:t>매칭</a:t>
            </a:r>
            <a:endParaRPr sz="1100" b="0" i="0" dirty="0">
              <a:solidFill>
                <a:srgbClr val="505050"/>
              </a:solidFill>
              <a:latin typeface="맑은 고딕"/>
              <a:ea typeface="맑은 고딕"/>
            </a:endParaRP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·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교육청·대학교·학교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→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교육</a:t>
            </a:r>
            <a:endParaRPr sz="12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·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부·청·위원회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→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중앙행정</a:t>
            </a:r>
            <a:endParaRPr sz="12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·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공단·재단·병원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→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공공기관</a:t>
            </a:r>
            <a:endParaRPr sz="12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·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특별시·도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→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광역지자체</a:t>
            </a:r>
            <a:endParaRPr sz="12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·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시·군·구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→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기초지자체</a:t>
            </a:r>
            <a:endParaRPr sz="12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· 그 외 →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기타</a:t>
            </a:r>
            <a:endParaRPr lang="en-US" sz="12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>
              <a:lnSpc>
                <a:spcPct val="124000"/>
              </a:lnSpc>
              <a:spcAft>
                <a:spcPts val="100"/>
              </a:spcAft>
            </a:pPr>
            <a:r>
              <a:rPr lang="en-US" altLang="ko-KR" sz="1200" b="1" dirty="0">
                <a:solidFill>
                  <a:srgbClr val="00965F"/>
                </a:solidFill>
                <a:latin typeface="맑은 고딕"/>
                <a:ea typeface="맑은 고딕"/>
              </a:rPr>
              <a:t>· ‘</a:t>
            </a:r>
            <a:r>
              <a:rPr lang="ko-KR" altLang="en-US" sz="1200" b="1" dirty="0">
                <a:solidFill>
                  <a:srgbClr val="00965F"/>
                </a:solidFill>
                <a:latin typeface="맑은 고딕"/>
                <a:ea typeface="맑은 고딕"/>
              </a:rPr>
              <a:t>소스’</a:t>
            </a:r>
            <a:r>
              <a:rPr lang="en-US" altLang="ko-KR" sz="1200" b="1" dirty="0">
                <a:solidFill>
                  <a:srgbClr val="00965F"/>
                </a:solidFill>
                <a:latin typeface="맑은 고딕"/>
                <a:ea typeface="맑은 고딕"/>
              </a:rPr>
              <a:t>·</a:t>
            </a:r>
            <a:r>
              <a:rPr lang="ko-KR" altLang="en-US" sz="1200" b="1" dirty="0" err="1">
                <a:solidFill>
                  <a:srgbClr val="00965F"/>
                </a:solidFill>
                <a:latin typeface="맑은 고딕"/>
                <a:ea typeface="맑은 고딕"/>
              </a:rPr>
              <a:t>빈값</a:t>
            </a:r>
            <a:r>
              <a:rPr lang="ko-KR" altLang="en-US" sz="1200" b="1" dirty="0">
                <a:solidFill>
                  <a:srgbClr val="00965F"/>
                </a:solidFill>
                <a:latin typeface="맑은 고딕"/>
                <a:ea typeface="맑은 고딕"/>
              </a:rPr>
              <a:t> → 미상</a:t>
            </a:r>
          </a:p>
        </p:txBody>
      </p:sp>
      <p:sp>
        <p:nvSpPr>
          <p:cNvPr id="310" name="arrow2"/>
          <p:cNvSpPr txBox="1"/>
          <p:nvPr/>
        </p:nvSpPr>
        <p:spPr>
          <a:xfrm>
            <a:off x="9411919" y="1880178"/>
            <a:ext cx="310896" cy="3703320"/>
          </a:xfrm>
          <a:prstGeom prst="rect">
            <a:avLst/>
          </a:prstGeom>
          <a:noFill/>
        </p:spPr>
        <p:txBody>
          <a:bodyPr wrap="square" lIns="12700" tIns="6350" rIns="12700" bIns="6350" anchor="ctr">
            <a:norm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00965F"/>
                </a:solidFill>
                <a:latin typeface="맑은 고딕"/>
                <a:ea typeface="맑은 고딕"/>
              </a:rPr>
              <a:t>▶</a:t>
            </a:r>
          </a:p>
        </p:txBody>
      </p:sp>
      <p:sp>
        <p:nvSpPr>
          <p:cNvPr id="311" name="card-bg"/>
          <p:cNvSpPr/>
          <p:nvPr/>
        </p:nvSpPr>
        <p:spPr>
          <a:xfrm>
            <a:off x="9741103" y="1880178"/>
            <a:ext cx="2176272" cy="3703320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312" name="card-hdr"/>
          <p:cNvSpPr/>
          <p:nvPr/>
        </p:nvSpPr>
        <p:spPr>
          <a:xfrm>
            <a:off x="9741103" y="1880178"/>
            <a:ext cx="2176272" cy="310896"/>
          </a:xfrm>
          <a:prstGeom prst="roundRect">
            <a:avLst/>
          </a:prstGeom>
          <a:solidFill>
            <a:srgbClr val="081F46"/>
          </a:solidFill>
          <a:ln w="9525">
            <a:solidFill>
              <a:srgbClr val="081F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85000" lnSpcReduction="20000"/>
          </a:bodyPr>
          <a:lstStyle/>
          <a:p>
            <a:pPr algn="ctr"/>
            <a:endParaRPr/>
          </a:p>
        </p:txBody>
      </p:sp>
      <p:sp>
        <p:nvSpPr>
          <p:cNvPr id="313" name="card-title"/>
          <p:cNvSpPr txBox="1"/>
          <p:nvPr/>
        </p:nvSpPr>
        <p:spPr>
          <a:xfrm>
            <a:off x="9741103" y="1880178"/>
            <a:ext cx="2176272" cy="310896"/>
          </a:xfrm>
          <a:prstGeom prst="rect">
            <a:avLst/>
          </a:prstGeom>
          <a:noFill/>
        </p:spPr>
        <p:txBody>
          <a:bodyPr wrap="square" lIns="12700" tIns="6350" rIns="12700" bIns="6350" anchor="ctr">
            <a:norm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맑은 고딕"/>
                <a:ea typeface="맑은 고딕"/>
              </a:rPr>
              <a:t>③ 7개 기관유형</a:t>
            </a:r>
          </a:p>
        </p:txBody>
      </p:sp>
      <p:sp>
        <p:nvSpPr>
          <p:cNvPr id="314" name="card-body"/>
          <p:cNvSpPr txBox="1"/>
          <p:nvPr/>
        </p:nvSpPr>
        <p:spPr>
          <a:xfrm>
            <a:off x="9832543" y="2236794"/>
            <a:ext cx="1993392" cy="3300984"/>
          </a:xfrm>
          <a:prstGeom prst="rect">
            <a:avLst/>
          </a:prstGeom>
          <a:noFill/>
        </p:spPr>
        <p:txBody>
          <a:bodyPr wrap="square" lIns="12700" tIns="6350" rIns="12700" bIns="6350" anchor="t">
            <a:norm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1" i="0" dirty="0">
                <a:solidFill>
                  <a:srgbClr val="081F46"/>
                </a:solidFill>
                <a:latin typeface="맑은 고딕"/>
                <a:ea typeface="맑은 고딕"/>
              </a:rPr>
              <a:t>7개 </a:t>
            </a:r>
            <a:r>
              <a:rPr sz="12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기관유형</a:t>
            </a:r>
            <a:r>
              <a:rPr sz="1200" b="1" i="0" dirty="0">
                <a:solidFill>
                  <a:srgbClr val="081F46"/>
                </a:solidFill>
                <a:latin typeface="맑은 고딕"/>
                <a:ea typeface="맑은 고딕"/>
              </a:rPr>
              <a:t> (</a:t>
            </a:r>
            <a:r>
              <a:rPr sz="12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테이블</a:t>
            </a:r>
            <a:r>
              <a:rPr sz="1200" b="1" i="0" dirty="0">
                <a:solidFill>
                  <a:srgbClr val="081F46"/>
                </a:solidFill>
                <a:latin typeface="맑은 고딕"/>
                <a:ea typeface="맑은 고딕"/>
              </a:rPr>
              <a:t> 수)</a:t>
            </a: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·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기초지자체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 404</a:t>
            </a: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·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공공기관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 245</a:t>
            </a: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·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광역지자체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 83</a:t>
            </a: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·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교육기관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 49</a:t>
            </a: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·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중앙행정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 39</a:t>
            </a: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·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기타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 34</a:t>
            </a:r>
            <a:endParaRPr lang="en-US" sz="12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>
              <a:lnSpc>
                <a:spcPct val="124000"/>
              </a:lnSpc>
              <a:spcAft>
                <a:spcPts val="100"/>
              </a:spcAft>
            </a:pPr>
            <a:r>
              <a:rPr lang="en-US" altLang="ko-KR" sz="1200" b="1" dirty="0">
                <a:solidFill>
                  <a:srgbClr val="00965F"/>
                </a:solidFill>
                <a:latin typeface="맑은 고딕"/>
                <a:ea typeface="맑은 고딕"/>
              </a:rPr>
              <a:t>· </a:t>
            </a:r>
            <a:r>
              <a:rPr lang="ko-KR" altLang="en-US" sz="1200" b="1" dirty="0">
                <a:solidFill>
                  <a:srgbClr val="00965F"/>
                </a:solidFill>
                <a:latin typeface="맑은 고딕"/>
                <a:ea typeface="맑은 고딕"/>
              </a:rPr>
              <a:t>미상</a:t>
            </a:r>
            <a:r>
              <a:rPr lang="en-US" altLang="ko-KR" sz="1200" b="1" dirty="0">
                <a:solidFill>
                  <a:srgbClr val="00965F"/>
                </a:solidFill>
                <a:latin typeface="맑은 고딕"/>
                <a:ea typeface="맑은 고딕"/>
              </a:rPr>
              <a:t>(</a:t>
            </a:r>
            <a:r>
              <a:rPr lang="ko-KR" altLang="en-US" sz="1200" b="1" dirty="0">
                <a:solidFill>
                  <a:srgbClr val="00965F"/>
                </a:solidFill>
                <a:latin typeface="맑은 고딕"/>
                <a:ea typeface="맑은 고딕"/>
              </a:rPr>
              <a:t>소스</a:t>
            </a:r>
            <a:r>
              <a:rPr lang="en-US" altLang="ko-KR" sz="1200" b="1" dirty="0">
                <a:solidFill>
                  <a:srgbClr val="00965F"/>
                </a:solidFill>
                <a:latin typeface="맑은 고딕"/>
                <a:ea typeface="맑은 고딕"/>
              </a:rPr>
              <a:t>)  145</a:t>
            </a: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100"/>
              </a:spcAft>
            </a:pPr>
            <a:endParaRPr sz="1200" b="0" i="0" dirty="0">
              <a:solidFill>
                <a:srgbClr val="282D37"/>
              </a:solidFill>
              <a:latin typeface="맑은 고딕"/>
              <a:ea typeface="맑은 고딕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09728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65F"/>
                </a:solidFill>
                <a:latin typeface="맑은 고딕"/>
                <a:ea typeface="맑은 고딕"/>
              </a:rPr>
              <a:t>공통 전처리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6766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81F46"/>
                </a:solidFill>
                <a:latin typeface="맑은 고딕"/>
                <a:ea typeface="맑은 고딕"/>
              </a:rPr>
              <a:t>공통 데이터 준비 ④ 트랜잭션·패턴·검증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1057839" cy="2794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1170432"/>
            <a:ext cx="11057839" cy="51206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505050"/>
                </a:solidFill>
                <a:latin typeface="맑은 고딕"/>
                <a:ea typeface="맑은 고딕"/>
              </a:rPr>
              <a:t>테이블을 거래로 보고 두 종류 아이템으로 FP-Growth·연관규칙·검증 수행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82296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맑은 고딕"/>
                <a:ea typeface="맑은 고딕"/>
              </a:rP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828800"/>
            <a:ext cx="4864246" cy="3802451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트랜잭션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: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테이블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1건 = 1 transaction</a:t>
            </a:r>
            <a:endParaRPr lang="en-US" sz="15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endParaRPr sz="15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아이템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(A)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속성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: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cate·기관·레코드·컬럼폭·수치비·유일키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·</a:t>
            </a:r>
            <a:endParaRPr lang="en-US" sz="15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lang="en-US" sz="1500" dirty="0">
                <a:solidFill>
                  <a:srgbClr val="282D37"/>
                </a:solidFill>
                <a:latin typeface="맑은 고딕"/>
                <a:ea typeface="맑은 고딕"/>
              </a:rPr>
              <a:t> 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상수컬럼</a:t>
            </a:r>
            <a:endParaRPr lang="en-US" sz="15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endParaRPr sz="15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아이템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(B)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장바구니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: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테이블이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보유한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컬럼개념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집합</a:t>
            </a:r>
            <a:endParaRPr lang="en-US" sz="15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lang="en-US" sz="1500" dirty="0">
                <a:solidFill>
                  <a:srgbClr val="282D37"/>
                </a:solidFill>
                <a:latin typeface="맑은 고딕"/>
                <a:ea typeface="맑은 고딕"/>
              </a:rPr>
              <a:t>  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(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평균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9.6개)</a:t>
            </a:r>
            <a:endParaRPr lang="en-US" sz="15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endParaRPr sz="15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• FP-Growth</a:t>
            </a:r>
            <a:r>
              <a:rPr lang="en-US"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→</a:t>
            </a:r>
            <a:r>
              <a:rPr lang="en-US"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association_rules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(lift)</a:t>
            </a:r>
            <a:endParaRPr lang="en-US" sz="15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endParaRPr sz="15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검증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: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전체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999건에서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지표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재계산</a:t>
            </a:r>
            <a:r>
              <a:rPr lang="en-US" sz="150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lang="ko-KR" altLang="en-US" sz="1500" dirty="0">
                <a:solidFill>
                  <a:srgbClr val="282D37"/>
                </a:solidFill>
                <a:latin typeface="맑은 고딕"/>
                <a:ea typeface="맑은 고딕"/>
              </a:rPr>
              <a:t>수행</a:t>
            </a:r>
            <a:endParaRPr sz="1500" b="0" i="0" dirty="0">
              <a:solidFill>
                <a:srgbClr val="282D37"/>
              </a:solidFill>
              <a:latin typeface="맑은 고딕"/>
              <a:ea typeface="맑은 고딕"/>
            </a:endParaRPr>
          </a:p>
        </p:txBody>
      </p:sp>
      <p:sp>
        <p:nvSpPr>
          <p:cNvPr id="401" name="card-bg"/>
          <p:cNvSpPr/>
          <p:nvPr/>
        </p:nvSpPr>
        <p:spPr>
          <a:xfrm>
            <a:off x="5522614" y="1828800"/>
            <a:ext cx="6071978" cy="859536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402" name="card-hdr"/>
          <p:cNvSpPr/>
          <p:nvPr/>
        </p:nvSpPr>
        <p:spPr>
          <a:xfrm>
            <a:off x="5522614" y="1828800"/>
            <a:ext cx="6071978" cy="292608"/>
          </a:xfrm>
          <a:prstGeom prst="roundRect">
            <a:avLst/>
          </a:prstGeom>
          <a:solidFill>
            <a:srgbClr val="081F46"/>
          </a:solidFill>
          <a:ln w="9525">
            <a:solidFill>
              <a:srgbClr val="081F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70000" lnSpcReduction="20000"/>
          </a:bodyPr>
          <a:lstStyle/>
          <a:p>
            <a:pPr algn="ctr"/>
            <a:endParaRPr/>
          </a:p>
        </p:txBody>
      </p:sp>
      <p:sp>
        <p:nvSpPr>
          <p:cNvPr id="403" name="card-title"/>
          <p:cNvSpPr txBox="1"/>
          <p:nvPr/>
        </p:nvSpPr>
        <p:spPr>
          <a:xfrm>
            <a:off x="5522614" y="1828800"/>
            <a:ext cx="6071978" cy="292608"/>
          </a:xfrm>
          <a:prstGeom prst="rect">
            <a:avLst/>
          </a:prstGeom>
          <a:noFill/>
        </p:spPr>
        <p:txBody>
          <a:bodyPr wrap="square" lIns="12700" tIns="6350" rIns="12700" bIns="6350" anchor="ctr">
            <a:norm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예시</a:t>
            </a:r>
            <a:r>
              <a:rPr sz="1400" b="1" i="0" dirty="0">
                <a:solidFill>
                  <a:srgbClr val="FFFFFF"/>
                </a:solidFill>
                <a:latin typeface="맑은 고딕"/>
                <a:ea typeface="맑은 고딕"/>
              </a:rPr>
              <a:t> </a:t>
            </a:r>
            <a:r>
              <a:rPr sz="14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테이블</a:t>
            </a:r>
            <a:r>
              <a:rPr sz="1400" b="1" i="0" dirty="0">
                <a:solidFill>
                  <a:srgbClr val="FFFFFF"/>
                </a:solidFill>
                <a:latin typeface="맑은 고딕"/>
                <a:ea typeface="맑은 고딕"/>
              </a:rPr>
              <a:t> 1건</a:t>
            </a:r>
          </a:p>
        </p:txBody>
      </p:sp>
      <p:sp>
        <p:nvSpPr>
          <p:cNvPr id="404" name="card-body"/>
          <p:cNvSpPr txBox="1"/>
          <p:nvPr/>
        </p:nvSpPr>
        <p:spPr>
          <a:xfrm>
            <a:off x="5667468" y="2157984"/>
            <a:ext cx="5835683" cy="493776"/>
          </a:xfrm>
          <a:prstGeom prst="rect">
            <a:avLst/>
          </a:prstGeom>
          <a:noFill/>
        </p:spPr>
        <p:txBody>
          <a:bodyPr wrap="square" lIns="12700" tIns="6350" rIns="12700" bIns="6350" anchor="t">
            <a:norm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전북특별자치도</a:t>
            </a:r>
            <a:r>
              <a:rPr sz="1200" b="1" i="0" dirty="0">
                <a:solidFill>
                  <a:srgbClr val="081F46"/>
                </a:solidFill>
                <a:latin typeface="맑은 고딕"/>
                <a:ea typeface="맑은 고딕"/>
              </a:rPr>
              <a:t> 무주군_행정기관_20240831.csv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rec_cnt</a:t>
            </a:r>
            <a:r>
              <a:rPr sz="1100" b="0" i="0" dirty="0">
                <a:solidFill>
                  <a:srgbClr val="282D37"/>
                </a:solidFill>
                <a:latin typeface="맑은 고딕"/>
                <a:ea typeface="맑은 고딕"/>
              </a:rPr>
              <a:t>=157 · </a:t>
            </a:r>
            <a:r>
              <a:rPr sz="11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column_cnt</a:t>
            </a:r>
            <a:r>
              <a:rPr sz="1100" b="0" i="0" dirty="0">
                <a:solidFill>
                  <a:srgbClr val="282D37"/>
                </a:solidFill>
                <a:latin typeface="맑은 고딕"/>
                <a:ea typeface="맑은 고딕"/>
              </a:rPr>
              <a:t>=7 (</a:t>
            </a:r>
            <a:r>
              <a:rPr sz="11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범주</a:t>
            </a:r>
            <a:r>
              <a:rPr sz="1100" b="0" i="0" dirty="0">
                <a:solidFill>
                  <a:srgbClr val="282D37"/>
                </a:solidFill>
                <a:latin typeface="맑은 고딕"/>
                <a:ea typeface="맑은 고딕"/>
              </a:rPr>
              <a:t> 5·수치 2) · </a:t>
            </a:r>
            <a:r>
              <a:rPr sz="11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출처</a:t>
            </a:r>
            <a:r>
              <a:rPr sz="1100" b="0" i="0" dirty="0">
                <a:solidFill>
                  <a:srgbClr val="282D37"/>
                </a:solidFill>
                <a:latin typeface="맑은 고딕"/>
                <a:ea typeface="맑은 고딕"/>
              </a:rPr>
              <a:t>=‘</a:t>
            </a:r>
            <a:r>
              <a:rPr sz="11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전북특별자치도</a:t>
            </a:r>
            <a:r>
              <a:rPr sz="11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1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무주군</a:t>
            </a:r>
            <a:r>
              <a:rPr sz="1100" b="0" i="0" dirty="0">
                <a:solidFill>
                  <a:srgbClr val="282D37"/>
                </a:solidFill>
                <a:latin typeface="맑은 고딕"/>
                <a:ea typeface="맑은 고딕"/>
              </a:rPr>
              <a:t>’</a:t>
            </a:r>
          </a:p>
        </p:txBody>
      </p:sp>
      <p:sp>
        <p:nvSpPr>
          <p:cNvPr id="405" name="arrow1"/>
          <p:cNvSpPr txBox="1"/>
          <p:nvPr/>
        </p:nvSpPr>
        <p:spPr>
          <a:xfrm>
            <a:off x="4510735" y="2870495"/>
            <a:ext cx="7114032" cy="274320"/>
          </a:xfrm>
          <a:prstGeom prst="rect">
            <a:avLst/>
          </a:prstGeom>
          <a:noFill/>
        </p:spPr>
        <p:txBody>
          <a:bodyPr wrap="square" lIns="12700" tIns="6350" rIns="12700" bIns="6350" anchor="ctr">
            <a:norm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dirty="0">
                <a:solidFill>
                  <a:srgbClr val="00965F"/>
                </a:solidFill>
                <a:latin typeface="맑은 고딕"/>
                <a:ea typeface="맑은 고딕"/>
              </a:rPr>
              <a:t>▼  ① 1D </a:t>
            </a:r>
            <a:r>
              <a:rPr sz="1200" b="1" i="0" dirty="0" err="1">
                <a:solidFill>
                  <a:srgbClr val="00965F"/>
                </a:solidFill>
                <a:latin typeface="맑은 고딕"/>
                <a:ea typeface="맑은 고딕"/>
              </a:rPr>
              <a:t>이산화</a:t>
            </a:r>
            <a:r>
              <a:rPr sz="1200" b="1" i="0" dirty="0">
                <a:solidFill>
                  <a:srgbClr val="00965F"/>
                </a:solidFill>
                <a:latin typeface="맑은 고딕"/>
                <a:ea typeface="맑은 고딕"/>
              </a:rPr>
              <a:t>(6p) · ② AOI </a:t>
            </a:r>
            <a:r>
              <a:rPr sz="1200" b="1" i="0" dirty="0" err="1">
                <a:solidFill>
                  <a:srgbClr val="00965F"/>
                </a:solidFill>
                <a:latin typeface="맑은 고딕"/>
                <a:ea typeface="맑은 고딕"/>
              </a:rPr>
              <a:t>롤업</a:t>
            </a:r>
            <a:r>
              <a:rPr sz="1200" b="1" i="0" dirty="0">
                <a:solidFill>
                  <a:srgbClr val="00965F"/>
                </a:solidFill>
                <a:latin typeface="맑은 고딕"/>
                <a:ea typeface="맑은 고딕"/>
              </a:rPr>
              <a:t>(7p) </a:t>
            </a:r>
            <a:r>
              <a:rPr sz="1200" b="1" i="0" dirty="0" err="1">
                <a:solidFill>
                  <a:srgbClr val="00965F"/>
                </a:solidFill>
                <a:latin typeface="맑은 고딕"/>
                <a:ea typeface="맑은 고딕"/>
              </a:rPr>
              <a:t>적용</a:t>
            </a:r>
            <a:r>
              <a:rPr sz="1200" b="1" i="0" dirty="0">
                <a:solidFill>
                  <a:srgbClr val="00965F"/>
                </a:solidFill>
                <a:latin typeface="맑은 고딕"/>
                <a:ea typeface="맑은 고딕"/>
              </a:rPr>
              <a:t> → </a:t>
            </a:r>
            <a:r>
              <a:rPr sz="1200" b="1" i="0" dirty="0" err="1">
                <a:solidFill>
                  <a:srgbClr val="00965F"/>
                </a:solidFill>
                <a:latin typeface="맑은 고딕"/>
                <a:ea typeface="맑은 고딕"/>
              </a:rPr>
              <a:t>아이템</a:t>
            </a:r>
            <a:r>
              <a:rPr sz="1200" b="1" i="0" dirty="0">
                <a:solidFill>
                  <a:srgbClr val="00965F"/>
                </a:solidFill>
                <a:latin typeface="맑은 고딕"/>
                <a:ea typeface="맑은 고딕"/>
              </a:rPr>
              <a:t> </a:t>
            </a:r>
            <a:r>
              <a:rPr sz="1200" b="1" i="0" dirty="0" err="1">
                <a:solidFill>
                  <a:srgbClr val="00965F"/>
                </a:solidFill>
                <a:latin typeface="맑은 고딕"/>
                <a:ea typeface="맑은 고딕"/>
              </a:rPr>
              <a:t>생성</a:t>
            </a:r>
            <a:endParaRPr sz="1200" b="1" i="0" dirty="0">
              <a:solidFill>
                <a:srgbClr val="00965F"/>
              </a:solidFill>
              <a:latin typeface="맑은 고딕"/>
              <a:ea typeface="맑은 고딕"/>
            </a:endParaRPr>
          </a:p>
        </p:txBody>
      </p:sp>
      <p:sp>
        <p:nvSpPr>
          <p:cNvPr id="406" name="basket-bg"/>
          <p:cNvSpPr/>
          <p:nvPr/>
        </p:nvSpPr>
        <p:spPr>
          <a:xfrm>
            <a:off x="5522614" y="3589882"/>
            <a:ext cx="6071978" cy="2317137"/>
          </a:xfrm>
          <a:prstGeom prst="roundRect">
            <a:avLst/>
          </a:prstGeom>
          <a:solidFill>
            <a:srgbClr val="E8F5F0"/>
          </a:solidFill>
          <a:ln w="9525">
            <a:solidFill>
              <a:srgbClr val="C7DE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407" name="basket-hdr"/>
          <p:cNvSpPr/>
          <p:nvPr/>
        </p:nvSpPr>
        <p:spPr>
          <a:xfrm>
            <a:off x="5522614" y="3597302"/>
            <a:ext cx="6071978" cy="292608"/>
          </a:xfrm>
          <a:prstGeom prst="roundRect">
            <a:avLst/>
          </a:prstGeom>
          <a:solidFill>
            <a:srgbClr val="00965F"/>
          </a:solidFill>
          <a:ln w="9525">
            <a:solidFill>
              <a:srgbClr val="0096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70000" lnSpcReduction="20000"/>
          </a:bodyPr>
          <a:lstStyle/>
          <a:p>
            <a:pPr algn="ctr"/>
            <a:endParaRPr/>
          </a:p>
        </p:txBody>
      </p:sp>
      <p:sp>
        <p:nvSpPr>
          <p:cNvPr id="408" name="basket-title"/>
          <p:cNvSpPr txBox="1"/>
          <p:nvPr/>
        </p:nvSpPr>
        <p:spPr>
          <a:xfrm>
            <a:off x="5522614" y="3597302"/>
            <a:ext cx="6071978" cy="292608"/>
          </a:xfrm>
          <a:prstGeom prst="rect">
            <a:avLst/>
          </a:prstGeom>
          <a:noFill/>
        </p:spPr>
        <p:txBody>
          <a:bodyPr wrap="square" lIns="12700" tIns="6350" rIns="12700" bIns="6350" anchor="ctr">
            <a:norm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트랜잭션</a:t>
            </a:r>
            <a:r>
              <a:rPr sz="1400" b="1" i="0" dirty="0">
                <a:solidFill>
                  <a:srgbClr val="FFFFFF"/>
                </a:solidFill>
                <a:latin typeface="맑은 고딕"/>
                <a:ea typeface="맑은 고딕"/>
              </a:rPr>
              <a:t>(</a:t>
            </a:r>
            <a:r>
              <a:rPr sz="14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장바구니</a:t>
            </a:r>
            <a:r>
              <a:rPr sz="1400" b="1" i="0" dirty="0">
                <a:solidFill>
                  <a:srgbClr val="FFFFFF"/>
                </a:solidFill>
                <a:latin typeface="맑은 고딕"/>
                <a:ea typeface="맑은 고딕"/>
              </a:rPr>
              <a:t>) = </a:t>
            </a:r>
            <a:r>
              <a:rPr sz="14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테이블</a:t>
            </a:r>
            <a:r>
              <a:rPr sz="1400" b="1" i="0" dirty="0">
                <a:solidFill>
                  <a:srgbClr val="FFFFFF"/>
                </a:solidFill>
                <a:latin typeface="맑은 고딕"/>
                <a:ea typeface="맑은 고딕"/>
              </a:rPr>
              <a:t> 1건 = 1 </a:t>
            </a:r>
            <a:r>
              <a:rPr sz="14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거래</a:t>
            </a:r>
            <a:endParaRPr sz="1400" b="1" i="0" dirty="0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sp>
        <p:nvSpPr>
          <p:cNvPr id="409" name="subA"/>
          <p:cNvSpPr txBox="1"/>
          <p:nvPr/>
        </p:nvSpPr>
        <p:spPr>
          <a:xfrm>
            <a:off x="5667468" y="4051153"/>
            <a:ext cx="5780820" cy="201168"/>
          </a:xfrm>
          <a:prstGeom prst="rect">
            <a:avLst/>
          </a:prstGeom>
          <a:noFill/>
        </p:spPr>
        <p:txBody>
          <a:bodyPr wrap="square" lIns="12700" tIns="6350" rIns="12700" bIns="635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dirty="0">
                <a:solidFill>
                  <a:srgbClr val="081F46"/>
                </a:solidFill>
                <a:latin typeface="맑은 고딕"/>
                <a:ea typeface="맑은 고딕"/>
              </a:rPr>
              <a:t>① </a:t>
            </a:r>
            <a:r>
              <a:rPr sz="12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속성</a:t>
            </a:r>
            <a:r>
              <a:rPr sz="1200" b="1" i="0" dirty="0">
                <a:solidFill>
                  <a:srgbClr val="081F46"/>
                </a:solidFill>
                <a:latin typeface="맑은 고딕"/>
                <a:ea typeface="맑은 고딕"/>
              </a:rPr>
              <a:t> </a:t>
            </a:r>
            <a:r>
              <a:rPr sz="12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아이템</a:t>
            </a:r>
            <a:endParaRPr sz="1200" b="1" i="0" dirty="0">
              <a:solidFill>
                <a:srgbClr val="081F46"/>
              </a:solidFill>
              <a:latin typeface="맑은 고딕"/>
              <a:ea typeface="맑은 고딕"/>
            </a:endParaRPr>
          </a:p>
        </p:txBody>
      </p:sp>
      <p:sp>
        <p:nvSpPr>
          <p:cNvPr id="410" name="attrA"/>
          <p:cNvSpPr txBox="1"/>
          <p:nvPr/>
        </p:nvSpPr>
        <p:spPr>
          <a:xfrm>
            <a:off x="5667468" y="4243177"/>
            <a:ext cx="5780820" cy="420624"/>
          </a:xfrm>
          <a:prstGeom prst="rect">
            <a:avLst/>
          </a:prstGeom>
          <a:noFill/>
        </p:spPr>
        <p:txBody>
          <a:bodyPr wrap="square" lIns="12700" tIns="6350" rIns="12700" bIns="6350" anchor="t">
            <a:norm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dirty="0">
                <a:solidFill>
                  <a:srgbClr val="282D37"/>
                </a:solidFill>
                <a:latin typeface="맑은 고딕"/>
                <a:ea typeface="맑은 고딕"/>
              </a:rPr>
              <a:t>cate1=</a:t>
            </a:r>
            <a:r>
              <a:rPr sz="11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공공행정</a:t>
            </a:r>
            <a:r>
              <a:rPr sz="1100" b="0" i="0" dirty="0">
                <a:solidFill>
                  <a:srgbClr val="282D37"/>
                </a:solidFill>
                <a:latin typeface="맑은 고딕"/>
                <a:ea typeface="맑은 고딕"/>
              </a:rPr>
              <a:t> · cate2=</a:t>
            </a:r>
            <a:r>
              <a:rPr sz="11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일반행정</a:t>
            </a:r>
            <a:r>
              <a:rPr sz="1100" b="0" i="0" dirty="0">
                <a:solidFill>
                  <a:srgbClr val="282D37"/>
                </a:solidFill>
                <a:latin typeface="맑은 고딕"/>
                <a:ea typeface="맑은 고딕"/>
              </a:rPr>
              <a:t> · </a:t>
            </a:r>
            <a:r>
              <a:rPr sz="1100" b="1" i="0" dirty="0" err="1">
                <a:solidFill>
                  <a:srgbClr val="00965F"/>
                </a:solidFill>
                <a:latin typeface="맑은 고딕"/>
                <a:ea typeface="맑은 고딕"/>
              </a:rPr>
              <a:t>레코드</a:t>
            </a:r>
            <a:r>
              <a:rPr lang="en-US" sz="1100" b="1" i="0" dirty="0">
                <a:solidFill>
                  <a:srgbClr val="00965F"/>
                </a:solidFill>
                <a:latin typeface="맑은 고딕"/>
                <a:ea typeface="맑은 고딕"/>
              </a:rPr>
              <a:t> </a:t>
            </a:r>
            <a:r>
              <a:rPr lang="ko-KR" altLang="en-US" sz="1100" b="1" i="0" dirty="0">
                <a:solidFill>
                  <a:srgbClr val="00965F"/>
                </a:solidFill>
                <a:latin typeface="맑은 고딕"/>
                <a:ea typeface="맑은 고딕"/>
              </a:rPr>
              <a:t>수</a:t>
            </a:r>
            <a:r>
              <a:rPr sz="1100" b="1" i="0" dirty="0">
                <a:solidFill>
                  <a:srgbClr val="00965F"/>
                </a:solidFill>
                <a:latin typeface="맑은 고딕"/>
                <a:ea typeface="맑은 고딕"/>
              </a:rPr>
              <a:t>=중 · </a:t>
            </a:r>
            <a:r>
              <a:rPr sz="1100" b="1" i="0" dirty="0" err="1">
                <a:solidFill>
                  <a:srgbClr val="00965F"/>
                </a:solidFill>
                <a:latin typeface="맑은 고딕"/>
                <a:ea typeface="맑은 고딕"/>
              </a:rPr>
              <a:t>컬럼폭</a:t>
            </a:r>
            <a:r>
              <a:rPr sz="1100" b="1" i="0" dirty="0">
                <a:solidFill>
                  <a:srgbClr val="00965F"/>
                </a:solidFill>
                <a:latin typeface="맑은 고딕"/>
                <a:ea typeface="맑은 고딕"/>
              </a:rPr>
              <a:t>=</a:t>
            </a:r>
            <a:r>
              <a:rPr sz="1100" b="1" i="0" dirty="0" err="1">
                <a:solidFill>
                  <a:srgbClr val="00965F"/>
                </a:solidFill>
                <a:latin typeface="맑은 고딕"/>
                <a:ea typeface="맑은 고딕"/>
              </a:rPr>
              <a:t>표준</a:t>
            </a:r>
            <a:r>
              <a:rPr sz="1100" b="1" i="0" dirty="0">
                <a:solidFill>
                  <a:srgbClr val="00965F"/>
                </a:solidFill>
                <a:latin typeface="맑은 고딕"/>
                <a:ea typeface="맑은 고딕"/>
              </a:rPr>
              <a:t> · </a:t>
            </a:r>
            <a:r>
              <a:rPr sz="1100" b="1" i="0" dirty="0" err="1">
                <a:solidFill>
                  <a:srgbClr val="00965F"/>
                </a:solidFill>
                <a:latin typeface="맑은 고딕"/>
                <a:ea typeface="맑은 고딕"/>
              </a:rPr>
              <a:t>수치비</a:t>
            </a:r>
            <a:r>
              <a:rPr sz="1100" b="1" i="0" dirty="0">
                <a:solidFill>
                  <a:srgbClr val="00965F"/>
                </a:solidFill>
                <a:latin typeface="맑은 고딕"/>
                <a:ea typeface="맑은 고딕"/>
              </a:rPr>
              <a:t>=</a:t>
            </a:r>
            <a:r>
              <a:rPr sz="1100" b="1" i="0" dirty="0" err="1">
                <a:solidFill>
                  <a:srgbClr val="00965F"/>
                </a:solidFill>
                <a:latin typeface="맑은 고딕"/>
                <a:ea typeface="맑은 고딕"/>
              </a:rPr>
              <a:t>혼합</a:t>
            </a:r>
            <a:endParaRPr sz="1100" b="1" i="0" dirty="0">
              <a:solidFill>
                <a:srgbClr val="00965F"/>
              </a:solidFill>
              <a:latin typeface="맑은 고딕"/>
              <a:ea typeface="맑은 고딕"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dirty="0" err="1">
                <a:solidFill>
                  <a:srgbClr val="00965F"/>
                </a:solidFill>
                <a:latin typeface="맑은 고딕"/>
                <a:ea typeface="맑은 고딕"/>
              </a:rPr>
              <a:t>기관</a:t>
            </a:r>
            <a:r>
              <a:rPr sz="1100" b="1" i="0" dirty="0">
                <a:solidFill>
                  <a:srgbClr val="00965F"/>
                </a:solidFill>
                <a:latin typeface="맑은 고딕"/>
                <a:ea typeface="맑은 고딕"/>
              </a:rPr>
              <a:t>=</a:t>
            </a:r>
            <a:r>
              <a:rPr sz="1100" b="1" i="0" dirty="0" err="1">
                <a:solidFill>
                  <a:srgbClr val="00965F"/>
                </a:solidFill>
                <a:latin typeface="맑은 고딕"/>
                <a:ea typeface="맑은 고딕"/>
              </a:rPr>
              <a:t>기초지자체</a:t>
            </a:r>
            <a:r>
              <a:rPr sz="1100" b="0" i="0" dirty="0">
                <a:solidFill>
                  <a:srgbClr val="282D37"/>
                </a:solidFill>
                <a:latin typeface="맑은 고딕"/>
                <a:ea typeface="맑은 고딕"/>
              </a:rPr>
              <a:t>  ·  </a:t>
            </a:r>
            <a:r>
              <a:rPr sz="11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유일키</a:t>
            </a:r>
            <a:r>
              <a:rPr sz="1100" b="0" i="0" dirty="0">
                <a:solidFill>
                  <a:srgbClr val="282D37"/>
                </a:solidFill>
                <a:latin typeface="맑은 고딕"/>
                <a:ea typeface="맑은 고딕"/>
              </a:rPr>
              <a:t>=</a:t>
            </a:r>
            <a:r>
              <a:rPr sz="11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있음</a:t>
            </a:r>
            <a:r>
              <a:rPr sz="1100" b="0" i="0" dirty="0">
                <a:solidFill>
                  <a:srgbClr val="282D37"/>
                </a:solidFill>
                <a:latin typeface="맑은 고딕"/>
                <a:ea typeface="맑은 고딕"/>
              </a:rPr>
              <a:t> · </a:t>
            </a:r>
            <a:r>
              <a:rPr sz="11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상수컬럼</a:t>
            </a:r>
            <a:r>
              <a:rPr sz="1100" b="0" i="0" dirty="0">
                <a:solidFill>
                  <a:srgbClr val="282D37"/>
                </a:solidFill>
                <a:latin typeface="맑은 고딕"/>
                <a:ea typeface="맑은 고딕"/>
              </a:rPr>
              <a:t>=</a:t>
            </a:r>
            <a:r>
              <a:rPr sz="11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있음</a:t>
            </a:r>
            <a:endParaRPr sz="1100" b="0" i="0" dirty="0">
              <a:solidFill>
                <a:srgbClr val="282D37"/>
              </a:solidFill>
              <a:latin typeface="맑은 고딕"/>
              <a:ea typeface="맑은 고딕"/>
            </a:endParaRPr>
          </a:p>
        </p:txBody>
      </p:sp>
      <p:sp>
        <p:nvSpPr>
          <p:cNvPr id="411" name="subB"/>
          <p:cNvSpPr txBox="1"/>
          <p:nvPr/>
        </p:nvSpPr>
        <p:spPr>
          <a:xfrm>
            <a:off x="5667468" y="4827077"/>
            <a:ext cx="5780820" cy="201168"/>
          </a:xfrm>
          <a:prstGeom prst="rect">
            <a:avLst/>
          </a:prstGeom>
          <a:noFill/>
        </p:spPr>
        <p:txBody>
          <a:bodyPr wrap="square" lIns="12700" tIns="6350" rIns="12700" bIns="6350" anchor="t">
            <a:normAutofit lnSpcReduction="10000"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dirty="0">
                <a:solidFill>
                  <a:srgbClr val="081F46"/>
                </a:solidFill>
                <a:latin typeface="맑은 고딕"/>
                <a:ea typeface="맑은 고딕"/>
              </a:rPr>
              <a:t>② </a:t>
            </a:r>
            <a:r>
              <a:rPr sz="12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컬럼개념</a:t>
            </a:r>
            <a:r>
              <a:rPr sz="1200" b="1" i="0" dirty="0">
                <a:solidFill>
                  <a:srgbClr val="081F46"/>
                </a:solidFill>
                <a:latin typeface="맑은 고딕"/>
                <a:ea typeface="맑은 고딕"/>
              </a:rPr>
              <a:t> </a:t>
            </a:r>
            <a:r>
              <a:rPr sz="12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장바구니</a:t>
            </a:r>
            <a:r>
              <a:rPr lang="en-US" sz="1200" b="1" i="0" dirty="0">
                <a:solidFill>
                  <a:srgbClr val="081F46"/>
                </a:solidFill>
                <a:latin typeface="맑은 고딕"/>
                <a:ea typeface="맑은 고딕"/>
              </a:rPr>
              <a:t>:</a:t>
            </a:r>
            <a:r>
              <a:rPr sz="1200" b="1" i="0" dirty="0">
                <a:solidFill>
                  <a:srgbClr val="081F46"/>
                </a:solidFill>
                <a:latin typeface="맑은 고딕"/>
                <a:ea typeface="맑은 고딕"/>
              </a:rPr>
              <a:t> </a:t>
            </a:r>
            <a:r>
              <a:rPr sz="12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보유</a:t>
            </a:r>
            <a:r>
              <a:rPr sz="1200" b="1" i="0" dirty="0">
                <a:solidFill>
                  <a:srgbClr val="081F46"/>
                </a:solidFill>
                <a:latin typeface="맑은 고딕"/>
                <a:ea typeface="맑은 고딕"/>
              </a:rPr>
              <a:t> </a:t>
            </a:r>
            <a:r>
              <a:rPr sz="12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컬럼개념</a:t>
            </a:r>
            <a:r>
              <a:rPr sz="1200" b="1" i="0" dirty="0">
                <a:solidFill>
                  <a:srgbClr val="081F46"/>
                </a:solidFill>
                <a:latin typeface="맑은 고딕"/>
                <a:ea typeface="맑은 고딕"/>
              </a:rPr>
              <a:t> 7종</a:t>
            </a:r>
          </a:p>
        </p:txBody>
      </p:sp>
      <p:sp>
        <p:nvSpPr>
          <p:cNvPr id="412" name="chip-bg"/>
          <p:cNvSpPr/>
          <p:nvPr/>
        </p:nvSpPr>
        <p:spPr>
          <a:xfrm>
            <a:off x="5667468" y="5149131"/>
            <a:ext cx="1348759" cy="256032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9DB0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100" b="1" dirty="0">
                <a:solidFill>
                  <a:srgbClr val="081F46"/>
                </a:solidFill>
                <a:latin typeface="맑은 고딕"/>
                <a:ea typeface="맑은 고딕"/>
              </a:rPr>
              <a:t>소속</a:t>
            </a:r>
          </a:p>
        </p:txBody>
      </p:sp>
      <p:sp>
        <p:nvSpPr>
          <p:cNvPr id="414" name="chip-bg"/>
          <p:cNvSpPr/>
          <p:nvPr/>
        </p:nvSpPr>
        <p:spPr>
          <a:xfrm>
            <a:off x="7167750" y="5166355"/>
            <a:ext cx="1348759" cy="256032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9DB0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100" b="1" dirty="0">
                <a:solidFill>
                  <a:srgbClr val="081F46"/>
                </a:solidFill>
                <a:latin typeface="맑은 고딕"/>
                <a:ea typeface="맑은 고딕"/>
              </a:rPr>
              <a:t>소재지도로명주소</a:t>
            </a:r>
          </a:p>
        </p:txBody>
      </p:sp>
      <p:sp>
        <p:nvSpPr>
          <p:cNvPr id="416" name="chip-bg"/>
          <p:cNvSpPr/>
          <p:nvPr/>
        </p:nvSpPr>
        <p:spPr>
          <a:xfrm>
            <a:off x="8668032" y="5166355"/>
            <a:ext cx="1348759" cy="256032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9DB0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100" b="1">
                <a:solidFill>
                  <a:srgbClr val="081F46"/>
                </a:solidFill>
                <a:latin typeface="맑은 고딕"/>
                <a:ea typeface="맑은 고딕"/>
              </a:rPr>
              <a:t>소재지지번주소</a:t>
            </a:r>
            <a:endParaRPr lang="ko-KR" altLang="en-US" sz="1100" b="1" dirty="0">
              <a:solidFill>
                <a:srgbClr val="081F46"/>
              </a:solidFill>
              <a:latin typeface="맑은 고딕"/>
              <a:ea typeface="맑은 고딕"/>
            </a:endParaRPr>
          </a:p>
        </p:txBody>
      </p:sp>
      <p:sp>
        <p:nvSpPr>
          <p:cNvPr id="418" name="chip-bg"/>
          <p:cNvSpPr/>
          <p:nvPr/>
        </p:nvSpPr>
        <p:spPr>
          <a:xfrm>
            <a:off x="10168313" y="5166355"/>
            <a:ext cx="1348759" cy="256032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9DB0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100" b="1">
                <a:solidFill>
                  <a:srgbClr val="081F46"/>
                </a:solidFill>
                <a:latin typeface="맑은 고딕"/>
                <a:ea typeface="맑은 고딕"/>
              </a:rPr>
              <a:t>위도</a:t>
            </a:r>
            <a:endParaRPr lang="ko-KR" altLang="en-US" sz="1100" b="1" dirty="0">
              <a:solidFill>
                <a:srgbClr val="081F46"/>
              </a:solidFill>
              <a:latin typeface="맑은 고딕"/>
              <a:ea typeface="맑은 고딕"/>
            </a:endParaRPr>
          </a:p>
        </p:txBody>
      </p:sp>
      <p:sp>
        <p:nvSpPr>
          <p:cNvPr id="420" name="chip-bg"/>
          <p:cNvSpPr/>
          <p:nvPr/>
        </p:nvSpPr>
        <p:spPr>
          <a:xfrm>
            <a:off x="5667467" y="5503235"/>
            <a:ext cx="1348759" cy="256032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9DB0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100" b="1" dirty="0">
                <a:solidFill>
                  <a:srgbClr val="081F46"/>
                </a:solidFill>
                <a:latin typeface="맑은 고딕"/>
                <a:ea typeface="맑은 고딕"/>
              </a:rPr>
              <a:t>경도</a:t>
            </a:r>
          </a:p>
        </p:txBody>
      </p:sp>
      <p:sp>
        <p:nvSpPr>
          <p:cNvPr id="422" name="chip-bg"/>
          <p:cNvSpPr/>
          <p:nvPr/>
        </p:nvSpPr>
        <p:spPr>
          <a:xfrm>
            <a:off x="7167750" y="5503235"/>
            <a:ext cx="1348759" cy="256032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9DB0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100" b="1" dirty="0">
                <a:solidFill>
                  <a:srgbClr val="081F46"/>
                </a:solidFill>
                <a:latin typeface="맑은 고딕"/>
                <a:ea typeface="맑은 고딕"/>
              </a:rPr>
              <a:t>전화번호</a:t>
            </a:r>
          </a:p>
        </p:txBody>
      </p:sp>
      <p:sp>
        <p:nvSpPr>
          <p:cNvPr id="424" name="chip-bg"/>
          <p:cNvSpPr/>
          <p:nvPr/>
        </p:nvSpPr>
        <p:spPr>
          <a:xfrm>
            <a:off x="8668032" y="5503235"/>
            <a:ext cx="1348759" cy="256032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9DB0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100" b="1" dirty="0">
                <a:solidFill>
                  <a:srgbClr val="081F46"/>
                </a:solidFill>
                <a:latin typeface="맑은 고딕"/>
                <a:ea typeface="맑은 고딕"/>
              </a:rPr>
              <a:t>데이터기준일자</a:t>
            </a:r>
          </a:p>
        </p:txBody>
      </p:sp>
      <p:sp>
        <p:nvSpPr>
          <p:cNvPr id="426" name="arrow2"/>
          <p:cNvSpPr txBox="1"/>
          <p:nvPr/>
        </p:nvSpPr>
        <p:spPr>
          <a:xfrm>
            <a:off x="4480560" y="5926401"/>
            <a:ext cx="7114032" cy="274320"/>
          </a:xfrm>
          <a:prstGeom prst="rect">
            <a:avLst/>
          </a:prstGeom>
          <a:noFill/>
        </p:spPr>
        <p:txBody>
          <a:bodyPr wrap="square" lIns="12700" tIns="6350" rIns="12700" bIns="6350" anchor="ctr">
            <a:norm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dirty="0">
                <a:solidFill>
                  <a:srgbClr val="00965F"/>
                </a:solidFill>
                <a:latin typeface="맑은 고딕"/>
                <a:ea typeface="맑은 고딕"/>
              </a:rPr>
              <a:t>▼  999개 </a:t>
            </a:r>
            <a:r>
              <a:rPr sz="1200" b="1" i="0" dirty="0" err="1">
                <a:solidFill>
                  <a:srgbClr val="00965F"/>
                </a:solidFill>
                <a:latin typeface="맑은 고딕"/>
                <a:ea typeface="맑은 고딕"/>
              </a:rPr>
              <a:t>테이블</a:t>
            </a:r>
            <a:r>
              <a:rPr sz="1200" b="1" i="0" dirty="0">
                <a:solidFill>
                  <a:srgbClr val="00965F"/>
                </a:solidFill>
                <a:latin typeface="맑은 고딕"/>
                <a:ea typeface="맑은 고딕"/>
              </a:rPr>
              <a:t> = 999개 </a:t>
            </a:r>
            <a:r>
              <a:rPr sz="1200" b="1" i="0" dirty="0" err="1">
                <a:solidFill>
                  <a:srgbClr val="00965F"/>
                </a:solidFill>
                <a:latin typeface="맑은 고딕"/>
                <a:ea typeface="맑은 고딕"/>
              </a:rPr>
              <a:t>트랜잭션</a:t>
            </a:r>
            <a:r>
              <a:rPr sz="1200" b="1" i="0" dirty="0">
                <a:solidFill>
                  <a:srgbClr val="00965F"/>
                </a:solidFill>
                <a:latin typeface="맑은 고딕"/>
                <a:ea typeface="맑은 고딕"/>
              </a:rPr>
              <a:t>  →  FP-Growth  →  </a:t>
            </a:r>
            <a:r>
              <a:rPr sz="1200" b="1" i="0" dirty="0" err="1">
                <a:solidFill>
                  <a:srgbClr val="00965F"/>
                </a:solidFill>
                <a:latin typeface="맑은 고딕"/>
                <a:ea typeface="맑은 고딕"/>
              </a:rPr>
              <a:t>연관규칙</a:t>
            </a:r>
            <a:r>
              <a:rPr sz="1200" b="1" i="0" dirty="0">
                <a:solidFill>
                  <a:srgbClr val="00965F"/>
                </a:solidFill>
                <a:latin typeface="맑은 고딕"/>
                <a:ea typeface="맑은 고딕"/>
              </a:rPr>
              <a:t>(lift)</a:t>
            </a:r>
          </a:p>
        </p:txBody>
      </p:sp>
      <p:sp>
        <p:nvSpPr>
          <p:cNvPr id="427" name="legend"/>
          <p:cNvSpPr txBox="1"/>
          <p:nvPr/>
        </p:nvSpPr>
        <p:spPr>
          <a:xfrm>
            <a:off x="4803343" y="6336421"/>
            <a:ext cx="7114032" cy="256032"/>
          </a:xfrm>
          <a:prstGeom prst="rect">
            <a:avLst/>
          </a:prstGeom>
          <a:noFill/>
        </p:spPr>
        <p:txBody>
          <a:bodyPr wrap="square" lIns="12700" tIns="6350" rIns="12700" bIns="6350" anchor="ctr">
            <a:norm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1" i="0" dirty="0">
                <a:solidFill>
                  <a:srgbClr val="505050"/>
                </a:solidFill>
                <a:latin typeface="맑은 고딕"/>
                <a:ea typeface="맑은 고딕"/>
              </a:rPr>
              <a:t>[</a:t>
            </a:r>
            <a:r>
              <a:rPr sz="1200" b="1" i="0" dirty="0">
                <a:solidFill>
                  <a:srgbClr val="505050"/>
                </a:solidFill>
                <a:latin typeface="맑은 고딕"/>
                <a:ea typeface="맑은 고딕"/>
              </a:rPr>
              <a:t>1D </a:t>
            </a:r>
            <a:r>
              <a:rPr sz="12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이산화·AOI</a:t>
            </a:r>
            <a:r>
              <a:rPr sz="1200" b="1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2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롤업</a:t>
            </a:r>
            <a:r>
              <a:rPr lang="ko-KR" altLang="en-US" sz="1200" b="1" i="0" dirty="0">
                <a:solidFill>
                  <a:srgbClr val="505050"/>
                </a:solidFill>
                <a:latin typeface="맑은 고딕"/>
                <a:ea typeface="맑은 고딕"/>
              </a:rPr>
              <a:t>을</a:t>
            </a:r>
            <a:r>
              <a:rPr lang="en-US" sz="1200" b="1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lang="ko-KR" altLang="en-US" sz="1200" b="1" i="0" dirty="0">
                <a:solidFill>
                  <a:srgbClr val="505050"/>
                </a:solidFill>
                <a:latin typeface="맑은 고딕"/>
                <a:ea typeface="맑은 고딕"/>
              </a:rPr>
              <a:t>적용한 </a:t>
            </a:r>
            <a:r>
              <a:rPr lang="ko-KR" altLang="en-US" sz="12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트랜잭선</a:t>
            </a:r>
            <a:r>
              <a:rPr lang="ko-KR" altLang="en-US" sz="1200" b="1" i="0" dirty="0">
                <a:solidFill>
                  <a:srgbClr val="505050"/>
                </a:solidFill>
                <a:latin typeface="맑은 고딕"/>
                <a:ea typeface="맑은 고딕"/>
              </a:rPr>
              <a:t> 구성 예시</a:t>
            </a:r>
            <a:r>
              <a:rPr lang="en-US" sz="1200" b="1" i="0" dirty="0">
                <a:solidFill>
                  <a:srgbClr val="505050"/>
                </a:solidFill>
                <a:latin typeface="맑은 고딕"/>
                <a:ea typeface="맑은 고딕"/>
              </a:rPr>
              <a:t>]</a:t>
            </a:r>
            <a:endParaRPr sz="1200" b="1" i="0" dirty="0">
              <a:solidFill>
                <a:srgbClr val="505050"/>
              </a:solidFill>
              <a:latin typeface="맑은 고딕"/>
              <a:ea typeface="맑은 고딕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09728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65F"/>
                </a:solidFill>
                <a:latin typeface="맑은 고딕"/>
                <a:ea typeface="맑은 고딕"/>
              </a:rPr>
              <a:t>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6766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81F46"/>
                </a:solidFill>
                <a:latin typeface="맑은 고딕"/>
                <a:ea typeface="맑은 고딕"/>
              </a:rPr>
              <a:t>분석 결과 종합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1057839" cy="2794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1280430"/>
            <a:ext cx="11057839" cy="29206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dirty="0" err="1">
                <a:solidFill>
                  <a:srgbClr val="00965F"/>
                </a:solidFill>
                <a:latin typeface="맑은 고딕"/>
                <a:ea typeface="맑은 고딕"/>
              </a:rPr>
              <a:t>거버넌스</a:t>
            </a:r>
            <a:r>
              <a:rPr sz="1800" b="1" i="0" dirty="0">
                <a:solidFill>
                  <a:srgbClr val="00965F"/>
                </a:solidFill>
                <a:latin typeface="맑은 고딕"/>
                <a:ea typeface="맑은 고딕"/>
              </a:rPr>
              <a:t> 3대 </a:t>
            </a:r>
            <a:r>
              <a:rPr sz="1800" b="1" i="0" dirty="0" err="1">
                <a:solidFill>
                  <a:srgbClr val="00965F"/>
                </a:solidFill>
                <a:latin typeface="맑은 고딕"/>
                <a:ea typeface="맑은 고딕"/>
              </a:rPr>
              <a:t>이슈와</a:t>
            </a:r>
            <a:r>
              <a:rPr sz="1800" b="1" i="0" dirty="0">
                <a:solidFill>
                  <a:srgbClr val="00965F"/>
                </a:solidFill>
                <a:latin typeface="맑은 고딕"/>
                <a:ea typeface="맑은 고딕"/>
              </a:rPr>
              <a:t> </a:t>
            </a:r>
            <a:r>
              <a:rPr sz="1800" b="1" i="0" dirty="0" err="1">
                <a:solidFill>
                  <a:srgbClr val="00965F"/>
                </a:solidFill>
                <a:latin typeface="맑은 고딕"/>
                <a:ea typeface="맑은 고딕"/>
              </a:rPr>
              <a:t>인텔리전스</a:t>
            </a:r>
            <a:r>
              <a:rPr sz="1800" b="1" i="0" dirty="0">
                <a:solidFill>
                  <a:srgbClr val="00965F"/>
                </a:solidFill>
                <a:latin typeface="맑은 고딕"/>
                <a:ea typeface="맑은 고딕"/>
              </a:rPr>
              <a:t> 4대 </a:t>
            </a:r>
            <a:r>
              <a:rPr sz="1800" b="1" i="0" dirty="0" err="1">
                <a:solidFill>
                  <a:srgbClr val="00965F"/>
                </a:solidFill>
                <a:latin typeface="맑은 고딕"/>
                <a:ea typeface="맑은 고딕"/>
              </a:rPr>
              <a:t>발견을</a:t>
            </a:r>
            <a:r>
              <a:rPr sz="1800" b="1" i="0" dirty="0">
                <a:solidFill>
                  <a:srgbClr val="00965F"/>
                </a:solidFill>
                <a:latin typeface="맑은 고딕"/>
                <a:ea typeface="맑은 고딕"/>
              </a:rPr>
              <a:t> 도</a:t>
            </a:r>
            <a:r>
              <a:rPr lang="ko-KR" altLang="en-US" sz="1800" b="1" i="0" dirty="0">
                <a:solidFill>
                  <a:srgbClr val="00965F"/>
                </a:solidFill>
                <a:latin typeface="맑은 고딕"/>
                <a:ea typeface="맑은 고딕"/>
              </a:rPr>
              <a:t>출</a:t>
            </a:r>
            <a:endParaRPr sz="1800" b="1" i="0" dirty="0">
              <a:solidFill>
                <a:srgbClr val="00965F"/>
              </a:solidFill>
              <a:latin typeface="맑은 고딕"/>
              <a:ea typeface="맑은 고딕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82296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맑은 고딕"/>
                <a:ea typeface="맑은 고딕"/>
              </a:rPr>
              <a:t>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28800"/>
            <a:ext cx="2572435" cy="4206240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66928" y="1828800"/>
            <a:ext cx="2572435" cy="365760"/>
          </a:xfrm>
          <a:prstGeom prst="round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92500" lnSpcReduction="10000"/>
          </a:bodyPr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94944" y="1904382"/>
            <a:ext cx="2352979" cy="23288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거버넌스</a:t>
            </a:r>
            <a:r>
              <a:rPr sz="1400" b="1" i="0" dirty="0">
                <a:solidFill>
                  <a:srgbClr val="FFFFFF"/>
                </a:solidFill>
                <a:latin typeface="맑은 고딕"/>
                <a:ea typeface="맑은 고딕"/>
              </a:rPr>
              <a:t> G1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" y="2267712"/>
            <a:ext cx="2334691" cy="109735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출처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결손의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계통성</a:t>
            </a:r>
            <a:endParaRPr sz="14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• ‘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유아및초·중등교육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’ 100건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• 100% placeholder('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소스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')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• lift 6.89·conf 1.00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95395" y="1828800"/>
            <a:ext cx="2572435" cy="4206240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3395395" y="1828800"/>
            <a:ext cx="2572435" cy="365760"/>
          </a:xfrm>
          <a:prstGeom prst="round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92500" lnSpcReduction="10000"/>
          </a:bodyPr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523411" y="1904382"/>
            <a:ext cx="2352979" cy="23288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맑은 고딕"/>
                <a:ea typeface="맑은 고딕"/>
              </a:rPr>
              <a:t>거버넌스 G2·G3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3411" y="2267712"/>
            <a:ext cx="2334691" cy="109735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282D37"/>
                </a:solidFill>
                <a:latin typeface="맑은 고딕"/>
                <a:ea typeface="맑은 고딕"/>
              </a:rPr>
              <a:t>• 죽은 메트릭 3종 전부 0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282D37"/>
                </a:solidFill>
                <a:latin typeface="맑은 고딕"/>
                <a:ea typeface="맑은 고딕"/>
              </a:rPr>
              <a:t>• 상수컬럼 1,372개(13.9%)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282D37"/>
                </a:solidFill>
                <a:latin typeface="맑은 고딕"/>
                <a:ea typeface="맑은 고딕"/>
              </a:rPr>
              <a:t>• 컬럼명 표준 부재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282D37"/>
                </a:solidFill>
                <a:latin typeface="맑은 고딕"/>
                <a:ea typeface="맑은 고딕"/>
              </a:rPr>
              <a:t>• same_ratio 네이밍 오류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23863" y="1828800"/>
            <a:ext cx="2572435" cy="4206240"/>
          </a:xfrm>
          <a:prstGeom prst="roundRect">
            <a:avLst/>
          </a:prstGeom>
          <a:solidFill>
            <a:srgbClr val="E8F5F0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223863" y="1828800"/>
            <a:ext cx="2572435" cy="365760"/>
          </a:xfrm>
          <a:prstGeom prst="roundRect">
            <a:avLst/>
          </a:prstGeom>
          <a:solidFill>
            <a:srgbClr val="009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92500" lnSpcReduction="10000"/>
          </a:bodyPr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351879" y="1904382"/>
            <a:ext cx="2352979" cy="23288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맑은 고딕"/>
                <a:ea typeface="맑은 고딕"/>
              </a:rPr>
              <a:t>인텔리전스 I-패턴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1879" y="2267712"/>
            <a:ext cx="2334691" cy="1321387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스키마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패밀리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=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데이터셋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원형</a:t>
            </a:r>
            <a:endParaRPr sz="14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경도→위도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lift 22.7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교과목코드↔분반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124.9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연령대→성별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35.2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52331" y="1828800"/>
            <a:ext cx="2572435" cy="4206240"/>
          </a:xfrm>
          <a:prstGeom prst="roundRect">
            <a:avLst/>
          </a:prstGeom>
          <a:solidFill>
            <a:srgbClr val="E8F5F0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9052331" y="1828800"/>
            <a:ext cx="2572435" cy="365760"/>
          </a:xfrm>
          <a:prstGeom prst="roundRect">
            <a:avLst/>
          </a:prstGeom>
          <a:solidFill>
            <a:srgbClr val="009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92500" lnSpcReduction="10000"/>
          </a:bodyPr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180347" y="1904382"/>
            <a:ext cx="2352979" cy="23288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맑은 고딕"/>
                <a:ea typeface="맑은 고딕"/>
              </a:rPr>
              <a:t>인텔리전스 I-위험·검증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80347" y="2267712"/>
            <a:ext cx="2334691" cy="109735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282D37"/>
                </a:solidFill>
                <a:latin typeface="맑은 고딕"/>
                <a:ea typeface="맑은 고딕"/>
              </a:rPr>
              <a:t>• 의료기관 PII 묶음 lift 46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282D37"/>
                </a:solidFill>
                <a:latin typeface="맑은 고딕"/>
                <a:ea typeface="맑은 고딕"/>
              </a:rPr>
              <a:t>• 교차도메인 재식별 위험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282D37"/>
                </a:solidFill>
                <a:latin typeface="맑은 고딕"/>
                <a:ea typeface="맑은 고딕"/>
              </a:rPr>
              <a:t>• 규칙#4: 1.00→0.44 약화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282D37"/>
                </a:solidFill>
                <a:latin typeface="맑은 고딕"/>
                <a:ea typeface="맑은 고딕"/>
              </a:rPr>
              <a:t>• 카탈로그 오분류 후보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09728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65F"/>
                </a:solidFill>
                <a:latin typeface="맑은 고딕"/>
                <a:ea typeface="맑은 고딕"/>
              </a:rPr>
              <a:t>거버넌스 이슈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6766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81F46"/>
                </a:solidFill>
                <a:latin typeface="맑은 고딕"/>
                <a:ea typeface="맑은 고딕"/>
              </a:rPr>
              <a:t>거버넌스 G1 출처 결손의 계통성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1057839" cy="2794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1280430"/>
            <a:ext cx="11057839" cy="29206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출처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누락은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무작위가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아니라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lang="en-US"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“</a:t>
            </a:r>
            <a:r>
              <a:rPr lang="ko-KR" altLang="en-US"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유아및초</a:t>
            </a:r>
            <a:r>
              <a:rPr lang="en-US" altLang="ko-KR"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·</a:t>
            </a:r>
            <a:r>
              <a:rPr lang="ko-KR" altLang="en-US"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중등교육</a:t>
            </a:r>
            <a:r>
              <a:rPr lang="en-US"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”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에 100%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집중된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계통적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손실임</a:t>
            </a:r>
            <a:endParaRPr sz="1800" b="1" i="0" dirty="0">
              <a:solidFill>
                <a:srgbClr val="505050"/>
              </a:solidFill>
              <a:latin typeface="맑은 고딕"/>
              <a:ea typeface="맑은 고딕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82296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맑은 고딕"/>
                <a:ea typeface="맑은 고딕"/>
              </a:rPr>
              <a:t>10</a:t>
            </a:r>
          </a:p>
        </p:txBody>
      </p:sp>
      <p:sp>
        <p:nvSpPr>
          <p:cNvPr id="505" name="g1-bg"/>
          <p:cNvSpPr/>
          <p:nvPr/>
        </p:nvSpPr>
        <p:spPr>
          <a:xfrm>
            <a:off x="566928" y="3467164"/>
            <a:ext cx="5285232" cy="2852928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506" name="g1-hdr"/>
          <p:cNvSpPr/>
          <p:nvPr/>
        </p:nvSpPr>
        <p:spPr>
          <a:xfrm>
            <a:off x="566928" y="3467164"/>
            <a:ext cx="5285232" cy="310896"/>
          </a:xfrm>
          <a:prstGeom prst="roundRect">
            <a:avLst/>
          </a:prstGeom>
          <a:solidFill>
            <a:srgbClr val="081F46"/>
          </a:solidFill>
          <a:ln w="9525">
            <a:solidFill>
              <a:srgbClr val="081F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85000" lnSpcReduction="20000"/>
          </a:bodyPr>
          <a:lstStyle/>
          <a:p>
            <a:pPr algn="ctr"/>
            <a:endParaRPr/>
          </a:p>
        </p:txBody>
      </p:sp>
      <p:sp>
        <p:nvSpPr>
          <p:cNvPr id="507" name="g1-title"/>
          <p:cNvSpPr txBox="1"/>
          <p:nvPr/>
        </p:nvSpPr>
        <p:spPr>
          <a:xfrm>
            <a:off x="566928" y="3467164"/>
            <a:ext cx="5285232" cy="310896"/>
          </a:xfrm>
          <a:prstGeom prst="rect">
            <a:avLst/>
          </a:prstGeom>
          <a:noFill/>
        </p:spPr>
        <p:txBody>
          <a:bodyPr wrap="square" lIns="109728" tIns="6350" rIns="109728" bIns="6350" anchor="ctr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예시</a:t>
            </a:r>
            <a:r>
              <a:rPr sz="1000" b="1" i="0" dirty="0">
                <a:solidFill>
                  <a:srgbClr val="FFFFFF"/>
                </a:solidFill>
                <a:latin typeface="맑은 고딕"/>
                <a:ea typeface="맑은 고딕"/>
              </a:rPr>
              <a:t> </a:t>
            </a:r>
            <a:r>
              <a:rPr sz="10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데이터</a:t>
            </a:r>
            <a:r>
              <a:rPr sz="1000" b="1" i="0" dirty="0">
                <a:solidFill>
                  <a:srgbClr val="FFFFFF"/>
                </a:solidFill>
                <a:latin typeface="맑은 고딕"/>
                <a:ea typeface="맑은 고딕"/>
              </a:rPr>
              <a:t> — </a:t>
            </a:r>
            <a:r>
              <a:rPr sz="10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무엇이</a:t>
            </a:r>
            <a:r>
              <a:rPr sz="1000" b="1" i="0" dirty="0">
                <a:solidFill>
                  <a:srgbClr val="FFFFFF"/>
                </a:solidFill>
                <a:latin typeface="맑은 고딕"/>
                <a:ea typeface="맑은 고딕"/>
              </a:rPr>
              <a:t> </a:t>
            </a:r>
            <a:r>
              <a:rPr sz="10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누락됐나</a:t>
            </a:r>
            <a:endParaRPr sz="1000" b="1" i="0" dirty="0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sp>
        <p:nvSpPr>
          <p:cNvPr id="508" name="g1-ex-sub"/>
          <p:cNvSpPr txBox="1"/>
          <p:nvPr/>
        </p:nvSpPr>
        <p:spPr>
          <a:xfrm>
            <a:off x="676656" y="3814636"/>
            <a:ext cx="5065776" cy="365760"/>
          </a:xfrm>
          <a:prstGeom prst="rect">
            <a:avLst/>
          </a:prstGeom>
          <a:noFill/>
        </p:spPr>
        <p:txBody>
          <a:bodyPr wrap="square" lIns="12700" tIns="6350" rIns="12700" bIns="6350" anchor="t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081F46"/>
                </a:solidFill>
                <a:latin typeface="맑은 고딕"/>
                <a:ea typeface="맑은 고딕"/>
              </a:rPr>
              <a:t>예시 1건:  </a:t>
            </a:r>
            <a:r>
              <a:rPr sz="850" b="0" i="0">
                <a:solidFill>
                  <a:srgbClr val="282D37"/>
                </a:solidFill>
                <a:latin typeface="맑은 고딕"/>
                <a:ea typeface="맑은 고딕"/>
              </a:rPr>
              <a:t>광주광역시 남구_어린이집 현황_20230712.csv</a:t>
            </a:r>
          </a:p>
        </p:txBody>
      </p:sp>
      <p:sp>
        <p:nvSpPr>
          <p:cNvPr id="509" name="g1-f0"/>
          <p:cNvSpPr txBox="1"/>
          <p:nvPr/>
        </p:nvSpPr>
        <p:spPr>
          <a:xfrm>
            <a:off x="713232" y="4216972"/>
            <a:ext cx="1874520" cy="315468"/>
          </a:xfrm>
          <a:prstGeom prst="rect">
            <a:avLst/>
          </a:prstGeom>
          <a:noFill/>
        </p:spPr>
        <p:txBody>
          <a:bodyPr wrap="square" lIns="6350" tIns="6350" rIns="6350" bIns="6350" anchor="ctr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40" b="1" i="0">
                <a:solidFill>
                  <a:srgbClr val="081F46"/>
                </a:solidFill>
                <a:latin typeface="맑은 고딕"/>
                <a:ea typeface="맑은 고딕"/>
              </a:rPr>
              <a:t>table_source (출처)</a:t>
            </a:r>
          </a:p>
        </p:txBody>
      </p:sp>
      <p:sp>
        <p:nvSpPr>
          <p:cNvPr id="510" name="g1-v0"/>
          <p:cNvSpPr txBox="1"/>
          <p:nvPr/>
        </p:nvSpPr>
        <p:spPr>
          <a:xfrm>
            <a:off x="2587752" y="4216972"/>
            <a:ext cx="3118104" cy="315468"/>
          </a:xfrm>
          <a:prstGeom prst="rect">
            <a:avLst/>
          </a:prstGeom>
          <a:noFill/>
        </p:spPr>
        <p:txBody>
          <a:bodyPr wrap="square" lIns="6350" tIns="6350" rIns="6350" bIns="6350" anchor="ctr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70" b="1" i="0">
                <a:solidFill>
                  <a:srgbClr val="C0392B"/>
                </a:solidFill>
                <a:latin typeface="맑은 고딕"/>
                <a:ea typeface="맑은 고딕"/>
              </a:rPr>
              <a:t>‘소스’</a:t>
            </a:r>
            <a:r>
              <a:rPr sz="820" b="0" i="0">
                <a:solidFill>
                  <a:srgbClr val="C0392B"/>
                </a:solidFill>
                <a:latin typeface="맑은 고딕"/>
                <a:ea typeface="맑은 고딕"/>
              </a:rPr>
              <a:t>   ✗ placeholder (기관명 소실)</a:t>
            </a:r>
          </a:p>
        </p:txBody>
      </p:sp>
      <p:sp>
        <p:nvSpPr>
          <p:cNvPr id="511" name="g1-f1"/>
          <p:cNvSpPr txBox="1"/>
          <p:nvPr/>
        </p:nvSpPr>
        <p:spPr>
          <a:xfrm>
            <a:off x="713232" y="4532440"/>
            <a:ext cx="1874520" cy="315468"/>
          </a:xfrm>
          <a:prstGeom prst="rect">
            <a:avLst/>
          </a:prstGeom>
          <a:noFill/>
        </p:spPr>
        <p:txBody>
          <a:bodyPr wrap="square" lIns="6350" tIns="6350" rIns="6350" bIns="6350" anchor="ctr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40" b="1" i="0">
                <a:solidFill>
                  <a:srgbClr val="081F46"/>
                </a:solidFill>
                <a:latin typeface="맑은 고딕"/>
                <a:ea typeface="맑은 고딕"/>
              </a:rPr>
              <a:t>url (원본 링크)</a:t>
            </a:r>
          </a:p>
        </p:txBody>
      </p:sp>
      <p:sp>
        <p:nvSpPr>
          <p:cNvPr id="512" name="g1-v1"/>
          <p:cNvSpPr txBox="1"/>
          <p:nvPr/>
        </p:nvSpPr>
        <p:spPr>
          <a:xfrm>
            <a:off x="2587752" y="4532440"/>
            <a:ext cx="3118104" cy="315468"/>
          </a:xfrm>
          <a:prstGeom prst="rect">
            <a:avLst/>
          </a:prstGeom>
          <a:noFill/>
        </p:spPr>
        <p:txBody>
          <a:bodyPr wrap="square" lIns="6350" tIns="6350" rIns="6350" bIns="6350" anchor="ctr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70" b="1" i="0">
                <a:solidFill>
                  <a:srgbClr val="C0392B"/>
                </a:solidFill>
                <a:latin typeface="맑은 고딕"/>
                <a:ea typeface="맑은 고딕"/>
              </a:rPr>
              <a:t>‘url’</a:t>
            </a:r>
            <a:r>
              <a:rPr sz="820" b="0" i="0">
                <a:solidFill>
                  <a:srgbClr val="C0392B"/>
                </a:solidFill>
                <a:latin typeface="맑은 고딕"/>
                <a:ea typeface="맑은 고딕"/>
              </a:rPr>
              <a:t>   ✗ placeholder</a:t>
            </a:r>
          </a:p>
        </p:txBody>
      </p:sp>
      <p:sp>
        <p:nvSpPr>
          <p:cNvPr id="513" name="g1-f2"/>
          <p:cNvSpPr txBox="1"/>
          <p:nvPr/>
        </p:nvSpPr>
        <p:spPr>
          <a:xfrm>
            <a:off x="713232" y="4847908"/>
            <a:ext cx="1874520" cy="315468"/>
          </a:xfrm>
          <a:prstGeom prst="rect">
            <a:avLst/>
          </a:prstGeom>
          <a:noFill/>
        </p:spPr>
        <p:txBody>
          <a:bodyPr wrap="square" lIns="6350" tIns="6350" rIns="6350" bIns="6350" anchor="ctr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40" b="1" i="0">
                <a:solidFill>
                  <a:srgbClr val="081F46"/>
                </a:solidFill>
                <a:latin typeface="맑은 고딕"/>
                <a:ea typeface="맑은 고딕"/>
              </a:rPr>
              <a:t>table_nm (파일명)</a:t>
            </a:r>
          </a:p>
        </p:txBody>
      </p:sp>
      <p:sp>
        <p:nvSpPr>
          <p:cNvPr id="514" name="g1-v2"/>
          <p:cNvSpPr txBox="1"/>
          <p:nvPr/>
        </p:nvSpPr>
        <p:spPr>
          <a:xfrm>
            <a:off x="2587752" y="4847908"/>
            <a:ext cx="3118104" cy="315468"/>
          </a:xfrm>
          <a:prstGeom prst="rect">
            <a:avLst/>
          </a:prstGeom>
          <a:noFill/>
        </p:spPr>
        <p:txBody>
          <a:bodyPr wrap="square" lIns="6350" tIns="6350" rIns="6350" bIns="6350" anchor="ctr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70" b="0" i="0">
                <a:solidFill>
                  <a:srgbClr val="282D37"/>
                </a:solidFill>
                <a:latin typeface="맑은 고딕"/>
                <a:ea typeface="맑은 고딕"/>
              </a:rPr>
              <a:t>‘광주광역시 남구…’</a:t>
            </a:r>
            <a:r>
              <a:rPr sz="820" b="1" i="0">
                <a:solidFill>
                  <a:srgbClr val="00965F"/>
                </a:solidFill>
                <a:latin typeface="맑은 고딕"/>
                <a:ea typeface="맑은 고딕"/>
              </a:rPr>
              <a:t>   ✓ 기관명 존재</a:t>
            </a:r>
          </a:p>
        </p:txBody>
      </p:sp>
      <p:sp>
        <p:nvSpPr>
          <p:cNvPr id="515" name="g1-f3"/>
          <p:cNvSpPr txBox="1"/>
          <p:nvPr/>
        </p:nvSpPr>
        <p:spPr>
          <a:xfrm>
            <a:off x="713232" y="5163376"/>
            <a:ext cx="1874520" cy="315468"/>
          </a:xfrm>
          <a:prstGeom prst="rect">
            <a:avLst/>
          </a:prstGeom>
          <a:noFill/>
        </p:spPr>
        <p:txBody>
          <a:bodyPr wrap="square" lIns="6350" tIns="6350" rIns="6350" bIns="6350" anchor="ctr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40" b="1" i="0">
                <a:solidFill>
                  <a:srgbClr val="081F46"/>
                </a:solidFill>
                <a:latin typeface="맑은 고딕"/>
                <a:ea typeface="맑은 고딕"/>
              </a:rPr>
              <a:t>regi_date (등록)</a:t>
            </a:r>
          </a:p>
        </p:txBody>
      </p:sp>
      <p:sp>
        <p:nvSpPr>
          <p:cNvPr id="516" name="g1-v3"/>
          <p:cNvSpPr txBox="1"/>
          <p:nvPr/>
        </p:nvSpPr>
        <p:spPr>
          <a:xfrm>
            <a:off x="2587752" y="5163376"/>
            <a:ext cx="3118104" cy="315468"/>
          </a:xfrm>
          <a:prstGeom prst="rect">
            <a:avLst/>
          </a:prstGeom>
          <a:noFill/>
        </p:spPr>
        <p:txBody>
          <a:bodyPr wrap="square" lIns="6350" tIns="6350" rIns="6350" bIns="6350" anchor="ctr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70" b="0" i="0">
                <a:solidFill>
                  <a:srgbClr val="282D37"/>
                </a:solidFill>
                <a:latin typeface="맑은 고딕"/>
                <a:ea typeface="맑은 고딕"/>
              </a:rPr>
              <a:t>2026-03-30</a:t>
            </a:r>
            <a:r>
              <a:rPr sz="820" b="0" i="0">
                <a:solidFill>
                  <a:srgbClr val="505050"/>
                </a:solidFill>
                <a:latin typeface="맑은 고딕"/>
                <a:ea typeface="맑은 고딕"/>
              </a:rPr>
              <a:t>   (100건 전부 동일=단일 배치)</a:t>
            </a:r>
          </a:p>
        </p:txBody>
      </p:sp>
      <p:sp>
        <p:nvSpPr>
          <p:cNvPr id="517" name="g1-f4"/>
          <p:cNvSpPr txBox="1"/>
          <p:nvPr/>
        </p:nvSpPr>
        <p:spPr>
          <a:xfrm>
            <a:off x="713232" y="5478844"/>
            <a:ext cx="1874520" cy="315468"/>
          </a:xfrm>
          <a:prstGeom prst="rect">
            <a:avLst/>
          </a:prstGeom>
          <a:noFill/>
        </p:spPr>
        <p:txBody>
          <a:bodyPr wrap="square" lIns="6350" tIns="6350" rIns="6350" bIns="6350" anchor="ctr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40" b="1" i="0">
                <a:solidFill>
                  <a:srgbClr val="081F46"/>
                </a:solidFill>
                <a:latin typeface="맑은 고딕"/>
                <a:ea typeface="맑은 고딕"/>
              </a:rPr>
              <a:t>src_platform</a:t>
            </a:r>
          </a:p>
        </p:txBody>
      </p:sp>
      <p:sp>
        <p:nvSpPr>
          <p:cNvPr id="518" name="g1-v4"/>
          <p:cNvSpPr txBox="1"/>
          <p:nvPr/>
        </p:nvSpPr>
        <p:spPr>
          <a:xfrm>
            <a:off x="2587752" y="5478844"/>
            <a:ext cx="3118104" cy="315468"/>
          </a:xfrm>
          <a:prstGeom prst="rect">
            <a:avLst/>
          </a:prstGeom>
          <a:noFill/>
        </p:spPr>
        <p:txBody>
          <a:bodyPr wrap="square" lIns="6350" tIns="6350" rIns="6350" bIns="6350" anchor="ctr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70" b="0" i="0">
                <a:solidFill>
                  <a:srgbClr val="282D37"/>
                </a:solidFill>
                <a:latin typeface="맑은 고딕"/>
                <a:ea typeface="맑은 고딕"/>
              </a:rPr>
              <a:t>공공데이터포털</a:t>
            </a:r>
            <a:r>
              <a:rPr sz="820" b="1" i="0">
                <a:solidFill>
                  <a:srgbClr val="00965F"/>
                </a:solidFill>
                <a:latin typeface="맑은 고딕"/>
                <a:ea typeface="맑은 고딕"/>
              </a:rPr>
              <a:t>   ✓ 정상</a:t>
            </a:r>
          </a:p>
        </p:txBody>
      </p:sp>
      <p:sp>
        <p:nvSpPr>
          <p:cNvPr id="519" name="g1-ex-note"/>
          <p:cNvSpPr txBox="1"/>
          <p:nvPr/>
        </p:nvSpPr>
        <p:spPr>
          <a:xfrm>
            <a:off x="694944" y="5812600"/>
            <a:ext cx="5029200" cy="384048"/>
          </a:xfrm>
          <a:prstGeom prst="rect">
            <a:avLst/>
          </a:prstGeom>
          <a:noFill/>
        </p:spPr>
        <p:txBody>
          <a:bodyPr wrap="square" lIns="12700" tIns="6350" rIns="12700" bIns="6350" anchor="t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10" b="0" i="0">
                <a:solidFill>
                  <a:srgbClr val="505050"/>
                </a:solidFill>
                <a:latin typeface="맑은 고딕"/>
                <a:ea typeface="맑은 고딕"/>
              </a:rPr>
              <a:t>※ ‘소스’·‘url’ 두 메타필드만 더미로 덮임. 파일명엔 기관명 잔존(95%) → 출처 복구 가능</a:t>
            </a:r>
          </a:p>
        </p:txBody>
      </p:sp>
      <p:sp>
        <p:nvSpPr>
          <p:cNvPr id="520" name="g1-bg"/>
          <p:cNvSpPr/>
          <p:nvPr/>
        </p:nvSpPr>
        <p:spPr>
          <a:xfrm>
            <a:off x="6053328" y="1828800"/>
            <a:ext cx="5568696" cy="2724912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521" name="g1-hdr"/>
          <p:cNvSpPr/>
          <p:nvPr/>
        </p:nvSpPr>
        <p:spPr>
          <a:xfrm>
            <a:off x="6053328" y="1828800"/>
            <a:ext cx="5568696" cy="310896"/>
          </a:xfrm>
          <a:prstGeom prst="roundRect">
            <a:avLst/>
          </a:prstGeom>
          <a:solidFill>
            <a:srgbClr val="081F46"/>
          </a:solidFill>
          <a:ln w="9525">
            <a:solidFill>
              <a:srgbClr val="081F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85000" lnSpcReduction="20000"/>
          </a:bodyPr>
          <a:lstStyle/>
          <a:p>
            <a:pPr algn="ctr"/>
            <a:endParaRPr/>
          </a:p>
        </p:txBody>
      </p:sp>
      <p:sp>
        <p:nvSpPr>
          <p:cNvPr id="522" name="g1-title"/>
          <p:cNvSpPr txBox="1"/>
          <p:nvPr/>
        </p:nvSpPr>
        <p:spPr>
          <a:xfrm>
            <a:off x="6053328" y="1828800"/>
            <a:ext cx="5568696" cy="310896"/>
          </a:xfrm>
          <a:prstGeom prst="rect">
            <a:avLst/>
          </a:prstGeom>
          <a:noFill/>
        </p:spPr>
        <p:txBody>
          <a:bodyPr wrap="square" lIns="109728" tIns="6350" rIns="109728" bIns="6350" anchor="ctr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dirty="0">
                <a:solidFill>
                  <a:srgbClr val="FFFFFF"/>
                </a:solidFill>
                <a:latin typeface="맑은 고딕"/>
                <a:ea typeface="맑은 고딕"/>
              </a:rPr>
              <a:t>② </a:t>
            </a:r>
            <a:r>
              <a:rPr sz="10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의미</a:t>
            </a:r>
            <a:r>
              <a:rPr sz="1000" b="1" i="0" dirty="0">
                <a:solidFill>
                  <a:srgbClr val="FFFFFF"/>
                </a:solidFill>
                <a:latin typeface="맑은 고딕"/>
                <a:ea typeface="맑은 고딕"/>
              </a:rPr>
              <a:t> </a:t>
            </a:r>
            <a:r>
              <a:rPr sz="10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분석</a:t>
            </a:r>
            <a:r>
              <a:rPr sz="1000" b="1" i="0" dirty="0">
                <a:solidFill>
                  <a:srgbClr val="FFFFFF"/>
                </a:solidFill>
                <a:latin typeface="맑은 고딕"/>
                <a:ea typeface="맑은 고딕"/>
              </a:rPr>
              <a:t> (</a:t>
            </a:r>
            <a:r>
              <a:rPr sz="10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구체</a:t>
            </a:r>
            <a:r>
              <a:rPr sz="1000" b="1" i="0" dirty="0">
                <a:solidFill>
                  <a:srgbClr val="FFFFFF"/>
                </a:solidFill>
                <a:latin typeface="맑은 고딕"/>
                <a:ea typeface="맑은 고딕"/>
              </a:rPr>
              <a:t>)</a:t>
            </a:r>
          </a:p>
        </p:txBody>
      </p:sp>
      <p:sp>
        <p:nvSpPr>
          <p:cNvPr id="523" name="g1-mean"/>
          <p:cNvSpPr txBox="1"/>
          <p:nvPr/>
        </p:nvSpPr>
        <p:spPr>
          <a:xfrm>
            <a:off x="6163056" y="2185416"/>
            <a:ext cx="5367528" cy="2322576"/>
          </a:xfrm>
          <a:prstGeom prst="rect">
            <a:avLst/>
          </a:prstGeom>
          <a:noFill/>
        </p:spPr>
        <p:txBody>
          <a:bodyPr wrap="square" lIns="12700" tIns="6350" rIns="12700" bIns="6350" anchor="t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"/>
              </a:spcAft>
            </a:pPr>
            <a:r>
              <a:rPr sz="880" b="1" i="0" dirty="0">
                <a:solidFill>
                  <a:srgbClr val="081F46"/>
                </a:solidFill>
                <a:latin typeface="맑은 고딕"/>
                <a:ea typeface="맑은 고딕"/>
              </a:rPr>
              <a:t>① </a:t>
            </a:r>
            <a:r>
              <a:rPr sz="88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누락</a:t>
            </a:r>
            <a:r>
              <a:rPr sz="880" b="1" i="0" dirty="0">
                <a:solidFill>
                  <a:srgbClr val="081F46"/>
                </a:solidFill>
                <a:latin typeface="맑은 고딕"/>
                <a:ea typeface="맑은 고딕"/>
              </a:rPr>
              <a:t> 값: </a:t>
            </a:r>
            <a:r>
              <a:rPr sz="880" b="0" i="0" dirty="0">
                <a:solidFill>
                  <a:srgbClr val="282D37"/>
                </a:solidFill>
                <a:latin typeface="맑은 고딕"/>
                <a:ea typeface="맑은 고딕"/>
              </a:rPr>
              <a:t>table_source→‘</a:t>
            </a:r>
            <a:r>
              <a:rPr sz="88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소스</a:t>
            </a:r>
            <a:r>
              <a:rPr sz="880" b="0" i="0" dirty="0">
                <a:solidFill>
                  <a:srgbClr val="282D37"/>
                </a:solidFill>
                <a:latin typeface="맑은 고딕"/>
                <a:ea typeface="맑은 고딕"/>
              </a:rPr>
              <a:t>’, </a:t>
            </a:r>
            <a:r>
              <a:rPr sz="88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url</a:t>
            </a:r>
            <a:r>
              <a:rPr sz="880" b="0" i="0" dirty="0">
                <a:solidFill>
                  <a:srgbClr val="282D37"/>
                </a:solidFill>
                <a:latin typeface="맑은 고딕"/>
                <a:ea typeface="맑은 고딕"/>
              </a:rPr>
              <a:t>→‘</a:t>
            </a:r>
            <a:r>
              <a:rPr sz="88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url</a:t>
            </a:r>
            <a:r>
              <a:rPr sz="880" b="0" i="0" dirty="0">
                <a:solidFill>
                  <a:srgbClr val="282D37"/>
                </a:solidFill>
                <a:latin typeface="맑은 고딕"/>
                <a:ea typeface="맑은 고딕"/>
              </a:rPr>
              <a:t>’ — 두 </a:t>
            </a:r>
            <a:r>
              <a:rPr sz="88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메타필드가</a:t>
            </a:r>
            <a:r>
              <a:rPr sz="88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88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더미로</a:t>
            </a:r>
            <a:r>
              <a:rPr sz="88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88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덮임</a:t>
            </a:r>
            <a:endParaRPr sz="88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"/>
              </a:spcAft>
            </a:pPr>
            <a:r>
              <a:rPr sz="880" b="1" i="0" dirty="0">
                <a:solidFill>
                  <a:srgbClr val="081F46"/>
                </a:solidFill>
                <a:latin typeface="맑은 고딕"/>
                <a:ea typeface="맑은 고딕"/>
              </a:rPr>
              <a:t>② </a:t>
            </a:r>
            <a:r>
              <a:rPr sz="88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계통성</a:t>
            </a:r>
            <a:r>
              <a:rPr sz="880" b="1" i="0" dirty="0">
                <a:solidFill>
                  <a:srgbClr val="081F46"/>
                </a:solidFill>
                <a:latin typeface="맑은 고딕"/>
                <a:ea typeface="맑은 고딕"/>
              </a:rPr>
              <a:t>: </a:t>
            </a:r>
            <a:r>
              <a:rPr sz="880" b="0" i="0" dirty="0">
                <a:solidFill>
                  <a:srgbClr val="282D37"/>
                </a:solidFill>
                <a:latin typeface="맑은 고딕"/>
                <a:ea typeface="맑은 고딕"/>
              </a:rPr>
              <a:t>placeholder 145건 중 100건이 </a:t>
            </a:r>
            <a:r>
              <a:rPr sz="88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전부</a:t>
            </a:r>
            <a:r>
              <a:rPr sz="880" b="0" i="0" dirty="0">
                <a:solidFill>
                  <a:srgbClr val="282D37"/>
                </a:solidFill>
                <a:latin typeface="맑은 고딕"/>
                <a:ea typeface="맑은 고딕"/>
              </a:rPr>
              <a:t> ‘</a:t>
            </a:r>
            <a:r>
              <a:rPr sz="88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유아및초·중등교육</a:t>
            </a:r>
            <a:r>
              <a:rPr sz="880" b="0" i="0" dirty="0">
                <a:solidFill>
                  <a:srgbClr val="282D37"/>
                </a:solidFill>
                <a:latin typeface="맑은 고딕"/>
                <a:ea typeface="맑은 고딕"/>
              </a:rPr>
              <a:t>’(이 </a:t>
            </a:r>
            <a:r>
              <a:rPr sz="88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분류</a:t>
            </a:r>
            <a:r>
              <a:rPr sz="880" b="0" i="0" dirty="0">
                <a:solidFill>
                  <a:srgbClr val="282D37"/>
                </a:solidFill>
                <a:latin typeface="맑은 고딕"/>
                <a:ea typeface="맑은 고딕"/>
              </a:rPr>
              <a:t> 100% </a:t>
            </a:r>
            <a:r>
              <a:rPr sz="88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소실</a:t>
            </a:r>
            <a:r>
              <a:rPr sz="880" b="0" i="0" dirty="0">
                <a:solidFill>
                  <a:srgbClr val="282D37"/>
                </a:solidFill>
                <a:latin typeface="맑은 고딕"/>
                <a:ea typeface="맑은 고딕"/>
              </a:rPr>
              <a:t>, 타 </a:t>
            </a:r>
            <a:r>
              <a:rPr sz="88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분류</a:t>
            </a:r>
            <a:r>
              <a:rPr sz="880" b="0" i="0" dirty="0">
                <a:solidFill>
                  <a:srgbClr val="282D37"/>
                </a:solidFill>
                <a:latin typeface="맑은 고딕"/>
                <a:ea typeface="맑은 고딕"/>
              </a:rPr>
              <a:t> 1~15%)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"/>
              </a:spcAft>
            </a:pPr>
            <a:r>
              <a:rPr sz="880" b="1" i="0" dirty="0">
                <a:solidFill>
                  <a:srgbClr val="081F46"/>
                </a:solidFill>
                <a:latin typeface="맑은 고딕"/>
                <a:ea typeface="맑은 고딕"/>
              </a:rPr>
              <a:t>③ </a:t>
            </a:r>
            <a:r>
              <a:rPr sz="88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단일</a:t>
            </a:r>
            <a:r>
              <a:rPr sz="880" b="1" i="0" dirty="0">
                <a:solidFill>
                  <a:srgbClr val="081F46"/>
                </a:solidFill>
                <a:latin typeface="맑은 고딕"/>
                <a:ea typeface="맑은 고딕"/>
              </a:rPr>
              <a:t> </a:t>
            </a:r>
            <a:r>
              <a:rPr sz="88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배치</a:t>
            </a:r>
            <a:r>
              <a:rPr sz="880" b="1" i="0" dirty="0">
                <a:solidFill>
                  <a:srgbClr val="081F46"/>
                </a:solidFill>
                <a:latin typeface="맑은 고딕"/>
                <a:ea typeface="맑은 고딕"/>
              </a:rPr>
              <a:t>: </a:t>
            </a:r>
            <a:r>
              <a:rPr sz="880" b="0" i="0" dirty="0">
                <a:solidFill>
                  <a:srgbClr val="282D37"/>
                </a:solidFill>
                <a:latin typeface="맑은 고딕"/>
                <a:ea typeface="맑은 고딕"/>
              </a:rPr>
              <a:t>100건 </a:t>
            </a:r>
            <a:r>
              <a:rPr sz="88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모두</a:t>
            </a:r>
            <a:r>
              <a:rPr sz="88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88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regi_date</a:t>
            </a:r>
            <a:r>
              <a:rPr sz="880" b="0" i="0" dirty="0">
                <a:solidFill>
                  <a:srgbClr val="282D37"/>
                </a:solidFill>
                <a:latin typeface="맑은 고딕"/>
                <a:ea typeface="맑은 고딕"/>
              </a:rPr>
              <a:t>=2026-03-30 </a:t>
            </a:r>
            <a:r>
              <a:rPr sz="88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동일</a:t>
            </a:r>
            <a:r>
              <a:rPr sz="880" b="0" i="0" dirty="0">
                <a:solidFill>
                  <a:srgbClr val="282D37"/>
                </a:solidFill>
                <a:latin typeface="맑은 고딕"/>
                <a:ea typeface="맑은 고딕"/>
              </a:rPr>
              <a:t> → 한 </a:t>
            </a:r>
            <a:r>
              <a:rPr sz="88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번의</a:t>
            </a:r>
            <a:r>
              <a:rPr sz="88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88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적재에서</a:t>
            </a:r>
            <a:r>
              <a:rPr sz="88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88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일괄</a:t>
            </a:r>
            <a:r>
              <a:rPr sz="880" b="0" i="0" dirty="0">
                <a:solidFill>
                  <a:srgbClr val="282D37"/>
                </a:solidFill>
                <a:latin typeface="맑은 고딕"/>
                <a:ea typeface="맑은 고딕"/>
              </a:rPr>
              <a:t> placeholder </a:t>
            </a:r>
            <a:r>
              <a:rPr sz="88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처리</a:t>
            </a:r>
            <a:r>
              <a:rPr sz="880" b="0" i="0" dirty="0">
                <a:solidFill>
                  <a:srgbClr val="282D37"/>
                </a:solidFill>
                <a:latin typeface="맑은 고딕"/>
                <a:ea typeface="맑은 고딕"/>
              </a:rPr>
              <a:t>(</a:t>
            </a:r>
            <a:r>
              <a:rPr sz="88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우연</a:t>
            </a:r>
            <a:r>
              <a:rPr sz="88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88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아님</a:t>
            </a:r>
            <a:r>
              <a:rPr sz="880" b="0" i="0" dirty="0">
                <a:solidFill>
                  <a:srgbClr val="282D37"/>
                </a:solidFill>
                <a:latin typeface="맑은 고딕"/>
                <a:ea typeface="맑은 고딕"/>
              </a:rPr>
              <a:t>)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"/>
              </a:spcAft>
            </a:pPr>
            <a:r>
              <a:rPr sz="880" b="1" i="0" dirty="0">
                <a:solidFill>
                  <a:srgbClr val="081F46"/>
                </a:solidFill>
                <a:latin typeface="맑은 고딕"/>
                <a:ea typeface="맑은 고딕"/>
              </a:rPr>
              <a:t>④ </a:t>
            </a:r>
            <a:r>
              <a:rPr sz="88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동형</a:t>
            </a:r>
            <a:r>
              <a:rPr sz="880" b="1" i="0" dirty="0">
                <a:solidFill>
                  <a:srgbClr val="081F46"/>
                </a:solidFill>
                <a:latin typeface="맑은 고딕"/>
                <a:ea typeface="맑은 고딕"/>
              </a:rPr>
              <a:t> </a:t>
            </a:r>
            <a:r>
              <a:rPr sz="88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템플릿</a:t>
            </a:r>
            <a:r>
              <a:rPr sz="880" b="1" i="0" dirty="0">
                <a:solidFill>
                  <a:srgbClr val="081F46"/>
                </a:solidFill>
                <a:latin typeface="맑은 고딕"/>
                <a:ea typeface="맑은 고딕"/>
              </a:rPr>
              <a:t>: </a:t>
            </a:r>
            <a:r>
              <a:rPr sz="88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유일키·상수컬럼·컬럼폭</a:t>
            </a:r>
            <a:r>
              <a:rPr sz="880" b="0" i="0" dirty="0">
                <a:solidFill>
                  <a:srgbClr val="282D37"/>
                </a:solidFill>
                <a:latin typeface="맑은 고딕"/>
                <a:ea typeface="맑은 고딕"/>
              </a:rPr>
              <a:t>=</a:t>
            </a:r>
            <a:r>
              <a:rPr sz="88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표준</a:t>
            </a:r>
            <a:r>
              <a:rPr sz="88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88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동반</a:t>
            </a:r>
            <a:r>
              <a:rPr sz="880" b="0" i="0" dirty="0">
                <a:solidFill>
                  <a:srgbClr val="282D37"/>
                </a:solidFill>
                <a:latin typeface="맑은 고딕"/>
                <a:ea typeface="맑은 고딕"/>
              </a:rPr>
              <a:t>(conf 0.79~0.84) → </a:t>
            </a:r>
            <a:r>
              <a:rPr sz="88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같은</a:t>
            </a:r>
            <a:r>
              <a:rPr sz="88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88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양식으로</a:t>
            </a:r>
            <a:r>
              <a:rPr sz="88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88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일괄</a:t>
            </a:r>
            <a:r>
              <a:rPr sz="88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88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적재</a:t>
            </a:r>
            <a:endParaRPr sz="88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"/>
              </a:spcAft>
            </a:pPr>
            <a:r>
              <a:rPr sz="880" b="1" i="0" dirty="0">
                <a:solidFill>
                  <a:srgbClr val="081F46"/>
                </a:solidFill>
                <a:latin typeface="맑은 고딕"/>
                <a:ea typeface="맑은 고딕"/>
              </a:rPr>
              <a:t>⑤ </a:t>
            </a:r>
            <a:r>
              <a:rPr sz="88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영향</a:t>
            </a:r>
            <a:r>
              <a:rPr sz="880" b="1" i="0" dirty="0">
                <a:solidFill>
                  <a:srgbClr val="081F46"/>
                </a:solidFill>
                <a:latin typeface="맑은 고딕"/>
                <a:ea typeface="맑은 고딕"/>
              </a:rPr>
              <a:t>: </a:t>
            </a:r>
            <a:r>
              <a:rPr sz="88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출처</a:t>
            </a:r>
            <a:r>
              <a:rPr sz="88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88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기반</a:t>
            </a:r>
            <a:r>
              <a:rPr sz="88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88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신뢰성·책임추적</a:t>
            </a:r>
            <a:r>
              <a:rPr sz="880" b="0" i="0" dirty="0">
                <a:solidFill>
                  <a:srgbClr val="282D37"/>
                </a:solidFill>
                <a:latin typeface="맑은 고딕"/>
                <a:ea typeface="맑은 고딕"/>
              </a:rPr>
              <a:t>(provenance) </a:t>
            </a:r>
            <a:r>
              <a:rPr sz="88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붕괴</a:t>
            </a:r>
            <a:r>
              <a:rPr sz="880" b="0" i="0" dirty="0">
                <a:solidFill>
                  <a:srgbClr val="282D37"/>
                </a:solidFill>
                <a:latin typeface="맑은 고딕"/>
                <a:ea typeface="맑은 고딕"/>
              </a:rPr>
              <a:t>. 단, </a:t>
            </a:r>
            <a:r>
              <a:rPr sz="88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파일명에</a:t>
            </a:r>
            <a:r>
              <a:rPr sz="88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88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기관명</a:t>
            </a:r>
            <a:r>
              <a:rPr sz="88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88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잔존</a:t>
            </a:r>
            <a:r>
              <a:rPr sz="880" b="0" i="0" dirty="0">
                <a:solidFill>
                  <a:srgbClr val="282D37"/>
                </a:solidFill>
                <a:latin typeface="맑은 고딕"/>
                <a:ea typeface="맑은 고딕"/>
              </a:rPr>
              <a:t> → </a:t>
            </a:r>
            <a:r>
              <a:rPr sz="88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복구</a:t>
            </a:r>
            <a:r>
              <a:rPr sz="88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88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가능</a:t>
            </a:r>
            <a:endParaRPr sz="880" b="0" i="0" dirty="0">
              <a:solidFill>
                <a:srgbClr val="282D37"/>
              </a:solidFill>
              <a:latin typeface="맑은 고딕"/>
              <a:ea typeface="맑은 고딕"/>
            </a:endParaRPr>
          </a:p>
        </p:txBody>
      </p:sp>
      <p:sp>
        <p:nvSpPr>
          <p:cNvPr id="524" name="g1-bg"/>
          <p:cNvSpPr/>
          <p:nvPr/>
        </p:nvSpPr>
        <p:spPr>
          <a:xfrm>
            <a:off x="6053328" y="4645152"/>
            <a:ext cx="5568696" cy="1664208"/>
          </a:xfrm>
          <a:prstGeom prst="roundRect">
            <a:avLst/>
          </a:prstGeom>
          <a:solidFill>
            <a:srgbClr val="E8F5F0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525" name="g1-hdr"/>
          <p:cNvSpPr/>
          <p:nvPr/>
        </p:nvSpPr>
        <p:spPr>
          <a:xfrm>
            <a:off x="6053328" y="4645152"/>
            <a:ext cx="5568696" cy="310896"/>
          </a:xfrm>
          <a:prstGeom prst="roundRect">
            <a:avLst/>
          </a:prstGeom>
          <a:solidFill>
            <a:srgbClr val="00965F"/>
          </a:solidFill>
          <a:ln w="9525">
            <a:solidFill>
              <a:srgbClr val="0096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85000" lnSpcReduction="20000"/>
          </a:bodyPr>
          <a:lstStyle/>
          <a:p>
            <a:pPr algn="ctr"/>
            <a:endParaRPr/>
          </a:p>
        </p:txBody>
      </p:sp>
      <p:sp>
        <p:nvSpPr>
          <p:cNvPr id="526" name="g1-title"/>
          <p:cNvSpPr txBox="1"/>
          <p:nvPr/>
        </p:nvSpPr>
        <p:spPr>
          <a:xfrm>
            <a:off x="6053328" y="4645152"/>
            <a:ext cx="5568696" cy="310896"/>
          </a:xfrm>
          <a:prstGeom prst="rect">
            <a:avLst/>
          </a:prstGeom>
          <a:noFill/>
        </p:spPr>
        <p:txBody>
          <a:bodyPr wrap="square" lIns="109728" tIns="6350" rIns="109728" bIns="6350" anchor="ctr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맑은 고딕"/>
                <a:ea typeface="맑은 고딕"/>
              </a:rPr>
              <a:t>① 처리 · ③ 대책 · ④ 추가 분석</a:t>
            </a:r>
          </a:p>
        </p:txBody>
      </p:sp>
      <p:sp>
        <p:nvSpPr>
          <p:cNvPr id="527" name="g1-action"/>
          <p:cNvSpPr txBox="1"/>
          <p:nvPr/>
        </p:nvSpPr>
        <p:spPr>
          <a:xfrm>
            <a:off x="6163056" y="5001768"/>
            <a:ext cx="5367528" cy="1261872"/>
          </a:xfrm>
          <a:prstGeom prst="rect">
            <a:avLst/>
          </a:prstGeom>
          <a:noFill/>
        </p:spPr>
        <p:txBody>
          <a:bodyPr wrap="square" lIns="12700" tIns="6350" rIns="12700" bIns="6350" anchor="t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"/>
              </a:spcAft>
            </a:pPr>
            <a:r>
              <a:rPr sz="870" b="1" i="0">
                <a:solidFill>
                  <a:srgbClr val="081F46"/>
                </a:solidFill>
                <a:latin typeface="맑은 고딕"/>
                <a:ea typeface="맑은 고딕"/>
              </a:rPr>
              <a:t>처리: </a:t>
            </a:r>
            <a:r>
              <a:rPr sz="870" b="0" i="0">
                <a:solidFill>
                  <a:srgbClr val="282D37"/>
                </a:solidFill>
                <a:latin typeface="맑은 고딕"/>
                <a:ea typeface="맑은 고딕"/>
              </a:rPr>
              <a:t>AOI로 ‘소스’=미상 식별 → cate2별 교차표 → A1 규칙으로 결합 포착(lift 6.89)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"/>
              </a:spcAft>
            </a:pPr>
            <a:r>
              <a:rPr sz="870" b="1" i="0">
                <a:solidFill>
                  <a:srgbClr val="00965F"/>
                </a:solidFill>
                <a:latin typeface="맑은 고딕"/>
                <a:ea typeface="맑은 고딕"/>
              </a:rPr>
              <a:t>대책: </a:t>
            </a:r>
            <a:r>
              <a:rPr sz="870" b="0" i="0">
                <a:solidFill>
                  <a:srgbClr val="282D37"/>
                </a:solidFill>
                <a:latin typeface="맑은 고딕"/>
                <a:ea typeface="맑은 고딕"/>
              </a:rPr>
              <a:t>①파일명에서 출처 복구(1순위) ②적재 시 provenance 필수검증(placeholder 차단) ③출처 표준코드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"/>
              </a:spcAft>
            </a:pPr>
            <a:r>
              <a:rPr sz="870" b="1" i="0">
                <a:solidFill>
                  <a:srgbClr val="00965F"/>
                </a:solidFill>
                <a:latin typeface="맑은 고딕"/>
                <a:ea typeface="맑은 고딕"/>
              </a:rPr>
              <a:t>추가: </a:t>
            </a:r>
            <a:r>
              <a:rPr sz="870" b="0" i="0">
                <a:solidFill>
                  <a:srgbClr val="282D37"/>
                </a:solidFill>
                <a:latin typeface="맑은 고딕"/>
                <a:ea typeface="맑은 고딕"/>
              </a:rPr>
              <a:t>regi_date·url로 배치 역추적 · table_str_tree 동형군집 확정 · 타 분류 결손율 모니터링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09728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65F"/>
                </a:solidFill>
                <a:latin typeface="맑은 고딕"/>
                <a:ea typeface="맑은 고딕"/>
              </a:rPr>
              <a:t>거버넌스 이슈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6766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81F46"/>
                </a:solidFill>
                <a:latin typeface="맑은 고딕"/>
                <a:ea typeface="맑은 고딕"/>
              </a:rPr>
              <a:t>거버넌스 G2 죽은 메트릭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1057839" cy="2794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1170432"/>
            <a:ext cx="11057839" cy="51206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505050"/>
                </a:solidFill>
                <a:latin typeface="맑은 고딕"/>
                <a:ea typeface="맑은 고딕"/>
              </a:rPr>
              <a:t>카탈로그 품질·활용 지표가 전부 미충전되어 분석축으로 쓸 수 없음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82296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맑은 고딕"/>
                <a:ea typeface="맑은 고딕"/>
              </a:rPr>
              <a:t>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28800"/>
            <a:ext cx="5382615" cy="2125980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66928" y="1828800"/>
            <a:ext cx="5382615" cy="365760"/>
          </a:xfrm>
          <a:prstGeom prst="round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92500" lnSpcReduction="10000"/>
          </a:bodyPr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94944" y="1847088"/>
            <a:ext cx="5163159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① 이슈별 데이터 처리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" y="2267712"/>
            <a:ext cx="5144871" cy="161391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수치 컬럼 분포 통계(%zero/%null) 산출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1D 통계로 상수성·미충전 판별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컬럼 의미 vs 실제 값 정의 대조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2151" y="1828800"/>
            <a:ext cx="5382615" cy="2125980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242151" y="1828800"/>
            <a:ext cx="5382615" cy="365760"/>
          </a:xfrm>
          <a:prstGeom prst="round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92500" lnSpcReduction="10000"/>
          </a:bodyPr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70167" y="1847088"/>
            <a:ext cx="5163159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② 의미 분석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0167" y="2267712"/>
            <a:ext cx="5144871" cy="161391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null_ratio·table_qty_index·cum_search_num=9,840건 전부 0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품질·활용 지표 미계산 또는 미적재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same_ratio는 비율 아님(rec/distinct=평균중복도)→네이밍 오류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4229100"/>
            <a:ext cx="5382615" cy="2125980"/>
          </a:xfrm>
          <a:prstGeom prst="roundRect">
            <a:avLst/>
          </a:prstGeom>
          <a:solidFill>
            <a:srgbClr val="E8F5F0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566928" y="4229100"/>
            <a:ext cx="5382615" cy="365760"/>
          </a:xfrm>
          <a:prstGeom prst="roundRect">
            <a:avLst/>
          </a:prstGeom>
          <a:solidFill>
            <a:srgbClr val="009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92500" lnSpcReduction="10000"/>
          </a:bodyPr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94944" y="4247388"/>
            <a:ext cx="5163159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③ 대책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" y="4668012"/>
            <a:ext cx="5144871" cy="161391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지표 산출 파이프라인 점검·재적재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컬럼 의미 사전(메타 표준) 수립·명칭 정정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미충전 지표 폐기 또는 채움 정책 결정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42151" y="4229100"/>
            <a:ext cx="5382615" cy="2125980"/>
          </a:xfrm>
          <a:prstGeom prst="roundRect">
            <a:avLst/>
          </a:prstGeom>
          <a:solidFill>
            <a:srgbClr val="E8F5F0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6242151" y="4229100"/>
            <a:ext cx="5382615" cy="365760"/>
          </a:xfrm>
          <a:prstGeom prst="roundRect">
            <a:avLst/>
          </a:prstGeom>
          <a:solidFill>
            <a:srgbClr val="009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92500" lnSpcReduction="10000"/>
          </a:bodyPr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370167" y="4247388"/>
            <a:ext cx="5163159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④ 추가 필요 분석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0167" y="4668012"/>
            <a:ext cx="5144871" cy="161391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distinct_value로 null_ratio 실제 재계산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검색로그 연동해 cum_search_num 복원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지표 정의-구현 정합성 감사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09728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65F"/>
                </a:solidFill>
                <a:latin typeface="맑은 고딕"/>
                <a:ea typeface="맑은 고딕"/>
              </a:rPr>
              <a:t>거버넌스 이슈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6766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81F46"/>
                </a:solidFill>
                <a:latin typeface="맑은 고딕"/>
                <a:ea typeface="맑은 고딕"/>
              </a:rPr>
              <a:t>거버넌스 G3 컬럼 표준·품질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1057839" cy="2794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1170432"/>
            <a:ext cx="11057839" cy="51206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505050"/>
                </a:solidFill>
                <a:latin typeface="맑은 고딕"/>
                <a:ea typeface="맑은 고딕"/>
              </a:rPr>
              <a:t>동일 개념의 상이한 이름과 상수·불일치 컬럼이 표준 부재를 드러냄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82296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맑은 고딕"/>
                <a:ea typeface="맑은 고딕"/>
              </a:rPr>
              <a:t>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28800"/>
            <a:ext cx="5382615" cy="2125980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66928" y="1828800"/>
            <a:ext cx="5382615" cy="365760"/>
          </a:xfrm>
          <a:prstGeom prst="round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92500" lnSpcReduction="10000"/>
          </a:bodyPr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94944" y="1847088"/>
            <a:ext cx="5163159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① 이슈별 데이터 처리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" y="2267712"/>
            <a:ext cx="5144871" cy="161391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col_nm 빈도 집계(최빈 컬럼)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distinct_cnt·pk_ratio 1D 이산화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column_cnt vs (범주+수치) 정합성 검사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2151" y="1828800"/>
            <a:ext cx="5382615" cy="2125980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242151" y="1828800"/>
            <a:ext cx="5382615" cy="365760"/>
          </a:xfrm>
          <a:prstGeom prst="round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92500" lnSpcReduction="10000"/>
          </a:bodyPr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70167" y="1847088"/>
            <a:ext cx="5163159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② 의미 분석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0167" y="2267712"/>
            <a:ext cx="5144871" cy="161391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데이터기준일자(169)/데이터기준일(46), 연번(168)/순번(79)/번호(34)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상수 컬럼(distinct=1) 1,372개(13.9%)=정보량 0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스키마 회계 불일치 테이블 56개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4229100"/>
            <a:ext cx="5382615" cy="2125980"/>
          </a:xfrm>
          <a:prstGeom prst="roundRect">
            <a:avLst/>
          </a:prstGeom>
          <a:solidFill>
            <a:srgbClr val="E8F5F0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566928" y="4229100"/>
            <a:ext cx="5382615" cy="365760"/>
          </a:xfrm>
          <a:prstGeom prst="roundRect">
            <a:avLst/>
          </a:prstGeom>
          <a:solidFill>
            <a:srgbClr val="009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92500" lnSpcReduction="10000"/>
          </a:bodyPr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94944" y="4247388"/>
            <a:ext cx="5163159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③ 대책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" y="4668012"/>
            <a:ext cx="5144871" cy="161391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문자유사도 군집으로 표준어 사전 산출(G3)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상수·중복 컬럼 정리 가이드 배포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스키마 검증 룰(컬럼수 정합) 적용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42151" y="4229100"/>
            <a:ext cx="5382615" cy="2125980"/>
          </a:xfrm>
          <a:prstGeom prst="roundRect">
            <a:avLst/>
          </a:prstGeom>
          <a:solidFill>
            <a:srgbClr val="E8F5F0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6242151" y="4229100"/>
            <a:ext cx="5382615" cy="365760"/>
          </a:xfrm>
          <a:prstGeom prst="roundRect">
            <a:avLst/>
          </a:prstGeom>
          <a:solidFill>
            <a:srgbClr val="009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92500" lnSpcReduction="10000"/>
          </a:bodyPr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370167" y="4247388"/>
            <a:ext cx="5163159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④ 추가 필요 분석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0167" y="4668012"/>
            <a:ext cx="5144871" cy="161391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편집거리·자모 기반 컬럼명 클러스터링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table_str_tree 활용한 명칭군 검증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표준어 매핑의 도메인 영향 평가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09728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65F"/>
                </a:solidFill>
                <a:latin typeface="맑은 고딕"/>
                <a:ea typeface="맑은 고딕"/>
              </a:rPr>
              <a:t>인텔리전스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6766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81F46"/>
                </a:solidFill>
                <a:latin typeface="맑은 고딕"/>
                <a:ea typeface="맑은 고딕"/>
              </a:rPr>
              <a:t>인텔리전스 스키마 패밀리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1057839" cy="2794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1170432"/>
            <a:ext cx="11057839" cy="51206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0965F"/>
                </a:solidFill>
                <a:latin typeface="맑은 고딕"/>
                <a:ea typeface="맑은 고딕"/>
              </a:rPr>
              <a:t>동일 컬럼묶음의 반복 출현이 데이터셋 원형과 통합 후보를 드러냄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82296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맑은 고딕"/>
                <a:ea typeface="맑은 고딕"/>
              </a:rPr>
              <a:t>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28800"/>
            <a:ext cx="5382615" cy="2125980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66928" y="1828800"/>
            <a:ext cx="5382615" cy="365760"/>
          </a:xfrm>
          <a:prstGeom prst="round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92500" lnSpcReduction="10000"/>
          </a:bodyPr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94944" y="1847088"/>
            <a:ext cx="5163159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① 이슈별 데이터 처리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" y="2267712"/>
            <a:ext cx="5144871" cy="161391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컬럼개념 장바구니 구성(테이블별 보유개념)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FP-Growth 최대빈발 항목집합(≥8테이블·≥3개)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패밀리별 지배 도메인·대표 출처 집계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2151" y="1828800"/>
            <a:ext cx="5382615" cy="2125980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242151" y="1828800"/>
            <a:ext cx="5382615" cy="365760"/>
          </a:xfrm>
          <a:prstGeom prst="round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92500" lnSpcReduction="10000"/>
          </a:bodyPr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70167" y="1847088"/>
            <a:ext cx="5163159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② 의미 분석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0167" y="2267712"/>
            <a:ext cx="5144871" cy="161391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사학재정군·의료기관군·POI군·국가시험군 등 원형 식별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동일 기관이 동일 템플릿 다건 공개(예: 국가시험원 9건)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POI군(경도·위도·주소·전화)은 3개 도메인 횡단 범용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4229100"/>
            <a:ext cx="5382615" cy="2125980"/>
          </a:xfrm>
          <a:prstGeom prst="roundRect">
            <a:avLst/>
          </a:prstGeom>
          <a:solidFill>
            <a:srgbClr val="E8F5F0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566928" y="4229100"/>
            <a:ext cx="5382615" cy="365760"/>
          </a:xfrm>
          <a:prstGeom prst="roundRect">
            <a:avLst/>
          </a:prstGeom>
          <a:solidFill>
            <a:srgbClr val="009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92500" lnSpcReduction="10000"/>
          </a:bodyPr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94944" y="4247388"/>
            <a:ext cx="5163159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③ 대책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" y="4668012"/>
            <a:ext cx="5144871" cy="161391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POI·의료기관·업소 표준 데이터모델 정의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동일기관 다건의 통합 카탈로깅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패밀리 단위 스키마 표준화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42151" y="4229100"/>
            <a:ext cx="5382615" cy="2125980"/>
          </a:xfrm>
          <a:prstGeom prst="roundRect">
            <a:avLst/>
          </a:prstGeom>
          <a:solidFill>
            <a:srgbClr val="E8F5F0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6242151" y="4229100"/>
            <a:ext cx="5382615" cy="365760"/>
          </a:xfrm>
          <a:prstGeom prst="roundRect">
            <a:avLst/>
          </a:prstGeom>
          <a:solidFill>
            <a:srgbClr val="009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92500" lnSpcReduction="10000"/>
          </a:bodyPr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370167" y="4247388"/>
            <a:ext cx="5163159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④ 추가 필요 분석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0167" y="4668012"/>
            <a:ext cx="5144871" cy="161391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table_pair_map 유사도로 near-duplicate 확정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combined_pair_map으로 조인키 검증(I3)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패밀리 커버리지·결측 분석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09728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65F"/>
                </a:solidFill>
                <a:latin typeface="맑은 고딕"/>
                <a:ea typeface="맑은 고딕"/>
              </a:rPr>
              <a:t>인텔리전스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6766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81F46"/>
                </a:solidFill>
                <a:latin typeface="맑은 고딕"/>
                <a:ea typeface="맑은 고딕"/>
              </a:rPr>
              <a:t>인텔리전스 흥미로운 연관규칙 — 상세 지표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1057839" cy="2794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1170432"/>
            <a:ext cx="11057839" cy="51206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0965F"/>
                </a:solidFill>
                <a:latin typeface="맑은 고딕"/>
                <a:ea typeface="맑은 고딕"/>
              </a:rPr>
              <a:t>‘주말&gt;기저귀&gt;맥주’ 대응 — 이슈 패턴 10건의 전체 지표(N=999)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82296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맑은 고딕"/>
                <a:ea typeface="맑은 고딕"/>
              </a:rPr>
              <a:t>14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1828800"/>
          <a:ext cx="11057835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03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95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95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25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6164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6164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0099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4886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57447"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주제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규칙(선행→후행)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#테이블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support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conf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lift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leverage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conviction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7447"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지리좌표쌍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경도→위도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44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0.044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1.00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22.7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0.0421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∞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7447"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기간쌍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교육시작일→교육종료일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10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0.010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1.00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90.8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0.0099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∞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7447"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행정구역계층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시도명→시군구명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15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0.015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0.94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39.0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0.0146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15.6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7447"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주소이중표기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지번주소→도로명주소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16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0.016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0.94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22.9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0.0153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16.3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7447"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소재지주소(공공행정)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소재지지번주소→소재지도로명주소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11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0.011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0.92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36.6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0.0107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11.7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7447"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인구통계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연령대→성별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11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0.011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0.85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35.2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0.0107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6.3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7447"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의료기관PII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의료기관전화번호→의료기관명+의료기관주소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15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0.015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0.88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46.4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0.0147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8.3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7447"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교육스키마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교과목코드→분반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8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0.008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1.00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124.9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0.0079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∞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57447"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교육스키마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학종→학교명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11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0.011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1.00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23.8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0.0105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∞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57450"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사학재정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연구비→일반기부금+지정기부금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8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0.008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1.00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111.0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0.0079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∞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66928" y="5943600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05050"/>
                </a:solidFill>
                <a:latin typeface="맑은 고딕"/>
                <a:ea typeface="맑은 고딕"/>
              </a:rPr>
              <a:t>support=동시출현비율 · conf=P(후행│선행) · lift=우연대비배수 · leverage=관측−독립 · conviction=함의강도(∞=예외0) · scripts/09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09728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65F"/>
                </a:solidFill>
                <a:latin typeface="맑은 고딕"/>
                <a:ea typeface="맑은 고딕"/>
              </a:rPr>
              <a:t>인텔리전스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6766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81F46"/>
                </a:solidFill>
                <a:latin typeface="맑은 고딕"/>
                <a:ea typeface="맑은 고딕"/>
              </a:rPr>
              <a:t>인텔리전스 연관규칙 시각화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1057839" cy="2794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1170432"/>
            <a:ext cx="11057839" cy="51206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0965F"/>
                </a:solidFill>
                <a:latin typeface="맑은 고딕"/>
                <a:ea typeface="맑은 고딕"/>
              </a:rPr>
              <a:t>이슈 규칙의 lift 크기와 전체 규칙군 내 위치(support–lift)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82296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맑은 고딕"/>
                <a:ea typeface="맑은 고딕"/>
              </a:rPr>
              <a:t>15</a:t>
            </a:r>
          </a:p>
        </p:txBody>
      </p:sp>
      <p:pic>
        <p:nvPicPr>
          <p:cNvPr id="7" name="Picture 6" descr="fig_rules_li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965960"/>
            <a:ext cx="5943600" cy="3241964"/>
          </a:xfrm>
          <a:prstGeom prst="rect">
            <a:avLst/>
          </a:prstGeom>
        </p:spPr>
      </p:pic>
      <p:pic>
        <p:nvPicPr>
          <p:cNvPr id="8" name="Picture 7" descr="fig_scat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6288" y="2148840"/>
            <a:ext cx="5029200" cy="298026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66928" y="5989320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05050"/>
                </a:solidFill>
                <a:latin typeface="맑은 고딕"/>
                <a:ea typeface="맑은 고딕"/>
              </a:rPr>
              <a:t>좌: 이슈 규칙 lift / 우: 전체 컬럼규칙의 support–lift 산점(초록=이슈) — scripts/09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09728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65F"/>
                </a:solidFill>
                <a:latin typeface="맑은 고딕"/>
                <a:ea typeface="맑은 고딕"/>
              </a:rPr>
              <a:t>인텔리전스·거버넌스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6766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81F46"/>
                </a:solidFill>
                <a:latin typeface="맑은 고딕"/>
                <a:ea typeface="맑은 고딕"/>
              </a:rPr>
              <a:t>인텔리전스·거버넌스 교차도메인 재식별 위험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1057839" cy="2794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1170432"/>
            <a:ext cx="11057839" cy="51206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0965F"/>
                </a:solidFill>
                <a:latin typeface="맑은 고딕"/>
                <a:ea typeface="맑은 고딕"/>
              </a:rPr>
              <a:t>명·주소·전화번호가 항상 묶여 공개되어 단일·결합 재식별 위험을 형성함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82296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맑은 고딕"/>
                <a:ea typeface="맑은 고딕"/>
              </a:rPr>
              <a:t>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28800"/>
            <a:ext cx="5382615" cy="2125980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66928" y="1828800"/>
            <a:ext cx="5382615" cy="365760"/>
          </a:xfrm>
          <a:prstGeom prst="round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92500" lnSpcReduction="10000"/>
          </a:bodyPr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94944" y="1847088"/>
            <a:ext cx="5163159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① 이슈별 데이터 처리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" y="2267712"/>
            <a:ext cx="5144871" cy="161391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의료기관 패밀리+연관규칙(전화→{명,주소} lift 46) 추출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교차도메인 공통 컬럼 집계(전화 140·주소 85·위경도 44)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PII 후보 컬럼 태깅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2151" y="1828800"/>
            <a:ext cx="5382615" cy="2125980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242151" y="1828800"/>
            <a:ext cx="5382615" cy="365760"/>
          </a:xfrm>
          <a:prstGeom prst="round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92500" lnSpcReduction="10000"/>
          </a:bodyPr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70167" y="1847088"/>
            <a:ext cx="5163159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② 의미 분석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0167" y="2267712"/>
            <a:ext cx="5144871" cy="161391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명+주소+전화 묶음=데이터셋 내 직접 재식별 가능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도메인 횡단 공통 식별자로 결합 위험 증폭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양면성: 데이터 연계 기회 ↔ 프라이버시 위험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4229100"/>
            <a:ext cx="5382615" cy="2125980"/>
          </a:xfrm>
          <a:prstGeom prst="roundRect">
            <a:avLst/>
          </a:prstGeom>
          <a:solidFill>
            <a:srgbClr val="E8F5F0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566928" y="4229100"/>
            <a:ext cx="5382615" cy="365760"/>
          </a:xfrm>
          <a:prstGeom prst="roundRect">
            <a:avLst/>
          </a:prstGeom>
          <a:solidFill>
            <a:srgbClr val="009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92500" lnSpcReduction="10000"/>
          </a:bodyPr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94944" y="4247388"/>
            <a:ext cx="5163159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③ 대책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" y="4668012"/>
            <a:ext cx="5144871" cy="161391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PII 표준 거버넌스(마스킹·집계화) 적용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결합 위험 데이터셋 공개 전 영향평가 의무화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식별자 컬럼 자동 탐지·태깅 체계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42151" y="4229100"/>
            <a:ext cx="5382615" cy="2125980"/>
          </a:xfrm>
          <a:prstGeom prst="roundRect">
            <a:avLst/>
          </a:prstGeom>
          <a:solidFill>
            <a:srgbClr val="E8F5F0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6242151" y="4229100"/>
            <a:ext cx="5382615" cy="365760"/>
          </a:xfrm>
          <a:prstGeom prst="roundRect">
            <a:avLst/>
          </a:prstGeom>
          <a:solidFill>
            <a:srgbClr val="009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92500" lnSpcReduction="10000"/>
          </a:bodyPr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370167" y="4247388"/>
            <a:ext cx="5163159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④ 추가 필요 분석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0167" y="4668012"/>
            <a:ext cx="5144871" cy="161391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combined_pair_map linking_ratio로 결합가능성 정량화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k-익명성·재식별 위험도 평가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도메인 횡단 식별자 전수 인벤토리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09728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65F"/>
                </a:solidFill>
                <a:latin typeface="맑은 고딕"/>
                <a:ea typeface="맑은 고딕"/>
              </a:rPr>
              <a:t>검증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6766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81F46"/>
                </a:solidFill>
                <a:latin typeface="맑은 고딕"/>
                <a:ea typeface="맑은 고딕"/>
              </a:rPr>
              <a:t>규칙#4 국소→전체 검증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1057839" cy="2794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1170432"/>
            <a:ext cx="11057839" cy="51206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0965F"/>
                </a:solidFill>
                <a:latin typeface="맑은 고딕"/>
                <a:ea typeface="맑은 고딕"/>
              </a:rPr>
              <a:t>국소에서 강했던 규칙이 전체에서 약화·비대칭됨을 실증함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82296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맑은 고딕"/>
                <a:ea typeface="맑은 고딕"/>
              </a:rPr>
              <a:t>17</a:t>
            </a:r>
          </a:p>
        </p:txBody>
      </p:sp>
      <p:pic>
        <p:nvPicPr>
          <p:cNvPr id="7" name="Picture 6" descr="fig_rul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2148840"/>
            <a:ext cx="5486400" cy="32512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66928" y="5897880"/>
            <a:ext cx="5486400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05050"/>
                </a:solidFill>
                <a:latin typeface="맑은 고딕"/>
                <a:ea typeface="맑은 고딕"/>
              </a:rPr>
              <a:t>국소(공공행정) vs 전체(999) confidence — scripts/09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73368" y="1828800"/>
            <a:ext cx="5251399" cy="2148840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373368" y="1828800"/>
            <a:ext cx="5251399" cy="365760"/>
          </a:xfrm>
          <a:prstGeom prst="round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92500" lnSpcReduction="10000"/>
          </a:bodyPr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01384" y="1847088"/>
            <a:ext cx="5031943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의미 분석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01384" y="2267712"/>
            <a:ext cx="5013655" cy="163677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소재지도로명→지번: 공공행정 1.00 → 전체 0.44 약화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보건은 지번주소 단독 보유 多 → 방향 붕괴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역방향(지번→도로명)은 0.92로 유지=비대칭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보건 일부는 데이터 명세서(사전) 파일=오분류 후보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73368" y="4160520"/>
            <a:ext cx="5251399" cy="1828800"/>
          </a:xfrm>
          <a:prstGeom prst="roundRect">
            <a:avLst/>
          </a:prstGeom>
          <a:solidFill>
            <a:srgbClr val="E8F5F0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373368" y="4160520"/>
            <a:ext cx="5251399" cy="365760"/>
          </a:xfrm>
          <a:prstGeom prst="roundRect">
            <a:avLst/>
          </a:prstGeom>
          <a:solidFill>
            <a:srgbClr val="009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92500" lnSpcReduction="10000"/>
          </a:bodyPr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01384" y="4178808"/>
            <a:ext cx="5031943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대책·추가 분석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01384" y="4599432"/>
            <a:ext cx="5013655" cy="131673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규칙 일반화 전 전체검증 의무화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카탈로그 오분류(명세서 vs 실데이터) 재분류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방향성 규칙은 양방향 모두 표기·점검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명세서 의심 테이블 별도 군집·식별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09728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65F"/>
                </a:solidFill>
                <a:latin typeface="맑은 고딕"/>
                <a:ea typeface="맑은 고딕"/>
              </a:rPr>
              <a:t>APPENDIX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6766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81F46"/>
                </a:solidFill>
                <a:latin typeface="맑은 고딕"/>
                <a:ea typeface="맑은 고딕"/>
              </a:rPr>
              <a:t>Appendix A 추가 컬럼 연관규칙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1057839" cy="2794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1170432"/>
            <a:ext cx="11057839" cy="51206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505050"/>
                </a:solidFill>
                <a:latin typeface="맑은 고딕"/>
                <a:ea typeface="맑은 고딕"/>
              </a:rPr>
              <a:t>주요 이슈에 포함되지 않은 추가 동시출현 패턴(lift順·대칭/동일집합 제거)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82296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맑은 고딕"/>
                <a:ea typeface="맑은 고딕"/>
              </a:rPr>
              <a:t>18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1828800"/>
          <a:ext cx="11057834" cy="4069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193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38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750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2148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2148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2626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7029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71272"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규칙(선행→후행)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#테이블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support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conf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lift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leverage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conv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1272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{종료일}→{시작일}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9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0.009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1.00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99.9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0.0089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∞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1272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{학종}→{학급}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8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0.008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0.73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90.8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0.0079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3.6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1272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{사업장소재지}→{사업장전화번호}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8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0.008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0.73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80.7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0.0079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3.6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1272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{교육종료일}→{교육장소}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8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0.008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0.73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60.5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0.0079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3.6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1272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{관리기관전화번호}→{관리기관명, 데이터기준일자}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8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0.008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0.80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57.1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0.0079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4.9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1272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{출판사}→{저자}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12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0.012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0.71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47.0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0.0118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3.3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1272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{서명}→{출판사}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8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0.008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0.73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42.7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0.0078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3.6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1272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{확진자수}→{사망자수}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10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0.010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0.62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39.0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0.0098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2.6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1272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{시도}→{시군구}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10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0.010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0.42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27.8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0.0096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1.7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1272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{의료기관명}→{의료기관종별}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10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0.010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0.26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25.6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0.0096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1.3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71272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{학교명}→{학급}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8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0.008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0.19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23.8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0.0077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1.2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71272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{설립}→{학교명}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9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0.009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0.90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21.4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0.0086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9.6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71272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{우편번호}→{팩스번호}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8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0.008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0.30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21.1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0.0076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1.4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71272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{설립구분}→{학교명}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8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0.008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0.73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17.3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0.0075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3.5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66928" y="6035040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05050"/>
                </a:solidFill>
                <a:latin typeface="맑은 고딕"/>
                <a:ea typeface="맑은 고딕"/>
              </a:rPr>
              <a:t>신규 주제: 기간쌍·도서관(출판사·저자·서명)·감염병통계(확진자→사망자)·학교설립·사업장 — scripts/09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09728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65F"/>
                </a:solidFill>
                <a:latin typeface="맑은 고딕"/>
                <a:ea typeface="맑은 고딕"/>
              </a:rPr>
              <a:t>APPENDIX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6766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81F46"/>
                </a:solidFill>
                <a:latin typeface="맑은 고딕"/>
                <a:ea typeface="맑은 고딕"/>
              </a:rPr>
              <a:t>Appendix B 속성 규칙·스키마 패밀리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1057839" cy="2794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1170432"/>
            <a:ext cx="11057839" cy="51206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505050"/>
                </a:solidFill>
                <a:latin typeface="맑은 고딕"/>
                <a:ea typeface="맑은 고딕"/>
              </a:rPr>
              <a:t>테이블 속성 비자명 규칙과 최대빈발 컬럼군(추가)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82296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맑은 고딕"/>
                <a:ea typeface="맑은 고딕"/>
              </a:rPr>
              <a:t>19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1828800"/>
          <a:ext cx="6400798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469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13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12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121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6400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테이블 속성 규칙(비자명, conf≥0.6)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support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conf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lift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{cate2=보건의료, 상수컬럼=없음, 유일키=있음}→{cate1=보건, 컬럼폭=협소}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0.068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0.61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4.8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{cate1=공공행정, 레코드=극소}→{cate2=일반행정, 상수컬럼=있음, 유일키=있음}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0.054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0.61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4.6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{cate1=공공행정, 컬럼폭=협소}→{cate2=일반행정, 상수컬럼=없음}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0.081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0.64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4.5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{cate1=보건, 컬럼폭=협소}→{cate2=보건의료, 상수컬럼=없음}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0.081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0.64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4.5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{cate2=보건의료, 유일키=있음, 컬럼폭=표준}→{cate1=보건, 상수컬럼=있음}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0.076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0.69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4.4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{cate2=일반행정, 유일키=있음, 컬럼폭=협소}→{cate1=공공행정, 상수컬럼=없음}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0.060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0.60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4.3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{cate2=일반행정, 유일키=있음, 컬럼폭=표준}→{cate1=공공행정, 상수컬럼=있음}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0.061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0.66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4.1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{cate2=보건의료, 컬럼폭=표준}→{cate1=보건, 상수컬럼=있음}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0.093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0.65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4.1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66928" y="5669280"/>
            <a:ext cx="6400800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05050"/>
                </a:solidFill>
                <a:latin typeface="맑은 고딕"/>
                <a:ea typeface="맑은 고딕"/>
              </a:rPr>
              <a:t>속성 연관규칙 — scripts/09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196328" y="1828800"/>
          <a:ext cx="4428438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784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66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333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스키마 패밀리(컬럼군)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#tbl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도메인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{순번,의료기관명,의료기관전화,의료기관주소}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11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보건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{경도,위도,도로명주소,전화번호}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10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보건/교육/행정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{연도,직종,회차}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9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보건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{소재지전화,업소명,업종명}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9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보건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{데이터기준일자,시군구명,시도명}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9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교육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{우편번호,전화번호,주소}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8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교육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{관리기관명,관리기관전화,데이터기준일자}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8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공공행정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7196328" y="5669280"/>
            <a:ext cx="44284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05050"/>
                </a:solidFill>
                <a:latin typeface="맑은 고딕"/>
                <a:ea typeface="맑은 고딕"/>
              </a:rPr>
              <a:t>FP-Growth 최대빈발 항목집합(≥8테이블) — analysis/I1_synthesis.md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09728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65F"/>
                </a:solidFill>
                <a:latin typeface="맑은 고딕"/>
                <a:ea typeface="맑은 고딕"/>
              </a:rPr>
              <a:t>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6766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81F46"/>
                </a:solidFill>
                <a:latin typeface="맑은 고딕"/>
                <a:ea typeface="맑은 고딕"/>
              </a:rPr>
              <a:t>종합 시사점 및 거버넌스 대책 로드맵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1057839" cy="2794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1170432"/>
            <a:ext cx="11057839" cy="51206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0965F"/>
                </a:solidFill>
                <a:latin typeface="맑은 고딕"/>
                <a:ea typeface="맑은 고딕"/>
              </a:rPr>
              <a:t>발견을 즉시·단기·중기 조치로 우선순위화함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82296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맑은 고딕"/>
                <a:ea typeface="맑은 고딕"/>
              </a:rPr>
              <a:t>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28800"/>
            <a:ext cx="3503066" cy="4114800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66928" y="1828800"/>
            <a:ext cx="3503066" cy="365760"/>
          </a:xfrm>
          <a:prstGeom prst="round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92500" lnSpcReduction="10000"/>
          </a:bodyPr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94944" y="1847088"/>
            <a:ext cx="3283610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즉시(거버넌스)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" y="2267712"/>
            <a:ext cx="3265322" cy="360273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출처 결손 배치 provenance 복구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적재 시 필수 메타 검증 도입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죽은 메트릭·네이밍 정정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4314" y="1828800"/>
            <a:ext cx="3503066" cy="4114800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4344314" y="1828800"/>
            <a:ext cx="3503066" cy="365760"/>
          </a:xfrm>
          <a:prstGeom prst="round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92500" lnSpcReduction="10000"/>
          </a:bodyPr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472330" y="1847088"/>
            <a:ext cx="3283610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단기(표준화)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72330" y="2267712"/>
            <a:ext cx="3265322" cy="360273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컬럼 표준어 사전(G3) 구축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POI·의료기관 표준 데이터모델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PII 식별자 태깅·마스킹 정책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21700" y="1828800"/>
            <a:ext cx="3503066" cy="4114800"/>
          </a:xfrm>
          <a:prstGeom prst="roundRect">
            <a:avLst/>
          </a:prstGeom>
          <a:solidFill>
            <a:srgbClr val="E8F5F0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8121700" y="1828800"/>
            <a:ext cx="3503066" cy="365760"/>
          </a:xfrm>
          <a:prstGeom prst="roundRect">
            <a:avLst/>
          </a:prstGeom>
          <a:solidFill>
            <a:srgbClr val="009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92500" lnSpcReduction="10000"/>
          </a:bodyPr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49716" y="1847088"/>
            <a:ext cx="3283610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중기(인텔리전스)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9716" y="2267712"/>
            <a:ext cx="3265322" cy="360273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조인키 검증으로 데이터 연계(I3)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서브스페이스 클러스터링(I5)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near-duplicate 통합 카탈로깅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09728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65F"/>
                </a:solidFill>
                <a:latin typeface="맑은 고딕"/>
                <a:ea typeface="맑은 고딕"/>
              </a:rPr>
              <a:t>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6766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81F46"/>
                </a:solidFill>
                <a:latin typeface="맑은 고딕"/>
                <a:ea typeface="맑은 고딕"/>
              </a:rPr>
              <a:t>다음 단계 분석 및 한계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1057839" cy="2794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1170432"/>
            <a:ext cx="11057839" cy="51206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505050"/>
                </a:solidFill>
                <a:latin typeface="맑은 고딕"/>
                <a:ea typeface="맑은 고딕"/>
              </a:rPr>
              <a:t>심화 분석 경로와 현재 분석의 명시적 한계를 제시함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82296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맑은 고딕"/>
                <a:ea typeface="맑은 고딕"/>
              </a:rPr>
              <a:t>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828800"/>
            <a:ext cx="11057839" cy="45262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282D37"/>
                </a:solidFill>
                <a:latin typeface="맑은 고딕"/>
                <a:ea typeface="맑은 고딕"/>
              </a:rPr>
              <a:t>• I3(연계): POI·의료기관 패밀리를 linking_ratio로 실제 조인키 검증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282D37"/>
                </a:solidFill>
                <a:latin typeface="맑은 고딕"/>
                <a:ea typeface="맑은 고딕"/>
              </a:rPr>
              <a:t>• G3(거버넌스): 문자유사도 군집으로 표준어 사전 산출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282D37"/>
                </a:solidFill>
                <a:latin typeface="맑은 고딕"/>
                <a:ea typeface="맑은 고딕"/>
              </a:rPr>
              <a:t>• I5(심화): 컬럼 프로파일 서브스페이스 클러스터링으로 원형 정교화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282D37"/>
                </a:solidFill>
                <a:latin typeface="맑은 고딕"/>
                <a:ea typeface="맑은 고딕"/>
              </a:rPr>
              <a:t>• 한계: 장바구니 규칙 support 낮음(8~44 테이블) → 운영 전 도메인 확인 필요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282D37"/>
                </a:solidFill>
                <a:latin typeface="맑은 고딕"/>
                <a:ea typeface="맑은 고딕"/>
              </a:rPr>
              <a:t>• 한계: 활용/품질 지표 미충전, distinct_value 정렬편향, proj 이미지 손상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3145</Words>
  <Application>Microsoft Office PowerPoint</Application>
  <PresentationFormat>와이드스크린</PresentationFormat>
  <Paragraphs>607</Paragraphs>
  <Slides>21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21</vt:i4>
      </vt:variant>
    </vt:vector>
  </HeadingPairs>
  <TitlesOfParts>
    <vt:vector size="25" baseType="lpstr">
      <vt:lpstr>맑은 고딕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강훈</cp:lastModifiedBy>
  <cp:revision>98</cp:revision>
  <dcterms:created xsi:type="dcterms:W3CDTF">2013-01-27T09:14:16Z</dcterms:created>
  <dcterms:modified xsi:type="dcterms:W3CDTF">2026-06-07T11:46:27Z</dcterms:modified>
  <cp:category/>
</cp:coreProperties>
</file>