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1CCFCC-030A-4CE8-A15F-A37FC6BFC187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B268F-8D29-4E2C-AE3B-299A671290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503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2B268F-8D29-4E2C-AE3B-299A6712908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349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8100"/>
          </a:xfrm>
          <a:prstGeom prst="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286000"/>
            <a:ext cx="11057839" cy="18288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</a:rPr>
              <a:t>공공데이터 ‘데이터 지도’
거버넌스·인텔리전스 분석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0"/>
            <a:ext cx="11057839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2E1"/>
                </a:solidFill>
                <a:latin typeface="맑은 고딕"/>
                <a:ea typeface="맑은 고딕"/>
              </a:rPr>
              <a:t>999개 공공데이터셋(교육·보건·공공행정) 데이터 지도의 비지도 데이터마이닝 분석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965F"/>
                </a:solidFill>
                <a:latin typeface="맑은 고딕"/>
                <a:ea typeface="맑은 고딕"/>
              </a:rPr>
              <a:t>1D 클러스터링 · AOI 롤업 · FP-Growth 빈발패턴 · 연관규칙 · 국소→전체 검증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분석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개요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및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목적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원본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트랜잭션이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아닌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‘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메타데이터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)’를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비지도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알고리즘으로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분석함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28800"/>
            <a:ext cx="7198682" cy="1669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공공데이터포털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999개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산출물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구성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쌍별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값·도메인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중첩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유사도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클러스터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목표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거버넌스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이슈와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비즈니스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인텔리전스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도출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형식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‘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주말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기저귀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맥주’형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연관규칙을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데이터셋·컬럼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수준에서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발굴</a:t>
            </a:r>
            <a:endParaRPr lang="ko-KR" alt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원칙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LLM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추론 배제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모든 결론은 설명가능한 알고리즘 실행 결과</a:t>
            </a:r>
          </a:p>
        </p:txBody>
      </p:sp>
      <p:pic>
        <p:nvPicPr>
          <p:cNvPr id="12" name="Picture 11" descr="fig_do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936" y="2579261"/>
            <a:ext cx="4428439" cy="31631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대상 데이터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9개 파일 = 프로파일 + 쌍별 중첩 + 유사도 클러스터의 3계층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667075"/>
              </p:ext>
            </p:extLst>
          </p:nvPr>
        </p:nvGraphicFramePr>
        <p:xfrm>
          <a:off x="566928" y="1993900"/>
          <a:ext cx="1105783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5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1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파일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규모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데이터셋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메타+분류+통계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999행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프로파일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키품질·고유값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등)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9,840행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distinct_value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컬럼별 distinct 값+빈도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803만행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table/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column_summary_map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객체별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중첩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통계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롤업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996/8,360행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combined_pair_map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 조인가능성(linking_ratio)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74만행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테이블쌍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유사도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25만행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값·도메인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중첩·중복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524만행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*_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value_tree</a:t>
                      </a:r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/ *_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str_tree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값·이름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유사도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계층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클러스터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331~4,549행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분석 방법론 파이프라인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이산화 → AOI 롤업 → 빈발패턴 → 연관규칙 → 국소·전체 검증의 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7" name="Pentagon 6"/>
          <p:cNvSpPr/>
          <p:nvPr/>
        </p:nvSpPr>
        <p:spPr>
          <a:xfrm>
            <a:off x="566928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이산화</a:t>
            </a:r>
            <a:endParaRPr sz="1600" b="1" i="0" dirty="0">
              <a:solidFill>
                <a:srgbClr val="FFFFFF"/>
              </a:solidFill>
              <a:latin typeface="맑은 고딕"/>
              <a:ea typeface="맑은 고딕"/>
            </a:endParaRPr>
          </a:p>
          <a:p>
            <a:pPr algn="ctr"/>
            <a:r>
              <a:rPr sz="1050" b="0" i="0" dirty="0">
                <a:solidFill>
                  <a:srgbClr val="FFFFFF"/>
                </a:solidFill>
                <a:latin typeface="맑은 고딕"/>
                <a:ea typeface="맑은 고딕"/>
              </a:rPr>
              <a:t>1D </a:t>
            </a:r>
            <a:r>
              <a:rPr sz="1050" b="0" i="0" dirty="0" err="1">
                <a:solidFill>
                  <a:srgbClr val="FFFFFF"/>
                </a:solidFill>
                <a:latin typeface="맑은 고딕"/>
                <a:ea typeface="맑은 고딕"/>
              </a:rPr>
              <a:t>KMeans</a:t>
            </a:r>
            <a:endParaRPr sz="1050" b="0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8" name="Pentagon 7"/>
          <p:cNvSpPr/>
          <p:nvPr/>
        </p:nvSpPr>
        <p:spPr>
          <a:xfrm>
            <a:off x="2796783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② AOI 롤업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개념계층</a:t>
            </a:r>
          </a:p>
        </p:txBody>
      </p:sp>
      <p:sp>
        <p:nvSpPr>
          <p:cNvPr id="9" name="Pentagon 8"/>
          <p:cNvSpPr/>
          <p:nvPr/>
        </p:nvSpPr>
        <p:spPr>
          <a:xfrm>
            <a:off x="5026639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③ 빈발패턴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FP-Growth</a:t>
            </a:r>
          </a:p>
        </p:txBody>
      </p:sp>
      <p:sp>
        <p:nvSpPr>
          <p:cNvPr id="10" name="Pentagon 9"/>
          <p:cNvSpPr/>
          <p:nvPr/>
        </p:nvSpPr>
        <p:spPr>
          <a:xfrm>
            <a:off x="7256495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④ 연관규칙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lift 등</a:t>
            </a:r>
          </a:p>
        </p:txBody>
      </p:sp>
      <p:sp>
        <p:nvSpPr>
          <p:cNvPr id="11" name="Pentagon 10"/>
          <p:cNvSpPr/>
          <p:nvPr/>
        </p:nvSpPr>
        <p:spPr>
          <a:xfrm>
            <a:off x="9486351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⑤ 검증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규칙#4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087620"/>
              </p:ext>
            </p:extLst>
          </p:nvPr>
        </p:nvGraphicFramePr>
        <p:xfrm>
          <a:off x="566928" y="3063240"/>
          <a:ext cx="1105783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3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14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단계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알고리즘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적용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이산화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log1p + 1D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KMeans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rec_cnt·column_cnt·수치비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→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순서형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구간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AOI 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롤업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정규식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개념계층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table_source→기관유형, col_nm→컬럼개념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빈발패턴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FP-Growth(max_len=3)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거래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속성·컬럼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아이템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연관규칙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association_rules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(lift)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support·confidence·lift·leverage·conviction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검증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도메인별→전체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재계산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국소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강규칙의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일반화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여부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판정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공통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데이터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준비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①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적재·인코딩·형변환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모든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이슈가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공유하는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기반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전처리</a:t>
            </a:r>
            <a:r>
              <a:rPr lang="en-US" b="1" dirty="0">
                <a:solidFill>
                  <a:srgbClr val="505050"/>
                </a:solidFill>
                <a:latin typeface="맑은 고딕"/>
                <a:ea typeface="맑은 고딕"/>
              </a:rPr>
              <a:t>: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인코딩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확정</a:t>
            </a:r>
            <a:r>
              <a:rPr 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ko-KR" alt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및</a:t>
            </a:r>
            <a:r>
              <a:rPr lang="en-US" b="1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형변환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1251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인코딩 확정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UTF-8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파일로 인코딩 통일</a:t>
            </a:r>
            <a:endParaRPr lang="en-US" altLang="ko-KR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table_map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(999) ·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column_map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(9,840)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을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dtype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=str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로 안전 적재 후 </a:t>
            </a:r>
            <a:r>
              <a:rPr lang="ko-KR" altLang="en-US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endParaRPr lang="ko-KR" alt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to_numeric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(coerce) —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비수치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날짜는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NaN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처리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table_id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결측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행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제거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컬럼-테이블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조인키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확인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② 1D 이산화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한쪽으로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심하게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쏠린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수치를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로그로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고르게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편 뒤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자동으로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구간을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나눔</a:t>
            </a:r>
            <a:r>
              <a:rPr 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.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7" y="1828800"/>
            <a:ext cx="9980360" cy="125271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문제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1~833,466로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극단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쏠림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그대로면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큰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결과를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지배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해결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log(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)로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쏠림을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편 뒤 1차원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KMeans로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자동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구간화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이산화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레코드수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(5구간)</a:t>
            </a:r>
            <a:r>
              <a:rPr 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 /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컬럼폭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(4구간)</a:t>
            </a:r>
            <a:r>
              <a:rPr 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 /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수치비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(3구간)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수치형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(0~1)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고른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값이라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없이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바로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구간화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4F2DC526-7433-974C-F78C-8B3B1EF36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584" y="3370758"/>
            <a:ext cx="7472126" cy="33775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③ AOI 롤업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제각각인 999개 기관명을 정규식 규칙으로 7개 상위 개념(기관유형)으로 롤업(상향 일반화)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4240462" cy="38587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AOI(속성지향 귀납)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롤업</a:t>
            </a: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구체적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개념으로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끌어올리는 다계층 일반화(roll-up)</a:t>
            </a: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– 제각각인 999개 </a:t>
            </a:r>
            <a:r>
              <a:rPr lang="en-US" sz="1300" dirty="0" err="1">
                <a:solidFill>
                  <a:srgbClr val="505050"/>
                </a:solidFill>
                <a:latin typeface="맑은 고딕"/>
                <a:ea typeface="맑은 고딕"/>
              </a:rPr>
              <a:t>table_source</a:t>
            </a:r>
            <a:r>
              <a:rPr 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lang="ko-KR" alt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기관명</a:t>
            </a:r>
            <a:r>
              <a:rPr lang="en-US" altLang="ko-KR" sz="1300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을 </a:t>
            </a:r>
            <a:r>
              <a:rPr lang="ko-KR" altLang="en-US"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이산화하여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분석 </a:t>
            </a:r>
            <a:r>
              <a:rPr lang="en-US" altLang="ko-KR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feature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로 활용</a:t>
            </a:r>
            <a:endParaRPr lang="en-US" altLang="ko-KR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출처 롤업: table_source의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접미사·키워드를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정규식으로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매칭해 7개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기관유형으로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축약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– 우선순위로 1건씩 분류(교육→중앙→공공→광역→기초→미상→기타), ‘소스’·빈값은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미상으로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분리</a:t>
            </a:r>
            <a:endParaRPr lang="en-US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301" name="card-bg"/>
          <p:cNvSpPr/>
          <p:nvPr/>
        </p:nvSpPr>
        <p:spPr>
          <a:xfrm>
            <a:off x="4986223" y="1880178"/>
            <a:ext cx="1810512" cy="370332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2" name="card-hdr"/>
          <p:cNvSpPr/>
          <p:nvPr/>
        </p:nvSpPr>
        <p:spPr>
          <a:xfrm>
            <a:off x="4986223" y="1880178"/>
            <a:ext cx="181051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03" name="card-title"/>
          <p:cNvSpPr txBox="1"/>
          <p:nvPr/>
        </p:nvSpPr>
        <p:spPr>
          <a:xfrm>
            <a:off x="4986223" y="1880178"/>
            <a:ext cx="1810512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2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원시</a:t>
            </a:r>
            <a:r>
              <a:rPr sz="12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table_source</a:t>
            </a:r>
            <a:endParaRPr sz="12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04" name="card-body"/>
          <p:cNvSpPr txBox="1"/>
          <p:nvPr/>
        </p:nvSpPr>
        <p:spPr>
          <a:xfrm>
            <a:off x="5077663" y="2236794"/>
            <a:ext cx="1627632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 dirty="0">
                <a:solidFill>
                  <a:srgbClr val="081F46"/>
                </a:solidFill>
                <a:latin typeface="맑은 고딕"/>
                <a:ea typeface="맑은 고딕"/>
              </a:rPr>
              <a:t>999개 </a:t>
            </a:r>
            <a:r>
              <a:rPr sz="14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자유</a:t>
            </a:r>
            <a:r>
              <a:rPr sz="14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기관명</a:t>
            </a:r>
            <a:endParaRPr sz="1400" b="1" i="0" dirty="0">
              <a:solidFill>
                <a:srgbClr val="081F46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서울특별시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금천구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한국사학진흥재단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경상남도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‘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’(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빈값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305" name="arrow1"/>
          <p:cNvSpPr txBox="1"/>
          <p:nvPr/>
        </p:nvSpPr>
        <p:spPr>
          <a:xfrm>
            <a:off x="6815023" y="1880178"/>
            <a:ext cx="310896" cy="3703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965F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306" name="card-bg"/>
          <p:cNvSpPr/>
          <p:nvPr/>
        </p:nvSpPr>
        <p:spPr>
          <a:xfrm>
            <a:off x="7144207" y="1880178"/>
            <a:ext cx="2249424" cy="370332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7" name="card-hdr"/>
          <p:cNvSpPr/>
          <p:nvPr/>
        </p:nvSpPr>
        <p:spPr>
          <a:xfrm>
            <a:off x="7144207" y="1880178"/>
            <a:ext cx="2249424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08" name="card-title"/>
          <p:cNvSpPr txBox="1"/>
          <p:nvPr/>
        </p:nvSpPr>
        <p:spPr>
          <a:xfrm>
            <a:off x="7144207" y="1880178"/>
            <a:ext cx="2249424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② 정규식 규칙</a:t>
            </a:r>
          </a:p>
        </p:txBody>
      </p:sp>
      <p:sp>
        <p:nvSpPr>
          <p:cNvPr id="309" name="card-body"/>
          <p:cNvSpPr txBox="1"/>
          <p:nvPr/>
        </p:nvSpPr>
        <p:spPr>
          <a:xfrm>
            <a:off x="7235647" y="2236794"/>
            <a:ext cx="2066544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기관명</a:t>
            </a:r>
            <a:r>
              <a:rPr sz="11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접미사·키워드</a:t>
            </a:r>
            <a:r>
              <a:rPr sz="11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매칭</a:t>
            </a:r>
            <a:endParaRPr sz="11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교육청·대학교·학교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부·청·위원회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중앙행정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공단·재단·병원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공공기관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특별시·도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광역지자체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시·군·구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기초지자체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그 외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기타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24000"/>
              </a:lnSpc>
              <a:spcAft>
                <a:spcPts val="100"/>
              </a:spcAft>
            </a:pP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 ‘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소스’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</a:t>
            </a:r>
            <a:r>
              <a:rPr lang="ko-KR" altLang="en-US" sz="1200" b="1" dirty="0" err="1">
                <a:solidFill>
                  <a:srgbClr val="00965F"/>
                </a:solidFill>
                <a:latin typeface="맑은 고딕"/>
                <a:ea typeface="맑은 고딕"/>
              </a:rPr>
              <a:t>빈값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 → 미상</a:t>
            </a:r>
          </a:p>
        </p:txBody>
      </p:sp>
      <p:sp>
        <p:nvSpPr>
          <p:cNvPr id="310" name="arrow2"/>
          <p:cNvSpPr txBox="1"/>
          <p:nvPr/>
        </p:nvSpPr>
        <p:spPr>
          <a:xfrm>
            <a:off x="9411919" y="1880178"/>
            <a:ext cx="310896" cy="3703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965F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311" name="card-bg"/>
          <p:cNvSpPr/>
          <p:nvPr/>
        </p:nvSpPr>
        <p:spPr>
          <a:xfrm>
            <a:off x="9741103" y="1880178"/>
            <a:ext cx="2176272" cy="370332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12" name="card-hdr"/>
          <p:cNvSpPr/>
          <p:nvPr/>
        </p:nvSpPr>
        <p:spPr>
          <a:xfrm>
            <a:off x="9741103" y="1880178"/>
            <a:ext cx="217627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13" name="card-title"/>
          <p:cNvSpPr txBox="1"/>
          <p:nvPr/>
        </p:nvSpPr>
        <p:spPr>
          <a:xfrm>
            <a:off x="9741103" y="1880178"/>
            <a:ext cx="2176272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③ 7개 기관유형</a:t>
            </a:r>
          </a:p>
        </p:txBody>
      </p:sp>
      <p:sp>
        <p:nvSpPr>
          <p:cNvPr id="314" name="card-body"/>
          <p:cNvSpPr txBox="1"/>
          <p:nvPr/>
        </p:nvSpPr>
        <p:spPr>
          <a:xfrm>
            <a:off x="9832543" y="2236794"/>
            <a:ext cx="1993392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7개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기관유형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테이블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수)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기초지자체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404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공공기관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245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광역지자체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83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교육기관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49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중앙행정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39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34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24000"/>
              </a:lnSpc>
              <a:spcAft>
                <a:spcPts val="100"/>
              </a:spcAft>
            </a:pP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미상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(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소스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)  145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④ 트랜잭션·패턴·검증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테이블을 거래로 보고 두 종류 아이템으로 FP-Growth·연관규칙·검증 수행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4864246" cy="380245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트랜잭션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1건 = 1 transaction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(A)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cate·기관·레코드·컬럼폭·수치비·유일키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·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상수컬럼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(B)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장바구니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보유한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컬럼개념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집합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평균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9.6개)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FP-Growth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→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association_rules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(lift)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999건에서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재계산</a:t>
            </a: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수행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401" name="card-bg"/>
          <p:cNvSpPr/>
          <p:nvPr/>
        </p:nvSpPr>
        <p:spPr>
          <a:xfrm>
            <a:off x="5522614" y="1828800"/>
            <a:ext cx="6071978" cy="85953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2" name="card-hdr"/>
          <p:cNvSpPr/>
          <p:nvPr/>
        </p:nvSpPr>
        <p:spPr>
          <a:xfrm>
            <a:off x="5522614" y="1828800"/>
            <a:ext cx="6071978" cy="292608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403" name="card-title"/>
          <p:cNvSpPr txBox="1"/>
          <p:nvPr/>
        </p:nvSpPr>
        <p:spPr>
          <a:xfrm>
            <a:off x="5522614" y="1828800"/>
            <a:ext cx="6071978" cy="292608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예시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테이블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1건</a:t>
            </a:r>
          </a:p>
        </p:txBody>
      </p:sp>
      <p:sp>
        <p:nvSpPr>
          <p:cNvPr id="404" name="card-body"/>
          <p:cNvSpPr txBox="1"/>
          <p:nvPr/>
        </p:nvSpPr>
        <p:spPr>
          <a:xfrm>
            <a:off x="5667468" y="2157984"/>
            <a:ext cx="5835683" cy="49377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전북특별자치도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무주군_행정기관_20240831.csv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rec_cnt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=157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column_cnt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=7 (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범주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5·수치 2)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=‘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전북특별자치도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무주군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’</a:t>
            </a:r>
          </a:p>
        </p:txBody>
      </p:sp>
      <p:sp>
        <p:nvSpPr>
          <p:cNvPr id="405" name="arrow1"/>
          <p:cNvSpPr txBox="1"/>
          <p:nvPr/>
        </p:nvSpPr>
        <p:spPr>
          <a:xfrm>
            <a:off x="4510735" y="2870495"/>
            <a:ext cx="7114032" cy="274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▼  ① 1D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이산화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(6p) · ② AOI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롤업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(7p)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적용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→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아이템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생성</a:t>
            </a:r>
            <a:endParaRPr sz="12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406" name="basket-bg"/>
          <p:cNvSpPr/>
          <p:nvPr/>
        </p:nvSpPr>
        <p:spPr>
          <a:xfrm>
            <a:off x="5522614" y="3589882"/>
            <a:ext cx="6071978" cy="2317137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7" name="basket-hdr"/>
          <p:cNvSpPr/>
          <p:nvPr/>
        </p:nvSpPr>
        <p:spPr>
          <a:xfrm>
            <a:off x="5522614" y="3597302"/>
            <a:ext cx="6071978" cy="292608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408" name="basket-title"/>
          <p:cNvSpPr txBox="1"/>
          <p:nvPr/>
        </p:nvSpPr>
        <p:spPr>
          <a:xfrm>
            <a:off x="5522614" y="3597302"/>
            <a:ext cx="6071978" cy="292608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트랜잭션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(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장바구니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) =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테이블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1건 = 1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거래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409" name="subA"/>
          <p:cNvSpPr txBox="1"/>
          <p:nvPr/>
        </p:nvSpPr>
        <p:spPr>
          <a:xfrm>
            <a:off x="5667468" y="4051153"/>
            <a:ext cx="5780820" cy="201168"/>
          </a:xfrm>
          <a:prstGeom prst="rect">
            <a:avLst/>
          </a:prstGeom>
          <a:noFill/>
        </p:spPr>
        <p:txBody>
          <a:bodyPr wrap="square" lIns="12700" tIns="6350" rIns="12700" bIns="635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①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속성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아이템</a:t>
            </a:r>
            <a:endParaRPr sz="12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10" name="attrA"/>
          <p:cNvSpPr txBox="1"/>
          <p:nvPr/>
        </p:nvSpPr>
        <p:spPr>
          <a:xfrm>
            <a:off x="5667468" y="4243177"/>
            <a:ext cx="5780820" cy="42062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cate1=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공공행정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cate2=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일반행정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레코드</a:t>
            </a:r>
            <a:r>
              <a:rPr lang="en-US"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lang="ko-KR" altLang="en-US"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수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=중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컬럼폭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표준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수치비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혼합</a:t>
            </a:r>
            <a:endParaRPr sz="1100" b="1" i="0" dirty="0">
              <a:solidFill>
                <a:srgbClr val="00965F"/>
              </a:solidFill>
              <a:latin typeface="맑은 고딕"/>
              <a:ea typeface="맑은 고딕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기관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기초지자체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 · 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유일키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있음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상수컬럼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있음</a:t>
            </a:r>
            <a:endParaRPr sz="11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411" name="subB"/>
          <p:cNvSpPr txBox="1"/>
          <p:nvPr/>
        </p:nvSpPr>
        <p:spPr>
          <a:xfrm>
            <a:off x="5667468" y="4827077"/>
            <a:ext cx="5780820" cy="20116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 lnSpcReduction="10000"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②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컬럼개념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장바구니</a:t>
            </a:r>
            <a:r>
              <a:rPr lang="en-US"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: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보유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컬럼개념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7종</a:t>
            </a:r>
          </a:p>
        </p:txBody>
      </p:sp>
      <p:sp>
        <p:nvSpPr>
          <p:cNvPr id="412" name="chip-bg"/>
          <p:cNvSpPr/>
          <p:nvPr/>
        </p:nvSpPr>
        <p:spPr>
          <a:xfrm>
            <a:off x="5667468" y="5149131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소속</a:t>
            </a:r>
          </a:p>
        </p:txBody>
      </p:sp>
      <p:sp>
        <p:nvSpPr>
          <p:cNvPr id="414" name="chip-bg"/>
          <p:cNvSpPr/>
          <p:nvPr/>
        </p:nvSpPr>
        <p:spPr>
          <a:xfrm>
            <a:off x="7167750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소재지도로명주소</a:t>
            </a:r>
          </a:p>
        </p:txBody>
      </p:sp>
      <p:sp>
        <p:nvSpPr>
          <p:cNvPr id="416" name="chip-bg"/>
          <p:cNvSpPr/>
          <p:nvPr/>
        </p:nvSpPr>
        <p:spPr>
          <a:xfrm>
            <a:off x="8668032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>
                <a:solidFill>
                  <a:srgbClr val="081F46"/>
                </a:solidFill>
                <a:latin typeface="맑은 고딕"/>
                <a:ea typeface="맑은 고딕"/>
              </a:rPr>
              <a:t>소재지지번주소</a:t>
            </a:r>
            <a:endParaRPr lang="ko-KR" altLang="en-US" sz="1100" b="1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18" name="chip-bg"/>
          <p:cNvSpPr/>
          <p:nvPr/>
        </p:nvSpPr>
        <p:spPr>
          <a:xfrm>
            <a:off x="10168313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>
                <a:solidFill>
                  <a:srgbClr val="081F46"/>
                </a:solidFill>
                <a:latin typeface="맑은 고딕"/>
                <a:ea typeface="맑은 고딕"/>
              </a:rPr>
              <a:t>위도</a:t>
            </a:r>
            <a:endParaRPr lang="ko-KR" altLang="en-US" sz="1100" b="1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20" name="chip-bg"/>
          <p:cNvSpPr/>
          <p:nvPr/>
        </p:nvSpPr>
        <p:spPr>
          <a:xfrm>
            <a:off x="5667467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경도</a:t>
            </a:r>
          </a:p>
        </p:txBody>
      </p:sp>
      <p:sp>
        <p:nvSpPr>
          <p:cNvPr id="422" name="chip-bg"/>
          <p:cNvSpPr/>
          <p:nvPr/>
        </p:nvSpPr>
        <p:spPr>
          <a:xfrm>
            <a:off x="7167750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전화번호</a:t>
            </a:r>
          </a:p>
        </p:txBody>
      </p:sp>
      <p:sp>
        <p:nvSpPr>
          <p:cNvPr id="424" name="chip-bg"/>
          <p:cNvSpPr/>
          <p:nvPr/>
        </p:nvSpPr>
        <p:spPr>
          <a:xfrm>
            <a:off x="8668032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데이터기준일자</a:t>
            </a:r>
          </a:p>
        </p:txBody>
      </p:sp>
      <p:sp>
        <p:nvSpPr>
          <p:cNvPr id="426" name="arrow2"/>
          <p:cNvSpPr txBox="1"/>
          <p:nvPr/>
        </p:nvSpPr>
        <p:spPr>
          <a:xfrm>
            <a:off x="4480560" y="5926401"/>
            <a:ext cx="7114032" cy="274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▼  999개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테이블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= 999개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트랜잭션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 →  FP-Growth  → 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연관규칙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(lift)</a:t>
            </a:r>
          </a:p>
        </p:txBody>
      </p:sp>
      <p:sp>
        <p:nvSpPr>
          <p:cNvPr id="427" name="legend"/>
          <p:cNvSpPr txBox="1"/>
          <p:nvPr/>
        </p:nvSpPr>
        <p:spPr>
          <a:xfrm>
            <a:off x="4803343" y="6336421"/>
            <a:ext cx="7114032" cy="256032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[</a:t>
            </a:r>
            <a:r>
              <a:rPr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1D </a:t>
            </a:r>
            <a:r>
              <a:rPr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이산화·AOI</a:t>
            </a:r>
            <a:r>
              <a:rPr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롤업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을</a:t>
            </a: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적용한 </a:t>
            </a:r>
            <a:r>
              <a:rPr lang="ko-KR" altLang="en-US"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트랜잭선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구성 예시</a:t>
            </a: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]</a:t>
            </a:r>
            <a:endParaRPr sz="12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분석 결과 종합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거버넌스</a:t>
            </a:r>
            <a:r>
              <a:rPr sz="1800" b="1" i="0" dirty="0">
                <a:solidFill>
                  <a:srgbClr val="00965F"/>
                </a:solidFill>
                <a:latin typeface="맑은 고딕"/>
                <a:ea typeface="맑은 고딕"/>
              </a:rPr>
              <a:t> 3대 </a:t>
            </a:r>
            <a:r>
              <a:rPr sz="18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이슈와</a:t>
            </a:r>
            <a:r>
              <a:rPr sz="18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  <a:r>
              <a:rPr sz="1800" b="1" i="0" dirty="0">
                <a:solidFill>
                  <a:srgbClr val="00965F"/>
                </a:solidFill>
                <a:latin typeface="맑은 고딕"/>
                <a:ea typeface="맑은 고딕"/>
              </a:rPr>
              <a:t> 4대 </a:t>
            </a:r>
            <a:r>
              <a:rPr sz="18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발견을</a:t>
            </a:r>
            <a:r>
              <a:rPr sz="1800" b="1" i="0" dirty="0">
                <a:solidFill>
                  <a:srgbClr val="00965F"/>
                </a:solidFill>
                <a:latin typeface="맑은 고딕"/>
                <a:ea typeface="맑은 고딕"/>
              </a:rPr>
              <a:t> 도</a:t>
            </a:r>
            <a:r>
              <a:rPr lang="ko-KR" altLang="en-US" sz="1800" b="1" i="0" dirty="0">
                <a:solidFill>
                  <a:srgbClr val="00965F"/>
                </a:solidFill>
                <a:latin typeface="맑은 고딕"/>
                <a:ea typeface="맑은 고딕"/>
              </a:rPr>
              <a:t>출</a:t>
            </a:r>
            <a:endParaRPr sz="18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2572435" cy="42062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257243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904382"/>
            <a:ext cx="235297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거버넌스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G1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2334691" cy="109735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출처 누락 공통성</a:t>
            </a:r>
            <a:endParaRPr sz="1400" b="1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‘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’ 100건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100% placeholder('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')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lift 6.89·conf 1.00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5395" y="1828800"/>
            <a:ext cx="2572435" cy="42062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395395" y="1828800"/>
            <a:ext cx="257243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3411" y="1904382"/>
            <a:ext cx="235297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거버넌스 G2·G3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3411" y="2267712"/>
            <a:ext cx="2334691" cy="109735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죽은 메트릭 3종 전부 0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상수컬럼 1,372개(13.9%)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컬럼명 표준 부재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same_ratio 네이밍 오류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3863" y="1828800"/>
            <a:ext cx="2572435" cy="420624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23863" y="1828800"/>
            <a:ext cx="257243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1879" y="1904382"/>
            <a:ext cx="235297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인텔리전스 I-패턴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1879" y="2267712"/>
            <a:ext cx="2334691" cy="132138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스키마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패밀리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원형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경도→위도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lift 22.7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교과목코드↔분반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124.9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연령대→성별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35.2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331" y="1828800"/>
            <a:ext cx="2572435" cy="420624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052331" y="1828800"/>
            <a:ext cx="257243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80347" y="1904382"/>
            <a:ext cx="235297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인텔리전스 I-위험·검증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347" y="2267712"/>
            <a:ext cx="2334691" cy="109735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의료기관 PII 묶음 lift 46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교차도메인 재식별 위험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규칙#4: 1.00→0.44 약화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카탈로그 오분류 후보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8839"/>
            <a:ext cx="11057839" cy="4104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거버넌스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G1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출처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lang="ko-KR" altLang="en-US"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누락 공통성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46429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505" name="g1-bg"/>
          <p:cNvSpPr/>
          <p:nvPr/>
        </p:nvSpPr>
        <p:spPr>
          <a:xfrm>
            <a:off x="566928" y="3630122"/>
            <a:ext cx="5285232" cy="2852928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06" name="g1-hdr"/>
          <p:cNvSpPr/>
          <p:nvPr/>
        </p:nvSpPr>
        <p:spPr>
          <a:xfrm>
            <a:off x="566928" y="3630122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07" name="g1-title"/>
          <p:cNvSpPr txBox="1"/>
          <p:nvPr/>
        </p:nvSpPr>
        <p:spPr>
          <a:xfrm>
            <a:off x="566928" y="3630122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예시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데이터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—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무엇이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누락됐나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508" name="g1-ex-sub"/>
          <p:cNvSpPr txBox="1"/>
          <p:nvPr/>
        </p:nvSpPr>
        <p:spPr>
          <a:xfrm>
            <a:off x="676656" y="3977594"/>
            <a:ext cx="5065776" cy="365760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예시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1건: 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광주광역시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남구_어린이집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현황_20230712.csv</a:t>
            </a:r>
          </a:p>
        </p:txBody>
      </p:sp>
      <p:sp>
        <p:nvSpPr>
          <p:cNvPr id="509" name="g1-f0"/>
          <p:cNvSpPr txBox="1"/>
          <p:nvPr/>
        </p:nvSpPr>
        <p:spPr>
          <a:xfrm>
            <a:off x="713232" y="4506676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table_source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출처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0" name="g1-v0"/>
          <p:cNvSpPr txBox="1"/>
          <p:nvPr/>
        </p:nvSpPr>
        <p:spPr>
          <a:xfrm>
            <a:off x="2587752" y="4506676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‘</a:t>
            </a:r>
            <a:r>
              <a:rPr sz="10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소스</a:t>
            </a: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’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   ✗ placeholder (</a:t>
            </a:r>
            <a:r>
              <a:rPr sz="1000" b="0" i="0" dirty="0" err="1">
                <a:solidFill>
                  <a:srgbClr val="C0392B"/>
                </a:solidFill>
                <a:latin typeface="맑은 고딕"/>
                <a:ea typeface="맑은 고딕"/>
              </a:rPr>
              <a:t>기관명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C0392B"/>
                </a:solidFill>
                <a:latin typeface="맑은 고딕"/>
                <a:ea typeface="맑은 고딕"/>
              </a:rPr>
              <a:t>소실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1" name="g1-f1"/>
          <p:cNvSpPr txBox="1"/>
          <p:nvPr/>
        </p:nvSpPr>
        <p:spPr>
          <a:xfrm>
            <a:off x="713232" y="4822144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url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원본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링크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2" name="g1-v1"/>
          <p:cNvSpPr txBox="1"/>
          <p:nvPr/>
        </p:nvSpPr>
        <p:spPr>
          <a:xfrm>
            <a:off x="2587752" y="4822144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‘</a:t>
            </a:r>
            <a:r>
              <a:rPr sz="10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url</a:t>
            </a: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’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   ✗ placeholder</a:t>
            </a:r>
          </a:p>
        </p:txBody>
      </p:sp>
      <p:sp>
        <p:nvSpPr>
          <p:cNvPr id="513" name="g1-f2"/>
          <p:cNvSpPr txBox="1"/>
          <p:nvPr/>
        </p:nvSpPr>
        <p:spPr>
          <a:xfrm>
            <a:off x="713232" y="5137612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table_nm (파일명)</a:t>
            </a:r>
          </a:p>
        </p:txBody>
      </p:sp>
      <p:sp>
        <p:nvSpPr>
          <p:cNvPr id="514" name="g1-v2"/>
          <p:cNvSpPr txBox="1"/>
          <p:nvPr/>
        </p:nvSpPr>
        <p:spPr>
          <a:xfrm>
            <a:off x="2587752" y="5137612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‘광주광역시 남구…’</a:t>
            </a: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   ✓ 기관명 존재</a:t>
            </a:r>
          </a:p>
        </p:txBody>
      </p:sp>
      <p:sp>
        <p:nvSpPr>
          <p:cNvPr id="515" name="g1-f3"/>
          <p:cNvSpPr txBox="1"/>
          <p:nvPr/>
        </p:nvSpPr>
        <p:spPr>
          <a:xfrm>
            <a:off x="713232" y="5453080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regi_date (등록)</a:t>
            </a:r>
          </a:p>
        </p:txBody>
      </p:sp>
      <p:sp>
        <p:nvSpPr>
          <p:cNvPr id="516" name="g1-v3"/>
          <p:cNvSpPr txBox="1"/>
          <p:nvPr/>
        </p:nvSpPr>
        <p:spPr>
          <a:xfrm>
            <a:off x="2587752" y="5453080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2026-03-30</a:t>
            </a:r>
            <a:r>
              <a:rPr sz="1000" b="0" i="0" dirty="0">
                <a:solidFill>
                  <a:srgbClr val="505050"/>
                </a:solidFill>
                <a:latin typeface="맑은 고딕"/>
                <a:ea typeface="맑은 고딕"/>
              </a:rPr>
              <a:t>   (100건 </a:t>
            </a:r>
            <a:r>
              <a:rPr sz="10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전부</a:t>
            </a:r>
            <a:r>
              <a:rPr sz="10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동일</a:t>
            </a:r>
            <a:r>
              <a:rPr sz="1000" b="0" i="0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7" name="g1-f4"/>
          <p:cNvSpPr txBox="1"/>
          <p:nvPr/>
        </p:nvSpPr>
        <p:spPr>
          <a:xfrm>
            <a:off x="713232" y="5768548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src_platform</a:t>
            </a:r>
          </a:p>
        </p:txBody>
      </p:sp>
      <p:sp>
        <p:nvSpPr>
          <p:cNvPr id="518" name="g1-v4"/>
          <p:cNvSpPr txBox="1"/>
          <p:nvPr/>
        </p:nvSpPr>
        <p:spPr>
          <a:xfrm>
            <a:off x="2587752" y="5768548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공공데이터포털</a:t>
            </a: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   ✓ 정상</a:t>
            </a:r>
          </a:p>
        </p:txBody>
      </p:sp>
      <p:sp>
        <p:nvSpPr>
          <p:cNvPr id="520" name="g1-bg"/>
          <p:cNvSpPr/>
          <p:nvPr/>
        </p:nvSpPr>
        <p:spPr>
          <a:xfrm>
            <a:off x="6053328" y="1991758"/>
            <a:ext cx="5568696" cy="272491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21" name="g1-hdr"/>
          <p:cNvSpPr/>
          <p:nvPr/>
        </p:nvSpPr>
        <p:spPr>
          <a:xfrm>
            <a:off x="6053328" y="1991758"/>
            <a:ext cx="5568696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22" name="g1-title"/>
          <p:cNvSpPr txBox="1"/>
          <p:nvPr/>
        </p:nvSpPr>
        <p:spPr>
          <a:xfrm>
            <a:off x="6053328" y="1991758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ko-KR" altLang="en-US" sz="1400" b="1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의미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분석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(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구체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23" name="g1-mean"/>
          <p:cNvSpPr txBox="1"/>
          <p:nvPr/>
        </p:nvSpPr>
        <p:spPr>
          <a:xfrm>
            <a:off x="6163056" y="2348374"/>
            <a:ext cx="5367528" cy="232257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①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누락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값: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table_source→‘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’,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url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→‘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url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 — 두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메타필드가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더미로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덮임</a:t>
            </a:r>
            <a:r>
              <a:rPr 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② </a:t>
            </a:r>
            <a:r>
              <a:rPr lang="ko-KR" altLang="en-US"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공통성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placeholder 145건 중 100건이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전부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‘</a:t>
            </a:r>
            <a:r>
              <a:rPr sz="1000" b="1" i="0" u="sng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’(이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분류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100%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lang="en-US" sz="1000" dirty="0">
                <a:solidFill>
                  <a:srgbClr val="282D37"/>
                </a:solidFill>
                <a:latin typeface="맑은 고딕"/>
                <a:ea typeface="맑은 고딕"/>
              </a:rPr>
              <a:t>  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타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분류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1~15%)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③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단일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배치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100건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모두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1" i="0" u="sng" dirty="0" err="1">
                <a:solidFill>
                  <a:srgbClr val="282D37"/>
                </a:solidFill>
                <a:latin typeface="맑은 고딕"/>
                <a:ea typeface="맑은 고딕"/>
              </a:rPr>
              <a:t>regi_date</a:t>
            </a:r>
            <a:r>
              <a:rPr sz="1000" b="1" i="0" u="sng" dirty="0">
                <a:solidFill>
                  <a:srgbClr val="282D37"/>
                </a:solidFill>
                <a:latin typeface="맑은 고딕"/>
                <a:ea typeface="맑은 고딕"/>
              </a:rPr>
              <a:t>=2026-03-30 </a:t>
            </a:r>
            <a:r>
              <a:rPr sz="1000" b="1" i="0" u="sng" dirty="0" err="1">
                <a:solidFill>
                  <a:srgbClr val="282D37"/>
                </a:solidFill>
                <a:latin typeface="맑은 고딕"/>
                <a:ea typeface="맑은 고딕"/>
              </a:rPr>
              <a:t>동일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한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번의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적재에서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일괄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placeholder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lang="en-US" sz="10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처리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우연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18000"/>
              </a:lnSpc>
              <a:spcAft>
                <a:spcPts val="40"/>
              </a:spcAft>
            </a:pPr>
            <a:r>
              <a:rPr lang="ko-KR" altLang="en-US" sz="1000" b="1" dirty="0">
                <a:solidFill>
                  <a:srgbClr val="081F46"/>
                </a:solidFill>
                <a:latin typeface="맑은 고딕"/>
                <a:ea typeface="맑은 고딕"/>
              </a:rPr>
              <a:t>④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영향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신뢰성·책임추적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(provenance)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붕괴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. 단,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파일명에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기관명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잔존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복구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가능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524" name="g1-bg"/>
          <p:cNvSpPr/>
          <p:nvPr/>
        </p:nvSpPr>
        <p:spPr>
          <a:xfrm>
            <a:off x="6053328" y="4808110"/>
            <a:ext cx="5568696" cy="1664208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25" name="g1-hdr"/>
          <p:cNvSpPr/>
          <p:nvPr/>
        </p:nvSpPr>
        <p:spPr>
          <a:xfrm>
            <a:off x="6053328" y="4808110"/>
            <a:ext cx="5568696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26" name="g1-title"/>
          <p:cNvSpPr txBox="1"/>
          <p:nvPr/>
        </p:nvSpPr>
        <p:spPr>
          <a:xfrm>
            <a:off x="6053328" y="4808110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ko-KR" altLang="en-US" sz="1400" b="1" dirty="0">
                <a:solidFill>
                  <a:srgbClr val="FFFFFF"/>
                </a:solidFill>
                <a:latin typeface="맑은 고딕"/>
                <a:ea typeface="맑은 고딕"/>
              </a:rPr>
              <a:t>②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처리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· ③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대책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· ④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추가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분석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527" name="g1-action"/>
          <p:cNvSpPr txBox="1"/>
          <p:nvPr/>
        </p:nvSpPr>
        <p:spPr>
          <a:xfrm>
            <a:off x="6163056" y="5164726"/>
            <a:ext cx="5367528" cy="1261872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처리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AOI로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’=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미상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식별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cate2별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교차표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→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결합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포착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(lift 6.89)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10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대책</a:t>
            </a:r>
            <a:r>
              <a:rPr sz="1000" b="1" i="0" dirty="0">
                <a:solidFill>
                  <a:srgbClr val="00965F"/>
                </a:solidFill>
                <a:latin typeface="맑은 고딕"/>
                <a:ea typeface="맑은 고딕"/>
              </a:rPr>
              <a:t>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①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파일명에서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복구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(1순위) ②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시 </a:t>
            </a:r>
            <a:r>
              <a:rPr lang="ko-KR" alt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출처 표기 등록 로직 점검</a:t>
            </a:r>
            <a:r>
              <a:rPr lang="en-US" altLang="ko-KR" sz="10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③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표준코드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10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추가</a:t>
            </a:r>
            <a:r>
              <a:rPr sz="1000" b="1" i="0" dirty="0">
                <a:solidFill>
                  <a:srgbClr val="00965F"/>
                </a:solidFill>
                <a:latin typeface="맑은 고딕"/>
                <a:ea typeface="맑은 고딕"/>
              </a:rPr>
              <a:t>: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regi_date·url로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배치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역추적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601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2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발견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패턴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 ▸  </a:t>
            </a:r>
            <a:r>
              <a:rPr lang="en-US" sz="1000" b="1" i="0" dirty="0">
                <a:solidFill>
                  <a:srgbClr val="505050"/>
                </a:solidFill>
                <a:latin typeface="맑은 고딕"/>
                <a:ea typeface="맑은 고딕"/>
              </a:rPr>
              <a:t>cate2 = </a:t>
            </a:r>
            <a:r>
              <a:rPr lang="ko-KR" altLang="en-US" sz="10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유아및초</a:t>
            </a:r>
            <a:r>
              <a:rPr lang="ko-KR" altLang="en-US" sz="1000" b="1" dirty="0" err="1">
                <a:solidFill>
                  <a:srgbClr val="505050"/>
                </a:solidFill>
                <a:latin typeface="맑은 고딕"/>
                <a:ea typeface="맑은 고딕"/>
              </a:rPr>
              <a:t>중등교육</a:t>
            </a:r>
            <a:r>
              <a:rPr lang="ko-KR" altLang="en-US" sz="1000" b="1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 </a:t>
            </a:r>
            <a:r>
              <a:rPr lang="ko-KR" altLang="en-US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기관 </a:t>
            </a:r>
            <a:r>
              <a:rPr lang="en-US" altLang="ko-KR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= </a:t>
            </a:r>
            <a:r>
              <a:rPr lang="ko-KR" altLang="en-US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미상</a:t>
            </a:r>
            <a:r>
              <a:rPr sz="1000" b="1" i="0" dirty="0">
                <a:solidFill>
                  <a:srgbClr val="505050"/>
                </a:solidFill>
                <a:latin typeface="맑은 고딕"/>
                <a:ea typeface="맑은 고딕"/>
              </a:rPr>
              <a:t> (lift 6.89·conf 1.0)</a:t>
            </a:r>
          </a:p>
        </p:txBody>
      </p:sp>
      <p:sp>
        <p:nvSpPr>
          <p:cNvPr id="603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dirty="0">
                <a:solidFill>
                  <a:srgbClr val="081F46"/>
                </a:solidFill>
                <a:latin typeface="맑은 고딕"/>
                <a:ea typeface="맑은 고딕"/>
              </a:rPr>
              <a:t>100%</a:t>
            </a:r>
          </a:p>
        </p:txBody>
      </p:sp>
      <p:sp>
        <p:nvSpPr>
          <p:cNvPr id="604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150"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1" dirty="0" err="1">
                <a:solidFill>
                  <a:srgbClr val="282D37"/>
                </a:solidFill>
                <a:latin typeface="맑은 고딕"/>
                <a:ea typeface="맑은 고딕"/>
              </a:rPr>
              <a:t>누락은</a:t>
            </a:r>
            <a:r>
              <a:rPr sz="1150"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1" dirty="0" err="1">
                <a:solidFill>
                  <a:srgbClr val="282D37"/>
                </a:solidFill>
                <a:latin typeface="맑은 고딕"/>
                <a:ea typeface="맑은 고딕"/>
              </a:rPr>
              <a:t>무작위가</a:t>
            </a:r>
            <a:r>
              <a:rPr sz="1150"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1" dirty="0" err="1">
                <a:solidFill>
                  <a:srgbClr val="282D37"/>
                </a:solidFill>
                <a:latin typeface="맑은 고딕"/>
                <a:ea typeface="맑은 고딕"/>
              </a:rPr>
              <a:t>아니라</a:t>
            </a:r>
            <a:r>
              <a:rPr sz="1150" b="1" dirty="0">
                <a:solidFill>
                  <a:srgbClr val="282D37"/>
                </a:solidFill>
                <a:latin typeface="맑은 고딕"/>
                <a:ea typeface="맑은 고딕"/>
              </a:rPr>
              <a:t> “</a:t>
            </a:r>
            <a:r>
              <a:rPr sz="1150" b="1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유아및초·중등교육”에</a:t>
            </a:r>
            <a:r>
              <a:rPr sz="1150" b="1" dirty="0">
                <a:solidFill>
                  <a:srgbClr val="282D37"/>
                </a:solidFill>
                <a:latin typeface="맑은 고딕"/>
                <a:ea typeface="맑은 고딕"/>
              </a:rPr>
              <a:t> 100% </a:t>
            </a:r>
            <a:r>
              <a:rPr sz="1150" b="1" dirty="0" err="1">
                <a:solidFill>
                  <a:srgbClr val="282D37"/>
                </a:solidFill>
                <a:latin typeface="맑은 고딕"/>
                <a:ea typeface="맑은 고딕"/>
              </a:rPr>
              <a:t>집중된</a:t>
            </a:r>
            <a:r>
              <a:rPr lang="en-US" sz="1150"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sz="1150" b="1" dirty="0">
                <a:solidFill>
                  <a:srgbClr val="282D37"/>
                </a:solidFill>
                <a:latin typeface="맑은 고딕"/>
                <a:ea typeface="맑은 고딕"/>
              </a:rPr>
              <a:t>공통 특성을 가짐</a:t>
            </a:r>
            <a:r>
              <a:rPr lang="en-US" altLang="ko-KR" sz="1150" b="1" dirty="0">
                <a:solidFill>
                  <a:srgbClr val="282D37"/>
                </a:solidFill>
                <a:latin typeface="맑은 고딕"/>
                <a:ea typeface="맑은 고딕"/>
              </a:rPr>
              <a:t>.</a:t>
            </a:r>
            <a:endParaRPr sz="1150" b="1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701" name="a1-bg"/>
          <p:cNvSpPr/>
          <p:nvPr/>
        </p:nvSpPr>
        <p:spPr>
          <a:xfrm>
            <a:off x="566928" y="1991758"/>
            <a:ext cx="5285232" cy="15544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02" name="a1-hdr"/>
          <p:cNvSpPr/>
          <p:nvPr/>
        </p:nvSpPr>
        <p:spPr>
          <a:xfrm>
            <a:off x="566928" y="1991758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703" name="a1-title"/>
          <p:cNvSpPr txBox="1"/>
          <p:nvPr/>
        </p:nvSpPr>
        <p:spPr>
          <a:xfrm>
            <a:off x="566928" y="1991758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관련 트랜잭션 아이템 및 연관 규칙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704" name="a1-text"/>
          <p:cNvSpPr txBox="1"/>
          <p:nvPr/>
        </p:nvSpPr>
        <p:spPr>
          <a:xfrm>
            <a:off x="676656" y="2330086"/>
            <a:ext cx="5084064" cy="603504"/>
          </a:xfrm>
          <a:prstGeom prst="rect">
            <a:avLst/>
          </a:prstGeom>
          <a:noFill/>
        </p:spPr>
        <p:txBody>
          <a:bodyPr wrap="square" lIns="12700" tIns="6350" rIns="12700" bIns="635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·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트랜잭션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=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1건(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트랜잭션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A)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·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아이템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=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=값’ 8종 — cate1·cate2·기관(AOI)·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레코드·컬럼폭·수치비·유일키·상수컬럼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000" b="1" dirty="0">
                <a:solidFill>
                  <a:srgbClr val="081F46"/>
                </a:solidFill>
                <a:latin typeface="맑은 고딕"/>
                <a:ea typeface="맑은 고딕"/>
              </a:rPr>
              <a:t>※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사이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규칙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중 cate1↔cate2</a:t>
            </a:r>
            <a:r>
              <a:rPr lang="ko-KR" alt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과 같은 명백한 규칙은 제외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705" name="a1-chip"/>
          <p:cNvSpPr/>
          <p:nvPr/>
        </p:nvSpPr>
        <p:spPr>
          <a:xfrm>
            <a:off x="713232" y="3051464"/>
            <a:ext cx="2743200" cy="292608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706" name="a1-chiptx"/>
          <p:cNvSpPr txBox="1"/>
          <p:nvPr/>
        </p:nvSpPr>
        <p:spPr>
          <a:xfrm>
            <a:off x="713232" y="3051464"/>
            <a:ext cx="2743200" cy="29260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965F"/>
                </a:solidFill>
                <a:latin typeface="맑은 고딕"/>
                <a:ea typeface="맑은 고딕"/>
              </a:rPr>
              <a:t>cate2 = </a:t>
            </a:r>
            <a:r>
              <a:rPr sz="14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유아및초·중등교육</a:t>
            </a:r>
            <a:endParaRPr sz="14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707" name="a1-arrow"/>
          <p:cNvSpPr txBox="1"/>
          <p:nvPr/>
        </p:nvSpPr>
        <p:spPr>
          <a:xfrm>
            <a:off x="3474720" y="3051464"/>
            <a:ext cx="310896" cy="292608"/>
          </a:xfrm>
          <a:prstGeom prst="rect">
            <a:avLst/>
          </a:prstGeom>
          <a:noFill/>
        </p:spPr>
        <p:txBody>
          <a:bodyPr wrap="square" lIns="0" tIns="6350" rIns="0" bIns="6350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05050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708" name="a1-chip"/>
          <p:cNvSpPr/>
          <p:nvPr/>
        </p:nvSpPr>
        <p:spPr>
          <a:xfrm>
            <a:off x="3803904" y="3051464"/>
            <a:ext cx="1810512" cy="292608"/>
          </a:xfrm>
          <a:prstGeom prst="roundRect">
            <a:avLst/>
          </a:prstGeom>
          <a:solidFill>
            <a:srgbClr val="FCE8E6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709" name="a1-chiptx"/>
          <p:cNvSpPr txBox="1"/>
          <p:nvPr/>
        </p:nvSpPr>
        <p:spPr>
          <a:xfrm>
            <a:off x="3803904" y="3051464"/>
            <a:ext cx="1810512" cy="29260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맑은 고딕"/>
                <a:ea typeface="맑은 고딕"/>
              </a:rPr>
              <a:t>기관 = 미상(소스)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거버넌스 G2 죽은 메트릭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605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6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컬럼 분포 통계 ▸ 품질·활용 지표 3종 전부 0</a:t>
            </a:r>
          </a:p>
        </p:txBody>
      </p:sp>
      <p:sp>
        <p:nvSpPr>
          <p:cNvPr id="607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81F46"/>
                </a:solidFill>
                <a:latin typeface="맑은 고딕"/>
                <a:ea typeface="맑은 고딕"/>
              </a:rPr>
              <a:t>9,840개</a:t>
            </a:r>
          </a:p>
        </p:txBody>
      </p:sp>
      <p:sp>
        <p:nvSpPr>
          <p:cNvPr id="608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품질·활용 지표 3종이 모든 컬럼에서 값 0 — 계산·적재되지 않아 해당 축으로 분석 불가</a:t>
            </a:r>
          </a:p>
        </p:txBody>
      </p:sp>
      <p:sp>
        <p:nvSpPr>
          <p:cNvPr id="801" name="g2-bg"/>
          <p:cNvSpPr/>
          <p:nvPr/>
        </p:nvSpPr>
        <p:spPr>
          <a:xfrm>
            <a:off x="566928" y="1828800"/>
            <a:ext cx="5285232" cy="2212848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02" name="g2-hdr"/>
          <p:cNvSpPr/>
          <p:nvPr/>
        </p:nvSpPr>
        <p:spPr>
          <a:xfrm>
            <a:off x="566928" y="1828800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03" name="g2-title"/>
          <p:cNvSpPr txBox="1"/>
          <p:nvPr/>
        </p:nvSpPr>
        <p:spPr>
          <a:xfrm>
            <a:off x="566928" y="1828800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 i="0">
                <a:solidFill>
                  <a:srgbClr val="FFFFFF"/>
                </a:solidFill>
                <a:latin typeface="맑은 고딕"/>
                <a:ea typeface="맑은 고딕"/>
              </a:rPr>
              <a:t>‘컬럼 분포 통계’ &amp; 품질·활용 지표 3종</a:t>
            </a:r>
          </a:p>
        </p:txBody>
      </p:sp>
      <p:sp>
        <p:nvSpPr>
          <p:cNvPr id="804" name="g2-terms"/>
          <p:cNvSpPr txBox="1"/>
          <p:nvPr/>
        </p:nvSpPr>
        <p:spPr>
          <a:xfrm>
            <a:off x="676656" y="2167128"/>
            <a:ext cx="5084064" cy="1828800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2"/>
              </a:spcAft>
            </a:pPr>
            <a:r>
              <a:rPr sz="850" b="1" i="0">
                <a:solidFill>
                  <a:srgbClr val="081F46"/>
                </a:solidFill>
                <a:latin typeface="맑은 고딕"/>
                <a:ea typeface="맑은 고딕"/>
              </a:rPr>
              <a:t>▸ 컬럼 분포 통계 : </a:t>
            </a:r>
            <a:r>
              <a:rPr sz="850" b="0" i="0">
                <a:solidFill>
                  <a:srgbClr val="282D37"/>
                </a:solidFill>
                <a:latin typeface="맑은 고딕"/>
                <a:ea typeface="맑은 고딕"/>
              </a:rPr>
              <a:t>9,840개 컬럼의 값 분포를 집계하는 1D 프로파일 스캔(지표별 0·빈값 비율, 고유값 수) → 항상 0인 ‘죽은 지표’ 탐지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"/>
              </a:spcAft>
            </a:pPr>
            <a:r>
              <a:rPr sz="850" b="1" i="0">
                <a:solidFill>
                  <a:srgbClr val="081F46"/>
                </a:solidFill>
                <a:latin typeface="맑은 고딕"/>
                <a:ea typeface="맑은 고딕"/>
              </a:rPr>
              <a:t>▸ 품질·활용 지표 3종 :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· null_ratio </a:t>
            </a:r>
            <a:r>
              <a:rPr sz="840" b="0" i="0">
                <a:solidFill>
                  <a:srgbClr val="282D37"/>
                </a:solidFill>
                <a:latin typeface="맑은 고딕"/>
                <a:ea typeface="맑은 고딕"/>
              </a:rPr>
              <a:t>— 결측률(품질): 값 중 빈(null)의 비율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· table_qty_index </a:t>
            </a:r>
            <a:r>
              <a:rPr sz="840" b="0" i="0">
                <a:solidFill>
                  <a:srgbClr val="282D37"/>
                </a:solidFill>
                <a:latin typeface="맑은 고딕"/>
                <a:ea typeface="맑은 고딕"/>
              </a:rPr>
              <a:t>— 품질지수(품질): 종합 품질 점수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· cum_search_num </a:t>
            </a:r>
            <a:r>
              <a:rPr sz="840" b="0" i="0">
                <a:solidFill>
                  <a:srgbClr val="282D37"/>
                </a:solidFill>
                <a:latin typeface="맑은 고딕"/>
                <a:ea typeface="맑은 고딕"/>
              </a:rPr>
              <a:t>— 누적 검색수(활용): 데이터셋 조회·이용 횟수</a:t>
            </a:r>
          </a:p>
        </p:txBody>
      </p:sp>
      <p:sp>
        <p:nvSpPr>
          <p:cNvPr id="805" name="g2-bg"/>
          <p:cNvSpPr/>
          <p:nvPr/>
        </p:nvSpPr>
        <p:spPr>
          <a:xfrm>
            <a:off x="566928" y="4133088"/>
            <a:ext cx="5285232" cy="217627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06" name="g2-hdr"/>
          <p:cNvSpPr/>
          <p:nvPr/>
        </p:nvSpPr>
        <p:spPr>
          <a:xfrm>
            <a:off x="566928" y="4133088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07" name="g2-title"/>
          <p:cNvSpPr txBox="1"/>
          <p:nvPr/>
        </p:nvSpPr>
        <p:spPr>
          <a:xfrm>
            <a:off x="566928" y="4133088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 i="0">
                <a:solidFill>
                  <a:srgbClr val="FFFFFF"/>
                </a:solidFill>
                <a:latin typeface="맑은 고딕"/>
                <a:ea typeface="맑은 고딕"/>
              </a:rPr>
              <a:t>예시 데이터 — 죽은 지표</a:t>
            </a:r>
          </a:p>
        </p:txBody>
      </p:sp>
      <p:sp>
        <p:nvSpPr>
          <p:cNvPr id="808" name="g2-ex-sub"/>
          <p:cNvSpPr txBox="1"/>
          <p:nvPr/>
        </p:nvSpPr>
        <p:spPr>
          <a:xfrm>
            <a:off x="676656" y="4471416"/>
            <a:ext cx="5065776" cy="21945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예시 컬럼: </a:t>
            </a:r>
            <a:r>
              <a:rPr sz="840" b="0" i="0">
                <a:solidFill>
                  <a:srgbClr val="282D37"/>
                </a:solidFill>
                <a:latin typeface="맑은 고딕"/>
                <a:ea typeface="맑은 고딕"/>
              </a:rPr>
              <a:t>‘학년도’ (교육 데이터셋)</a:t>
            </a:r>
          </a:p>
        </p:txBody>
      </p:sp>
      <p:sp>
        <p:nvSpPr>
          <p:cNvPr id="809" name="g2-f0"/>
          <p:cNvSpPr txBox="1"/>
          <p:nvPr/>
        </p:nvSpPr>
        <p:spPr>
          <a:xfrm>
            <a:off x="713232" y="4727448"/>
            <a:ext cx="2240280" cy="260604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81F46"/>
                </a:solidFill>
                <a:latin typeface="맑은 고딕"/>
                <a:ea typeface="맑은 고딕"/>
              </a:rPr>
              <a:t>distinct_cnt (고유값)</a:t>
            </a:r>
          </a:p>
        </p:txBody>
      </p:sp>
      <p:sp>
        <p:nvSpPr>
          <p:cNvPr id="810" name="g2-v0"/>
          <p:cNvSpPr txBox="1"/>
          <p:nvPr/>
        </p:nvSpPr>
        <p:spPr>
          <a:xfrm>
            <a:off x="2953512" y="4727448"/>
            <a:ext cx="2752344" cy="260604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70" b="1" i="0">
                <a:solidFill>
                  <a:srgbClr val="282D37"/>
                </a:solidFill>
                <a:latin typeface="맑은 고딕"/>
                <a:ea typeface="맑은 고딕"/>
              </a:rPr>
              <a:t>8</a:t>
            </a:r>
            <a:r>
              <a:rPr sz="820" b="1" i="0">
                <a:solidFill>
                  <a:srgbClr val="00965F"/>
                </a:solidFill>
                <a:latin typeface="맑은 고딕"/>
                <a:ea typeface="맑은 고딕"/>
              </a:rPr>
              <a:t>   ✓ 산출됨</a:t>
            </a:r>
          </a:p>
        </p:txBody>
      </p:sp>
      <p:sp>
        <p:nvSpPr>
          <p:cNvPr id="811" name="g2-f1"/>
          <p:cNvSpPr txBox="1"/>
          <p:nvPr/>
        </p:nvSpPr>
        <p:spPr>
          <a:xfrm>
            <a:off x="713232" y="4988052"/>
            <a:ext cx="2240280" cy="260604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81F46"/>
                </a:solidFill>
                <a:latin typeface="맑은 고딕"/>
                <a:ea typeface="맑은 고딕"/>
              </a:rPr>
              <a:t>min ~ max</a:t>
            </a:r>
          </a:p>
        </p:txBody>
      </p:sp>
      <p:sp>
        <p:nvSpPr>
          <p:cNvPr id="812" name="g2-v1"/>
          <p:cNvSpPr txBox="1"/>
          <p:nvPr/>
        </p:nvSpPr>
        <p:spPr>
          <a:xfrm>
            <a:off x="2953512" y="4988052"/>
            <a:ext cx="2752344" cy="260604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70" b="0" i="0">
                <a:solidFill>
                  <a:srgbClr val="282D37"/>
                </a:solidFill>
                <a:latin typeface="맑은 고딕"/>
                <a:ea typeface="맑은 고딕"/>
              </a:rPr>
              <a:t>2017 ~ 2024</a:t>
            </a:r>
            <a:r>
              <a:rPr sz="820" b="1" i="0">
                <a:solidFill>
                  <a:srgbClr val="00965F"/>
                </a:solidFill>
                <a:latin typeface="맑은 고딕"/>
                <a:ea typeface="맑은 고딕"/>
              </a:rPr>
              <a:t>   ✓ 산출됨</a:t>
            </a:r>
          </a:p>
        </p:txBody>
      </p:sp>
      <p:sp>
        <p:nvSpPr>
          <p:cNvPr id="813" name="g2-f2"/>
          <p:cNvSpPr txBox="1"/>
          <p:nvPr/>
        </p:nvSpPr>
        <p:spPr>
          <a:xfrm>
            <a:off x="713232" y="5248656"/>
            <a:ext cx="2240280" cy="260604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81F46"/>
                </a:solidFill>
                <a:latin typeface="맑은 고딕"/>
                <a:ea typeface="맑은 고딕"/>
              </a:rPr>
              <a:t>null_ratio (결측률)</a:t>
            </a:r>
          </a:p>
        </p:txBody>
      </p:sp>
      <p:sp>
        <p:nvSpPr>
          <p:cNvPr id="814" name="g2-v2"/>
          <p:cNvSpPr txBox="1"/>
          <p:nvPr/>
        </p:nvSpPr>
        <p:spPr>
          <a:xfrm>
            <a:off x="2953512" y="5248656"/>
            <a:ext cx="2752344" cy="260604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70" b="1" i="0">
                <a:solidFill>
                  <a:srgbClr val="C0392B"/>
                </a:solidFill>
                <a:latin typeface="맑은 고딕"/>
                <a:ea typeface="맑은 고딕"/>
              </a:rPr>
              <a:t>0</a:t>
            </a:r>
            <a:r>
              <a:rPr sz="820" b="1" i="0">
                <a:solidFill>
                  <a:srgbClr val="C0392B"/>
                </a:solidFill>
                <a:latin typeface="맑은 고딕"/>
                <a:ea typeface="맑은 고딕"/>
              </a:rPr>
              <a:t>   ✗ 미산출</a:t>
            </a:r>
          </a:p>
        </p:txBody>
      </p:sp>
      <p:sp>
        <p:nvSpPr>
          <p:cNvPr id="815" name="g2-f3"/>
          <p:cNvSpPr txBox="1"/>
          <p:nvPr/>
        </p:nvSpPr>
        <p:spPr>
          <a:xfrm>
            <a:off x="713232" y="5509260"/>
            <a:ext cx="2240280" cy="260604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81F46"/>
                </a:solidFill>
                <a:latin typeface="맑은 고딕"/>
                <a:ea typeface="맑은 고딕"/>
              </a:rPr>
              <a:t>table_qty_index (품질)</a:t>
            </a:r>
          </a:p>
        </p:txBody>
      </p:sp>
      <p:sp>
        <p:nvSpPr>
          <p:cNvPr id="816" name="g2-v3"/>
          <p:cNvSpPr txBox="1"/>
          <p:nvPr/>
        </p:nvSpPr>
        <p:spPr>
          <a:xfrm>
            <a:off x="2953512" y="5509260"/>
            <a:ext cx="2752344" cy="260604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70" b="1" i="0">
                <a:solidFill>
                  <a:srgbClr val="C0392B"/>
                </a:solidFill>
                <a:latin typeface="맑은 고딕"/>
                <a:ea typeface="맑은 고딕"/>
              </a:rPr>
              <a:t>0</a:t>
            </a:r>
            <a:r>
              <a:rPr sz="820" b="1" i="0">
                <a:solidFill>
                  <a:srgbClr val="C0392B"/>
                </a:solidFill>
                <a:latin typeface="맑은 고딕"/>
                <a:ea typeface="맑은 고딕"/>
              </a:rPr>
              <a:t>   ✗ 미산출</a:t>
            </a:r>
          </a:p>
        </p:txBody>
      </p:sp>
      <p:sp>
        <p:nvSpPr>
          <p:cNvPr id="817" name="g2-f4"/>
          <p:cNvSpPr txBox="1"/>
          <p:nvPr/>
        </p:nvSpPr>
        <p:spPr>
          <a:xfrm>
            <a:off x="713232" y="5769864"/>
            <a:ext cx="2240280" cy="260604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81F46"/>
                </a:solidFill>
                <a:latin typeface="맑은 고딕"/>
                <a:ea typeface="맑은 고딕"/>
              </a:rPr>
              <a:t>cum_search_num (활용)</a:t>
            </a:r>
          </a:p>
        </p:txBody>
      </p:sp>
      <p:sp>
        <p:nvSpPr>
          <p:cNvPr id="818" name="g2-v4"/>
          <p:cNvSpPr txBox="1"/>
          <p:nvPr/>
        </p:nvSpPr>
        <p:spPr>
          <a:xfrm>
            <a:off x="2953512" y="5769864"/>
            <a:ext cx="2752344" cy="260604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70" b="1" i="0">
                <a:solidFill>
                  <a:srgbClr val="C0392B"/>
                </a:solidFill>
                <a:latin typeface="맑은 고딕"/>
                <a:ea typeface="맑은 고딕"/>
              </a:rPr>
              <a:t>0</a:t>
            </a:r>
            <a:r>
              <a:rPr sz="820" b="1" i="0">
                <a:solidFill>
                  <a:srgbClr val="C0392B"/>
                </a:solidFill>
                <a:latin typeface="맑은 고딕"/>
                <a:ea typeface="맑은 고딕"/>
              </a:rPr>
              <a:t>   ✗ 미산출</a:t>
            </a:r>
          </a:p>
        </p:txBody>
      </p:sp>
      <p:sp>
        <p:nvSpPr>
          <p:cNvPr id="819" name="g2-ex-note"/>
          <p:cNvSpPr txBox="1"/>
          <p:nvPr/>
        </p:nvSpPr>
        <p:spPr>
          <a:xfrm>
            <a:off x="694944" y="6039612"/>
            <a:ext cx="5029200" cy="365760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05050"/>
                </a:solidFill>
                <a:latin typeface="맑은 고딕"/>
                <a:ea typeface="맑은 고딕"/>
              </a:rPr>
              <a:t>※ 같은 컬럼에서 값 통계(고유값·최소·최대)는 채워졌으나 품질·활용 지표만 0 → 선택적 미산출</a:t>
            </a:r>
          </a:p>
        </p:txBody>
      </p:sp>
      <p:sp>
        <p:nvSpPr>
          <p:cNvPr id="820" name="g2-bg"/>
          <p:cNvSpPr/>
          <p:nvPr/>
        </p:nvSpPr>
        <p:spPr>
          <a:xfrm>
            <a:off x="6053328" y="1828800"/>
            <a:ext cx="5568696" cy="265176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21" name="g2-hdr"/>
          <p:cNvSpPr/>
          <p:nvPr/>
        </p:nvSpPr>
        <p:spPr>
          <a:xfrm>
            <a:off x="6053328" y="1828800"/>
            <a:ext cx="5568696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22" name="g2-title"/>
          <p:cNvSpPr txBox="1"/>
          <p:nvPr/>
        </p:nvSpPr>
        <p:spPr>
          <a:xfrm>
            <a:off x="6053328" y="1828800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 (구체)</a:t>
            </a:r>
          </a:p>
        </p:txBody>
      </p:sp>
      <p:sp>
        <p:nvSpPr>
          <p:cNvPr id="823" name="g2-mean"/>
          <p:cNvSpPr txBox="1"/>
          <p:nvPr/>
        </p:nvSpPr>
        <p:spPr>
          <a:xfrm>
            <a:off x="6163056" y="2185416"/>
            <a:ext cx="5367528" cy="224942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"/>
              </a:spcAft>
            </a:pPr>
            <a:r>
              <a:rPr sz="870" b="1" i="0">
                <a:solidFill>
                  <a:srgbClr val="081F46"/>
                </a:solidFill>
                <a:latin typeface="맑은 고딕"/>
                <a:ea typeface="맑은 고딕"/>
              </a:rPr>
              <a:t>① 값: </a:t>
            </a:r>
            <a:r>
              <a:rPr sz="870" b="0" i="0">
                <a:solidFill>
                  <a:srgbClr val="282D37"/>
                </a:solidFill>
                <a:latin typeface="맑은 고딕"/>
                <a:ea typeface="맑은 고딕"/>
              </a:rPr>
              <a:t>9,840개 컬럼 전부 null_ratio=0 · table_qty_index=0 · cum_search_num=0 (값이 계산·적재되지 않음)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"/>
              </a:spcAft>
            </a:pPr>
            <a:r>
              <a:rPr sz="870" b="1" i="0">
                <a:solidFill>
                  <a:srgbClr val="081F46"/>
                </a:solidFill>
                <a:latin typeface="맑은 고딕"/>
                <a:ea typeface="맑은 고딕"/>
              </a:rPr>
              <a:t>② 비현실성: </a:t>
            </a:r>
            <a:r>
              <a:rPr sz="870" b="0" i="0">
                <a:solidFill>
                  <a:srgbClr val="282D37"/>
                </a:solidFill>
                <a:latin typeface="맑은 고딕"/>
                <a:ea typeface="맑은 고딕"/>
              </a:rPr>
              <a:t>공공데이터에 결측률 0%는 불가능 → 실제 계산 없이 0으로만 채워진 ‘죽은 지표’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"/>
              </a:spcAft>
            </a:pPr>
            <a:r>
              <a:rPr sz="870" b="1" i="0">
                <a:solidFill>
                  <a:srgbClr val="081F46"/>
                </a:solidFill>
                <a:latin typeface="맑은 고딕"/>
                <a:ea typeface="맑은 고딕"/>
              </a:rPr>
              <a:t>③ 선택적 미산출: </a:t>
            </a:r>
            <a:r>
              <a:rPr sz="870" b="0" i="0">
                <a:solidFill>
                  <a:srgbClr val="282D37"/>
                </a:solidFill>
                <a:latin typeface="맑은 고딕"/>
                <a:ea typeface="맑은 고딕"/>
              </a:rPr>
              <a:t>같은 행에서 distinct·min·max는 산출됐는데 이 3종(+avg·사분위)만 0/빈값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"/>
              </a:spcAft>
            </a:pPr>
            <a:r>
              <a:rPr sz="870" b="1" i="0">
                <a:solidFill>
                  <a:srgbClr val="081F46"/>
                </a:solidFill>
                <a:latin typeface="맑은 고딕"/>
                <a:ea typeface="맑은 고딕"/>
              </a:rPr>
              <a:t>④ 영향: </a:t>
            </a:r>
            <a:r>
              <a:rPr sz="870" b="0" i="0">
                <a:solidFill>
                  <a:srgbClr val="282D37"/>
                </a:solidFill>
                <a:latin typeface="맑은 고딕"/>
                <a:ea typeface="맑은 고딕"/>
              </a:rPr>
              <a:t>품질(완전성)·활용(이용도) 축으로 데이터셋 우선순위·정제 대상 선정 불가</a:t>
            </a:r>
          </a:p>
        </p:txBody>
      </p:sp>
      <p:sp>
        <p:nvSpPr>
          <p:cNvPr id="824" name="g2-bg"/>
          <p:cNvSpPr/>
          <p:nvPr/>
        </p:nvSpPr>
        <p:spPr>
          <a:xfrm>
            <a:off x="6053328" y="4572000"/>
            <a:ext cx="5568696" cy="173736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25" name="g2-hdr"/>
          <p:cNvSpPr/>
          <p:nvPr/>
        </p:nvSpPr>
        <p:spPr>
          <a:xfrm>
            <a:off x="6053328" y="4572000"/>
            <a:ext cx="5568696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26" name="g2-title"/>
          <p:cNvSpPr txBox="1"/>
          <p:nvPr/>
        </p:nvSpPr>
        <p:spPr>
          <a:xfrm>
            <a:off x="6053328" y="4572000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 i="0">
                <a:solidFill>
                  <a:srgbClr val="FFFFFF"/>
                </a:solidFill>
                <a:latin typeface="맑은 고딕"/>
                <a:ea typeface="맑은 고딕"/>
              </a:rPr>
              <a:t>관련 패턴 · 대책</a:t>
            </a:r>
          </a:p>
        </p:txBody>
      </p:sp>
      <p:sp>
        <p:nvSpPr>
          <p:cNvPr id="827" name="g2-action"/>
          <p:cNvSpPr txBox="1"/>
          <p:nvPr/>
        </p:nvSpPr>
        <p:spPr>
          <a:xfrm>
            <a:off x="6163056" y="4928616"/>
            <a:ext cx="5367528" cy="133502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6"/>
              </a:spcAft>
            </a:pPr>
            <a:r>
              <a:rPr sz="860" b="1" i="0">
                <a:solidFill>
                  <a:srgbClr val="081F46"/>
                </a:solidFill>
                <a:latin typeface="맑은 고딕"/>
                <a:ea typeface="맑은 고딕"/>
              </a:rPr>
              <a:t>발견 패턴: </a:t>
            </a:r>
            <a:r>
              <a:rPr sz="860" b="0" i="0">
                <a:solidFill>
                  <a:srgbClr val="282D37"/>
                </a:solidFill>
                <a:latin typeface="맑은 고딕"/>
                <a:ea typeface="맑은 고딕"/>
              </a:rPr>
              <a:t>연관규칙(동시출현)이 아니라 1D 분포 통계(%0=100%)로 포착. 3종은 distinct=1(상수) → 상수컬럼 1,372개(13.9%)의 일부, 속성규칙 ‘상수컬럼=있음’과 연결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6"/>
              </a:spcAft>
            </a:pPr>
            <a:r>
              <a:rPr sz="860" b="1" i="0">
                <a:solidFill>
                  <a:srgbClr val="00965F"/>
                </a:solidFill>
                <a:latin typeface="맑은 고딕"/>
                <a:ea typeface="맑은 고딕"/>
              </a:rPr>
              <a:t>유사 오류: </a:t>
            </a:r>
            <a:r>
              <a:rPr sz="860" b="0" i="0">
                <a:solidFill>
                  <a:srgbClr val="282D37"/>
                </a:solidFill>
                <a:latin typeface="맑은 고딕"/>
                <a:ea typeface="맑은 고딕"/>
              </a:rPr>
              <a:t>same_ratio도 ‘비율’ 아님 → 평균중복도(rec/distinct, 예 학년도=16,146) 네이밍 오류(G6)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6"/>
              </a:spcAft>
            </a:pPr>
            <a:r>
              <a:rPr sz="860" b="1" i="0">
                <a:solidFill>
                  <a:srgbClr val="00965F"/>
                </a:solidFill>
                <a:latin typeface="맑은 고딕"/>
                <a:ea typeface="맑은 고딕"/>
              </a:rPr>
              <a:t>대책: </a:t>
            </a:r>
            <a:r>
              <a:rPr sz="860" b="0" i="0">
                <a:solidFill>
                  <a:srgbClr val="282D37"/>
                </a:solidFill>
                <a:latin typeface="맑은 고딕"/>
                <a:ea typeface="맑은 고딕"/>
              </a:rPr>
              <a:t>지표 산출 파이프라인 재적재 · 검색로그 연동(cum_search_num) · distinct_value로 null_ratio 실재 계산 · 정의-구현 정합성 감사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거버넌스 G3 컬럼 표준·품질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col_nm 빈도 집계(최빈 컬럼)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distinct_cnt·pk_ratio 1D 이산화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column_cnt vs (범주+수치) 정합성 검사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데이터기준일자(169)/데이터기준일(46), 연번(168)/순번(79)/번호(34)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상수 컬럼(distinct=1) 1,372개(13.9%)=정보량 0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스키마 회계 불일치 테이블 56개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문자유사도 군집으로 표준어 사전 산출(G3)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상수·중복 컬럼 정리 가이드 배포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스키마 검증 룰(컬럼수 정합) 적용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편집거리·자모 기반 컬럼명 클러스터링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table_str_tree 활용한 명칭군 검증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표준어 매핑의 도메인 영향 평가</a:t>
            </a:r>
          </a:p>
        </p:txBody>
      </p:sp>
      <p:sp>
        <p:nvSpPr>
          <p:cNvPr id="609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10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distinct=1 스캔 · col_nm 빈도 집계</a:t>
            </a:r>
          </a:p>
        </p:txBody>
      </p:sp>
      <p:sp>
        <p:nvSpPr>
          <p:cNvPr id="611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81F46"/>
                </a:solidFill>
                <a:latin typeface="맑은 고딕"/>
                <a:ea typeface="맑은 고딕"/>
              </a:rPr>
              <a:t>1,372개</a:t>
            </a:r>
          </a:p>
        </p:txBody>
      </p:sp>
      <p:sp>
        <p:nvSpPr>
          <p:cNvPr id="612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동일 개념의 상이한 이름과 상수·불일치 컬럼이 표준 부재를 드러냄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스키마 패밀리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컬럼개념 장바구니 구성(테이블별 보유개념)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FP-Growth 최대빈발 항목집합(≥8테이블·≥3개)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패밀리별 지배 도메인·대표 출처 집계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사학재정군·의료기관군·POI군·국가시험군 등 원형 식별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동일 기관이 동일 템플릿 다건 공개(예: 국가시험원 9건)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POI군(경도·위도·주소·전화)은 3개 도메인 횡단 범용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POI·의료기관·업소 표준 데이터모델 정의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동일기관 다건의 통합 카탈로깅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패밀리 단위 스키마 표준화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table_pair_map 유사도로 near-duplicate 확정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combined_pair_map으로 조인키 검증(I3)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패밀리 커버리지·결측 분석</a:t>
            </a:r>
          </a:p>
        </p:txBody>
      </p:sp>
      <p:sp>
        <p:nvSpPr>
          <p:cNvPr id="613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14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FP-Growth 최대빈발 컬럼군 (≥8테이블)</a:t>
            </a:r>
          </a:p>
        </p:txBody>
      </p:sp>
      <p:sp>
        <p:nvSpPr>
          <p:cNvPr id="615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11개 테이블</a:t>
            </a:r>
          </a:p>
        </p:txBody>
      </p:sp>
      <p:sp>
        <p:nvSpPr>
          <p:cNvPr id="616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동일 컬럼묶음의 반복 출현이 데이터셋 원형과 통합 후보를 드러냄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흥미로운 연관규칙 — 상세 지표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1105783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0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09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88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주제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규칙(선행→후행)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conviction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지리좌표쌍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경도→위도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0.0421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기간쌍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교육시작일→교육종료일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90.8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행정구역계층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시도명→시군구명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주소이중표기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지번주소→도로명주소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소재지주소(공공행정)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소재지지번주소→소재지도로명주소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36.6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인구통계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연령대→성별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35.2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의료기관PII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의료기관전화번호→의료기관명+의료기관주소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46.4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8.3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교과목코드→분반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124.9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학종→학교명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23.8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745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사학재정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연구비→일반기부금+지정기부금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111.0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94360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support=동시출현비율 · conf=P(후행│선행) · lift=우연대비배수 · leverage=관측−독립 · conviction=함의강도(∞=예외0) · scripts/09</a:t>
            </a:r>
          </a:p>
        </p:txBody>
      </p:sp>
      <p:sp>
        <p:nvSpPr>
          <p:cNvPr id="617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18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컬럼 장바구니 연관규칙 (FP-Growth·lift)</a:t>
            </a:r>
          </a:p>
        </p:txBody>
      </p:sp>
      <p:sp>
        <p:nvSpPr>
          <p:cNvPr id="619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lift 124.9</a:t>
            </a:r>
          </a:p>
        </p:txBody>
      </p:sp>
      <p:sp>
        <p:nvSpPr>
          <p:cNvPr id="620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‘주말&gt;기저귀&gt;맥주’ 대응 — 이슈 패턴 10건의 전체 지표(N=999)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연관규칙 시각화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15</a:t>
            </a:r>
          </a:p>
        </p:txBody>
      </p:sp>
      <p:pic>
        <p:nvPicPr>
          <p:cNvPr id="7" name="Picture 6" descr="fig_rules_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5943600" cy="3241964"/>
          </a:xfrm>
          <a:prstGeom prst="rect">
            <a:avLst/>
          </a:prstGeom>
        </p:spPr>
      </p:pic>
      <p:pic>
        <p:nvPicPr>
          <p:cNvPr id="8" name="Picture 7" descr="fig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2148840"/>
            <a:ext cx="5029200" cy="29802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98932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좌: 이슈 규칙 lift / 우: 전체 컬럼규칙의 support–lift 산점(초록=이슈) — scripts/09</a:t>
            </a:r>
          </a:p>
        </p:txBody>
      </p:sp>
      <p:sp>
        <p:nvSpPr>
          <p:cNvPr id="621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22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연관규칙 support–lift 분포 (경도→위도)</a:t>
            </a:r>
          </a:p>
        </p:txBody>
      </p:sp>
      <p:sp>
        <p:nvSpPr>
          <p:cNvPr id="623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44개 테이블</a:t>
            </a:r>
          </a:p>
        </p:txBody>
      </p:sp>
      <p:sp>
        <p:nvSpPr>
          <p:cNvPr id="624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이슈 규칙의 lift 크기와 전체 규칙군 내 위치(support–lift)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인텔리전스·거버넌스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인텔리전스·거버넌스 교차도메인 재식별 위험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의료기관 패밀리+연관규칙(전화→{명,주소} lift 46) 추출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교차도메인 공통 컬럼 집계(전화 140·주소 85·위경도 44)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후보 컬럼 태깅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명+주소+전화 묶음=데이터셋 내 직접 재식별 가능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도메인 횡단 공통 식별자로 결합 위험 증폭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양면성: 데이터 연계 기회 ↔ 프라이버시 위험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표준 거버넌스(마스킹·집계화) 적용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결합 위험 데이터셋 공개 전 영향평가 의무화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식별자 컬럼 자동 탐지·태깅 체계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combined_pair_map linking_ratio로 결합가능성 정량화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k-익명성·재식별 위험도 평가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도메인 횡단 식별자 전수 인벤토리</a:t>
            </a:r>
          </a:p>
        </p:txBody>
      </p:sp>
      <p:sp>
        <p:nvSpPr>
          <p:cNvPr id="625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26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의료기관 패밀리 + 연관규칙 (conf 0.88)</a:t>
            </a:r>
          </a:p>
        </p:txBody>
      </p:sp>
      <p:sp>
        <p:nvSpPr>
          <p:cNvPr id="627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lift 46.4</a:t>
            </a:r>
          </a:p>
        </p:txBody>
      </p:sp>
      <p:sp>
        <p:nvSpPr>
          <p:cNvPr id="628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명·주소·전화번호가 항상 묶여 공개되어 단일·결합 재식별 위험을 형성함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규칙#4 국소→전체 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17</a:t>
            </a:r>
          </a:p>
        </p:txBody>
      </p:sp>
      <p:pic>
        <p:nvPicPr>
          <p:cNvPr id="7" name="Picture 6" descr="fig_rul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48840"/>
            <a:ext cx="5486400" cy="3251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897880"/>
            <a:ext cx="54864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국소(공공행정) vs 전체(999) confidence — scripts/09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3368" y="1828800"/>
            <a:ext cx="5251399" cy="21488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73368" y="1828800"/>
            <a:ext cx="5251399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01384" y="1847088"/>
            <a:ext cx="5031943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의미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1384" y="2267712"/>
            <a:ext cx="5013655" cy="16367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소재지도로명→지번: 공공행정 1.00 → 전체 0.44 약화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보건은 지번주소 단독 보유 多 → 방향 붕괴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역방향(지번→도로명)은 0.92로 유지=비대칭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보건 일부는 데이터 명세서(사전) 파일=오분류 후보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73368" y="4160520"/>
            <a:ext cx="5251399" cy="182880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73368" y="4160520"/>
            <a:ext cx="5251399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4178808"/>
            <a:ext cx="5031943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대책·추가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4599432"/>
            <a:ext cx="5013655" cy="1316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규칙 일반화 전 전체검증 의무화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카탈로그 오분류(명세서 vs 실데이터) 재분류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방향성 규칙은 양방향 모두 표기·점검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명세서 의심 테이블 별도 군집·식별</a:t>
            </a:r>
          </a:p>
        </p:txBody>
      </p:sp>
      <p:sp>
        <p:nvSpPr>
          <p:cNvPr id="629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30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규칙#4 국소→전체 재계산 (도로명→지번)</a:t>
            </a:r>
          </a:p>
        </p:txBody>
      </p:sp>
      <p:sp>
        <p:nvSpPr>
          <p:cNvPr id="631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1.00 → 0.44</a:t>
            </a:r>
          </a:p>
        </p:txBody>
      </p:sp>
      <p:sp>
        <p:nvSpPr>
          <p:cNvPr id="632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국소에서 강했던 규칙이 전체에서 약화·비대칭됨을 실증함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Appendix A 추가 컬럼 연관규칙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주요 이슈에 포함되지 않은 추가 동시출현 패턴(lift順·대칭/동일집합 제거)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11057834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9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1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14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6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규칙(선행→후행)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{종료일}→{시작일}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{학종}→{학급}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90.8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{사업장소재지}→{사업장전화번호}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80.7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{교육종료일}→{교육장소}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60.5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{관리기관전화번호}→{관리기관명, 데이터기준일자}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57.1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{출판사}→{저자}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47.0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{서명}→{출판사}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42.7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{확진자수}→{사망자수}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{시도}→{시군구}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0.42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27.8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{의료기관명}→{의료기관종별}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0.26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25.6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{학교명}→{학급}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0.19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23.8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{설립}→{학교명}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21.4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{우편번호}→{팩스번호}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0.30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21.1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{설립구분}→{학교명}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17.3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03504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신규 주제: 기간쌍·도서관(출판사·저자·서명)·감염병통계(확진자→사망자)·학교설립·사업장 — scripts/09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Appendix B 속성 규칙·스키마 패밀리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테이블 속성 비자명 규칙과 최대빈발 컬럼군(추가)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640079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12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테이블 속성 규칙(비자명, conf≥0.6)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상수컬럼=없음, 유일키=있음}→{cate1=보건, 컬럼폭=협소}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{cate1=공공행정, 레코드=극소}→{cate2=일반행정, 상수컬럼=있음, 유일키=있음}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0.054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{cate1=공공행정, 컬럼폭=협소}→{cate2=일반행정, 상수컬럼=없음}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0.081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{cate1=보건, 컬럼폭=협소}→{cate2=보건의료, 상수컬럼=없음}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0.081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유일키=있음, 컬럼폭=표준}→{cate1=보건, 상수컬럼=있음}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0.076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{cate2=일반행정, 유일키=있음, 컬럼폭=협소}→{cate1=공공행정, 상수컬럼=없음}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{cate2=일반행정, 유일키=있음, 컬럼폭=표준}→{cate1=공공행정, 상수컬럼=있음}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컬럼폭=표준}→{cate1=보건, 상수컬럼=있음}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0.093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669280"/>
            <a:ext cx="64008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속성 연관규칙 — scripts/09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96328" y="1828800"/>
          <a:ext cx="442843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8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스키마 패밀리(컬럼군)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#tbl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도메인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{순번,의료기관명,의료기관전화,의료기관주소}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{경도,위도,도로명주소,전화번호}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보건/교육/행정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{연도,직종,회차}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{소재지전화,업소명,업종명}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{데이터기준일자,시군구명,시도명}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{우편번호,전화번호,주소}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{관리기관명,관리기관전화,데이터기준일자}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공공행정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196328" y="5669280"/>
            <a:ext cx="44284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FP-Growth 최대빈발 항목집합(≥8테이블) — analysis/I1_synthesis.md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종합 시사점 및 거버넌스 대책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발견을 즉시·단기·중기 조치로 우선순위화함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3503066" cy="4114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3503066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즉시(거버넌스)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출처 결손 배치 provenance 복구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적재 시 필수 메타 검증 도입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죽은 메트릭·네이밍 정정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4314" y="1828800"/>
            <a:ext cx="3503066" cy="4114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44314" y="1828800"/>
            <a:ext cx="3503066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72330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단기(표준화)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2330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 표준어 사전(G3) 구축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POI·의료기관 표준 데이터모델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식별자 태깅·마스킹 정책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1700" y="1828800"/>
            <a:ext cx="3503066" cy="411480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21700" y="1828800"/>
            <a:ext cx="3503066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9716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중기(인텔리전스)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9716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조인키 검증으로 데이터 연계(I3)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서브스페이스 클러스터링(I5)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near-duplicate 통합 카탈로깅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다음 단계 분석 및 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심화 분석 경로와 현재 분석의 명시적 한계를 제시함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4526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I3(연계): POI·의료기관 패밀리를 linking_ratio로 실제 조인키 검증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G3(거버넌스): 문자유사도 군집으로 표준어 사전 산출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I5(심화): 컬럼 프로파일 서브스페이스 클러스터링으로 원형 정교화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한계: 장바구니 규칙 support 낮음(8~44 테이블) → 운영 전 도메인 확인 필요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한계: 활용/품질 지표 미충전, distinct_value 정렬편향, proj 이미지 손상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3285</Words>
  <Application>Microsoft Office PowerPoint</Application>
  <PresentationFormat>와이드스크린</PresentationFormat>
  <Paragraphs>635</Paragraphs>
  <Slides>21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강훈</cp:lastModifiedBy>
  <cp:revision>141</cp:revision>
  <dcterms:created xsi:type="dcterms:W3CDTF">2013-01-27T09:14:16Z</dcterms:created>
  <dcterms:modified xsi:type="dcterms:W3CDTF">2026-06-07T12:20:13Z</dcterms:modified>
  <cp:category/>
</cp:coreProperties>
</file>