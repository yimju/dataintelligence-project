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CCFCC-030A-4CE8-A15F-A37FC6BFC187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B268F-8D29-4E2C-AE3B-299A67129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50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B268F-8D29-4E2C-AE3B-299A6712908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34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공공데이터 ‘데이터 지도’
거버넌스·인텔리전스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2E1"/>
                </a:solidFill>
                <a:latin typeface="맑은 고딕"/>
                <a:ea typeface="맑은 고딕"/>
              </a:rPr>
              <a:t>999개 공공데이터셋(교육·보건·공공행정) 데이터 지도의 비지도 데이터마이닝 분석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965F"/>
                </a:solidFill>
                <a:latin typeface="맑은 고딕"/>
                <a:ea typeface="맑은 고딕"/>
              </a:rPr>
              <a:t>1D 클러스터링 · AOI 롤업 · FP-Growth 빈발패턴 · 연관규칙 · 국소→전체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개요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및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목적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원본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트랜잭션이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‘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메타데이터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)’를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비지도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알고리즘으로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분석함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7198682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쌍별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값·도메인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목표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이슈와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비즈니스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인텔리전스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‘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기저귀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맥주’형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연관규칙을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데이터셋·컬럼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수준에서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발굴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원칙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LLM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추론 배제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모든 결론은 설명가능한 알고리즘 실행 결과</a:t>
            </a:r>
          </a:p>
        </p:txBody>
      </p:sp>
      <p:pic>
        <p:nvPicPr>
          <p:cNvPr id="12" name="Picture 11" descr="fig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579261"/>
            <a:ext cx="4428439" cy="3163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대상 데이터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9개 파일 = 프로파일 + 쌍별 중첩 + 유사도 클러스터의 3계층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667075"/>
              </p:ext>
            </p:extLst>
          </p:nvPr>
        </p:nvGraphicFramePr>
        <p:xfrm>
          <a:off x="566928" y="1993900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데이터셋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메타+분류+통계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999행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프로파일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키품질·고유값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등)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9,840행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distinct_value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컬럼별 distinct 값+빈도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803만행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table/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column_summary_map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객체별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통계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996/8,360행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combined_pair_map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조인가능성(linking_ratio)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74만행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25만행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값·도메인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중첩·중복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524만행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value_tree</a:t>
                      </a:r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/ 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str_tree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값·이름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클러스터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331~4,549행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방법론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이산화 → AOI 롤업 → 빈발패턴 → 연관규칙 → 국소·전체 검증의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66928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이산화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/>
            <a:r>
              <a:rPr sz="1050" b="0" i="0" dirty="0">
                <a:solidFill>
                  <a:srgbClr val="FFFFFF"/>
                </a:solidFill>
                <a:latin typeface="맑은 고딕"/>
                <a:ea typeface="맑은 고딕"/>
              </a:rPr>
              <a:t>1D </a:t>
            </a:r>
            <a:r>
              <a:rPr sz="10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KMeans</a:t>
            </a:r>
            <a:endParaRPr sz="10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796783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AOI 롤업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개념계층</a:t>
            </a:r>
          </a:p>
        </p:txBody>
      </p:sp>
      <p:sp>
        <p:nvSpPr>
          <p:cNvPr id="9" name="Pentagon 8"/>
          <p:cNvSpPr/>
          <p:nvPr/>
        </p:nvSpPr>
        <p:spPr>
          <a:xfrm>
            <a:off x="5026639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빈발패턴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FP-Growth</a:t>
            </a:r>
          </a:p>
        </p:txBody>
      </p:sp>
      <p:sp>
        <p:nvSpPr>
          <p:cNvPr id="10" name="Pentagon 9"/>
          <p:cNvSpPr/>
          <p:nvPr/>
        </p:nvSpPr>
        <p:spPr>
          <a:xfrm>
            <a:off x="7256495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④ 연관규칙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lift 등</a:t>
            </a:r>
          </a:p>
        </p:txBody>
      </p:sp>
      <p:sp>
        <p:nvSpPr>
          <p:cNvPr id="11" name="Pentagon 10"/>
          <p:cNvSpPr/>
          <p:nvPr/>
        </p:nvSpPr>
        <p:spPr>
          <a:xfrm>
            <a:off x="9486351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⑤ 검증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규칙#4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87620"/>
              </p:ext>
            </p:extLst>
          </p:nvPr>
        </p:nvGraphicFramePr>
        <p:xfrm>
          <a:off x="566928" y="3063240"/>
          <a:ext cx="110578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이산화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log1p + 1D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KMeans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rec_cnt·column_cnt·수치비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순서형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AOI 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정규식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개념계층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table_source→기관유형, col_nm→컬럼개념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빈발패턴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FP-Growth(max_len=3)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속성·컬럼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아이템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association_rules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(lift)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support·confidence·lift·leverage·conviction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도메인별→전체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재계산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국소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강규칙의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일반화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여부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공통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준비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①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적재·인코딩·형변환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모든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공유하는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기반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전처리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: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인코딩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확정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및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형변환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251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인코딩 확정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UTF-8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파일로 인코딩 통일</a:t>
            </a:r>
            <a:endParaRPr lang="en-US" altLang="ko-KR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(999) ·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(9,840)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을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dtype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=str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로 안전 적재 후 </a:t>
            </a:r>
            <a:r>
              <a:rPr lang="ko-KR" altLang="en-US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endParaRPr lang="ko-KR" alt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to_numeric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(coerce) —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날짜는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NaN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table_id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행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컬럼-테이블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② 1D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한쪽으로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심하게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쏠린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수치를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로그로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고르게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편 뒤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자동으로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구간을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나눔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.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828800"/>
            <a:ext cx="9980360" cy="12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1~833,466로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그대로면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결과를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지배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해결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log(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편 뒤 1차원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KMeans로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이산화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(5구간)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컬럼폭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(4구간)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(3구간)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수치형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(0~1)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고른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없이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바로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4F2DC526-7433-974C-F78C-8B3B1EF3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84" y="3370758"/>
            <a:ext cx="7472126" cy="3377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③ AOI 롤업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제각각인 999개 기관명을 정규식 규칙으로 7개 상위 개념(기관유형)으로 롤업(상향 일반화)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240462" cy="3858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AOI(속성지향 귀납)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롤업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구체적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개념으로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끌어올리는 다계층 일반화(roll-up)</a:t>
            </a: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– 제각각인 999개 </a:t>
            </a:r>
            <a:r>
              <a:rPr lang="en-US" sz="1300" dirty="0" err="1">
                <a:solidFill>
                  <a:srgbClr val="505050"/>
                </a:solidFill>
                <a:latin typeface="맑은 고딕"/>
                <a:ea typeface="맑은 고딕"/>
              </a:rPr>
              <a:t>table_source</a:t>
            </a: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lang="en-US" altLang="ko-KR" sz="130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을 </a:t>
            </a:r>
            <a:r>
              <a:rPr lang="ko-KR" altLang="en-US"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이산화하여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분석 </a:t>
            </a:r>
            <a:r>
              <a:rPr lang="en-US" altLang="ko-KR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feature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로 활용</a:t>
            </a:r>
            <a:endParaRPr lang="en-US" altLang="ko-KR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출처 롤업: table_source의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접미사·키워드를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정규식으로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매칭해 7개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기관유형으로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축약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– 우선순위로 1건씩 분류(교육→중앙→공공→광역→기초→미상→기타), ‘소스’·빈값은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미상으로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분리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301" name="card-bg"/>
          <p:cNvSpPr/>
          <p:nvPr/>
        </p:nvSpPr>
        <p:spPr>
          <a:xfrm>
            <a:off x="4986223" y="1880178"/>
            <a:ext cx="181051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2" name="card-hdr"/>
          <p:cNvSpPr/>
          <p:nvPr/>
        </p:nvSpPr>
        <p:spPr>
          <a:xfrm>
            <a:off x="4986223" y="1880178"/>
            <a:ext cx="181051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3" name="card-title"/>
          <p:cNvSpPr txBox="1"/>
          <p:nvPr/>
        </p:nvSpPr>
        <p:spPr>
          <a:xfrm>
            <a:off x="4986223" y="1880178"/>
            <a:ext cx="181051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원시</a:t>
            </a: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table_source</a:t>
            </a:r>
            <a:endParaRPr sz="12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4" name="card-body"/>
          <p:cNvSpPr txBox="1"/>
          <p:nvPr/>
        </p:nvSpPr>
        <p:spPr>
          <a:xfrm>
            <a:off x="5077663" y="2236794"/>
            <a:ext cx="162763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999개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자유</a:t>
            </a: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기관명</a:t>
            </a:r>
            <a:endParaRPr sz="14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서울특별시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금천구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한국사학진흥재단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경상남도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‘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’(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빈값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05" name="arrow1"/>
          <p:cNvSpPr txBox="1"/>
          <p:nvPr/>
        </p:nvSpPr>
        <p:spPr>
          <a:xfrm>
            <a:off x="6815023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06" name="card-bg"/>
          <p:cNvSpPr/>
          <p:nvPr/>
        </p:nvSpPr>
        <p:spPr>
          <a:xfrm>
            <a:off x="7144207" y="1880178"/>
            <a:ext cx="2249424" cy="370332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7" name="card-hdr"/>
          <p:cNvSpPr/>
          <p:nvPr/>
        </p:nvSpPr>
        <p:spPr>
          <a:xfrm>
            <a:off x="7144207" y="1880178"/>
            <a:ext cx="2249424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8" name="card-title"/>
          <p:cNvSpPr txBox="1"/>
          <p:nvPr/>
        </p:nvSpPr>
        <p:spPr>
          <a:xfrm>
            <a:off x="7144207" y="1880178"/>
            <a:ext cx="2249424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정규식 규칙</a:t>
            </a:r>
          </a:p>
        </p:txBody>
      </p:sp>
      <p:sp>
        <p:nvSpPr>
          <p:cNvPr id="309" name="card-body"/>
          <p:cNvSpPr txBox="1"/>
          <p:nvPr/>
        </p:nvSpPr>
        <p:spPr>
          <a:xfrm>
            <a:off x="7235647" y="2236794"/>
            <a:ext cx="2066544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접미사·키워드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매칭</a:t>
            </a:r>
            <a:endParaRPr sz="11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교육청·대학교·학교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부·청·위원회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공단·재단·병원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특별시·도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시·군·구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그 외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‘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소스’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 b="1" dirty="0" err="1">
                <a:solidFill>
                  <a:srgbClr val="00965F"/>
                </a:solidFill>
                <a:latin typeface="맑은 고딕"/>
                <a:ea typeface="맑은 고딕"/>
              </a:rPr>
              <a:t>빈값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 → 미상</a:t>
            </a:r>
          </a:p>
        </p:txBody>
      </p:sp>
      <p:sp>
        <p:nvSpPr>
          <p:cNvPr id="310" name="arrow2"/>
          <p:cNvSpPr txBox="1"/>
          <p:nvPr/>
        </p:nvSpPr>
        <p:spPr>
          <a:xfrm>
            <a:off x="9411919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11" name="card-bg"/>
          <p:cNvSpPr/>
          <p:nvPr/>
        </p:nvSpPr>
        <p:spPr>
          <a:xfrm>
            <a:off x="9741103" y="1880178"/>
            <a:ext cx="217627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2" name="card-hdr"/>
          <p:cNvSpPr/>
          <p:nvPr/>
        </p:nvSpPr>
        <p:spPr>
          <a:xfrm>
            <a:off x="9741103" y="1880178"/>
            <a:ext cx="217627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13" name="card-title"/>
          <p:cNvSpPr txBox="1"/>
          <p:nvPr/>
        </p:nvSpPr>
        <p:spPr>
          <a:xfrm>
            <a:off x="9741103" y="1880178"/>
            <a:ext cx="217627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7개 기관유형</a:t>
            </a:r>
          </a:p>
        </p:txBody>
      </p:sp>
      <p:sp>
        <p:nvSpPr>
          <p:cNvPr id="314" name="card-body"/>
          <p:cNvSpPr txBox="1"/>
          <p:nvPr/>
        </p:nvSpPr>
        <p:spPr>
          <a:xfrm>
            <a:off x="9832543" y="2236794"/>
            <a:ext cx="199339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7개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기관유형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수)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404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245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83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34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미상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)  145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④ 트랜잭션·패턴·검증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테이블을 거래로 보고 두 종류 아이템으로 FP-Growth·연관규칙·검증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864246" cy="380245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 = 1 transaction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(A)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cate·기관·레코드·컬럼폭·수치비·유일키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·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(B)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보유한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컬럼개념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집합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평균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9.6개)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FP-Growth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→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association_rules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999건에서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재계산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수행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01" name="card-bg"/>
          <p:cNvSpPr/>
          <p:nvPr/>
        </p:nvSpPr>
        <p:spPr>
          <a:xfrm>
            <a:off x="5522614" y="1828800"/>
            <a:ext cx="6071978" cy="85953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2" name="card-hdr"/>
          <p:cNvSpPr/>
          <p:nvPr/>
        </p:nvSpPr>
        <p:spPr>
          <a:xfrm>
            <a:off x="5522614" y="1828800"/>
            <a:ext cx="6071978" cy="292608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3" name="card-title"/>
          <p:cNvSpPr txBox="1"/>
          <p:nvPr/>
        </p:nvSpPr>
        <p:spPr>
          <a:xfrm>
            <a:off x="5522614" y="1828800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</a:t>
            </a:r>
          </a:p>
        </p:txBody>
      </p:sp>
      <p:sp>
        <p:nvSpPr>
          <p:cNvPr id="404" name="card-body"/>
          <p:cNvSpPr txBox="1"/>
          <p:nvPr/>
        </p:nvSpPr>
        <p:spPr>
          <a:xfrm>
            <a:off x="5667468" y="2157984"/>
            <a:ext cx="5835683" cy="4937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전북특별자치도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무주군_행정기관_20240831.csv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rec_cnt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=157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=7 (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범주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5·수치 2)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=‘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전북특별자치도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무주군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’</a:t>
            </a:r>
          </a:p>
        </p:txBody>
      </p:sp>
      <p:sp>
        <p:nvSpPr>
          <p:cNvPr id="405" name="arrow1"/>
          <p:cNvSpPr txBox="1"/>
          <p:nvPr/>
        </p:nvSpPr>
        <p:spPr>
          <a:xfrm>
            <a:off x="4510735" y="2870495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① 1D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이산화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(6p) · ② AOI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롤업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(7p)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적용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→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아이템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생성</a:t>
            </a:r>
            <a:endParaRPr sz="12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406" name="basket-bg"/>
          <p:cNvSpPr/>
          <p:nvPr/>
        </p:nvSpPr>
        <p:spPr>
          <a:xfrm>
            <a:off x="5522614" y="3589882"/>
            <a:ext cx="6071978" cy="2317137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7" name="basket-hdr"/>
          <p:cNvSpPr/>
          <p:nvPr/>
        </p:nvSpPr>
        <p:spPr>
          <a:xfrm>
            <a:off x="5522614" y="3597302"/>
            <a:ext cx="6071978" cy="292608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8" name="basket-title"/>
          <p:cNvSpPr txBox="1"/>
          <p:nvPr/>
        </p:nvSpPr>
        <p:spPr>
          <a:xfrm>
            <a:off x="5522614" y="3597302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트랜잭션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장바구니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 =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 = 1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09" name="subA"/>
          <p:cNvSpPr txBox="1"/>
          <p:nvPr/>
        </p:nvSpPr>
        <p:spPr>
          <a:xfrm>
            <a:off x="5667468" y="4051153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속성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endParaRPr sz="12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0" name="attrA"/>
          <p:cNvSpPr txBox="1"/>
          <p:nvPr/>
        </p:nvSpPr>
        <p:spPr>
          <a:xfrm>
            <a:off x="5667468" y="4243177"/>
            <a:ext cx="5780820" cy="4206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cate1=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cate2=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일반행정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레코드</a:t>
            </a:r>
            <a:r>
              <a:rPr 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수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=중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컬럼폭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표준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수치비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혼합</a:t>
            </a:r>
            <a:endParaRPr sz="1100" b="1" i="0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기초지자체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 · 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유일키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endParaRPr sz="11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11" name="subB"/>
          <p:cNvSpPr txBox="1"/>
          <p:nvPr/>
        </p:nvSpPr>
        <p:spPr>
          <a:xfrm>
            <a:off x="5667468" y="4827077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 lnSpcReduction="1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장바구니</a:t>
            </a:r>
            <a:r>
              <a:rPr lang="en-US"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보유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7종</a:t>
            </a:r>
          </a:p>
        </p:txBody>
      </p:sp>
      <p:sp>
        <p:nvSpPr>
          <p:cNvPr id="412" name="chip-bg"/>
          <p:cNvSpPr/>
          <p:nvPr/>
        </p:nvSpPr>
        <p:spPr>
          <a:xfrm>
            <a:off x="5667468" y="5149131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소속</a:t>
            </a:r>
          </a:p>
        </p:txBody>
      </p:sp>
      <p:sp>
        <p:nvSpPr>
          <p:cNvPr id="414" name="chip-bg"/>
          <p:cNvSpPr/>
          <p:nvPr/>
        </p:nvSpPr>
        <p:spPr>
          <a:xfrm>
            <a:off x="7167750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소재지도로명주소</a:t>
            </a:r>
          </a:p>
        </p:txBody>
      </p:sp>
      <p:sp>
        <p:nvSpPr>
          <p:cNvPr id="416" name="chip-bg"/>
          <p:cNvSpPr/>
          <p:nvPr/>
        </p:nvSpPr>
        <p:spPr>
          <a:xfrm>
            <a:off x="8668032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소재지지번주소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8" name="chip-bg"/>
          <p:cNvSpPr/>
          <p:nvPr/>
        </p:nvSpPr>
        <p:spPr>
          <a:xfrm>
            <a:off x="10168313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위도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20" name="chip-bg"/>
          <p:cNvSpPr/>
          <p:nvPr/>
        </p:nvSpPr>
        <p:spPr>
          <a:xfrm>
            <a:off x="5667467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경도</a:t>
            </a:r>
          </a:p>
        </p:txBody>
      </p:sp>
      <p:sp>
        <p:nvSpPr>
          <p:cNvPr id="422" name="chip-bg"/>
          <p:cNvSpPr/>
          <p:nvPr/>
        </p:nvSpPr>
        <p:spPr>
          <a:xfrm>
            <a:off x="7167750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전화번호</a:t>
            </a:r>
          </a:p>
        </p:txBody>
      </p:sp>
      <p:sp>
        <p:nvSpPr>
          <p:cNvPr id="424" name="chip-bg"/>
          <p:cNvSpPr/>
          <p:nvPr/>
        </p:nvSpPr>
        <p:spPr>
          <a:xfrm>
            <a:off x="8668032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데이터기준일자</a:t>
            </a:r>
          </a:p>
        </p:txBody>
      </p:sp>
      <p:sp>
        <p:nvSpPr>
          <p:cNvPr id="426" name="arrow2"/>
          <p:cNvSpPr txBox="1"/>
          <p:nvPr/>
        </p:nvSpPr>
        <p:spPr>
          <a:xfrm>
            <a:off x="4480560" y="5926401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=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트랜잭션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 →  FP-Growth  → 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연관규칙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(lift)</a:t>
            </a:r>
          </a:p>
        </p:txBody>
      </p:sp>
      <p:sp>
        <p:nvSpPr>
          <p:cNvPr id="427" name="legend"/>
          <p:cNvSpPr txBox="1"/>
          <p:nvPr/>
        </p:nvSpPr>
        <p:spPr>
          <a:xfrm>
            <a:off x="4803343" y="6336421"/>
            <a:ext cx="7114032" cy="256032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[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1D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이산화·AOI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롤업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을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적용한 </a:t>
            </a:r>
            <a:r>
              <a:rPr lang="ko-KR" altLang="en-US"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트랜잭선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구성 예시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]</a:t>
            </a:r>
            <a:endParaRPr sz="12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결과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거버넌스 2대 이슈와 인텔리전스 4대 발견을 도출</a:t>
            </a:r>
            <a:endParaRPr sz="18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거버넌스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G1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2334691" cy="10973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출처 누락 공통성</a:t>
            </a:r>
            <a:endParaRPr sz="1400" b="1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‘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’ 100건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100% placeholder('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')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lift 6.89·conf 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5395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95395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3411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거버넌스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lang="en-US"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G2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23411" y="2267712"/>
            <a:ext cx="2334691" cy="10973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상수컬럼 1,372개(13.9%)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컬럼명 표준 부재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same_ratio 네이밍 오류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863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23863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1879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I-패턴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1879" y="2267712"/>
            <a:ext cx="2334691" cy="132138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스키마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패밀리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원형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경도→위도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lift 22.7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교과목코드↔분반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124.9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연령대→성별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35.2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331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52331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0347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I-위험·검증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347" y="2267712"/>
            <a:ext cx="2334691" cy="10973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PII 묶음 lift 46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재식별 위험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규칙#4: 1.00→0.44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 후보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거버넌스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G1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누락 공통성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429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505" name="g1-bg"/>
          <p:cNvSpPr/>
          <p:nvPr/>
        </p:nvSpPr>
        <p:spPr>
          <a:xfrm>
            <a:off x="566928" y="3630122"/>
            <a:ext cx="5285232" cy="285292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6" name="g1-hdr"/>
          <p:cNvSpPr/>
          <p:nvPr/>
        </p:nvSpPr>
        <p:spPr>
          <a:xfrm>
            <a:off x="566928" y="3630122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07" name="g1-title"/>
          <p:cNvSpPr txBox="1"/>
          <p:nvPr/>
        </p:nvSpPr>
        <p:spPr>
          <a:xfrm>
            <a:off x="566928" y="3630122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데이터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—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무엇이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누락됐나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08" name="g1-ex-sub"/>
          <p:cNvSpPr txBox="1"/>
          <p:nvPr/>
        </p:nvSpPr>
        <p:spPr>
          <a:xfrm>
            <a:off x="676656" y="3977594"/>
            <a:ext cx="5065776" cy="36576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예시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1건: 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광주광역시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남구_어린이집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현황_20230712.csv</a:t>
            </a:r>
          </a:p>
        </p:txBody>
      </p:sp>
      <p:sp>
        <p:nvSpPr>
          <p:cNvPr id="509" name="g1-f0"/>
          <p:cNvSpPr txBox="1"/>
          <p:nvPr/>
        </p:nvSpPr>
        <p:spPr>
          <a:xfrm>
            <a:off x="713232" y="4506676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table_source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0" name="g1-v0"/>
          <p:cNvSpPr txBox="1"/>
          <p:nvPr/>
        </p:nvSpPr>
        <p:spPr>
          <a:xfrm>
            <a:off x="2587752" y="4506676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소스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 (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1" name="g1-f1"/>
          <p:cNvSpPr txBox="1"/>
          <p:nvPr/>
        </p:nvSpPr>
        <p:spPr>
          <a:xfrm>
            <a:off x="713232" y="4822144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원본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링크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2" name="g1-v1"/>
          <p:cNvSpPr txBox="1"/>
          <p:nvPr/>
        </p:nvSpPr>
        <p:spPr>
          <a:xfrm>
            <a:off x="2587752" y="4822144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</a:t>
            </a:r>
          </a:p>
        </p:txBody>
      </p:sp>
      <p:sp>
        <p:nvSpPr>
          <p:cNvPr id="513" name="g1-f2"/>
          <p:cNvSpPr txBox="1"/>
          <p:nvPr/>
        </p:nvSpPr>
        <p:spPr>
          <a:xfrm>
            <a:off x="713232" y="5137612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table_nm (파일명)</a:t>
            </a:r>
          </a:p>
        </p:txBody>
      </p:sp>
      <p:sp>
        <p:nvSpPr>
          <p:cNvPr id="514" name="g1-v2"/>
          <p:cNvSpPr txBox="1"/>
          <p:nvPr/>
        </p:nvSpPr>
        <p:spPr>
          <a:xfrm>
            <a:off x="2587752" y="5137612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‘광주광역시 남구…’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기관명 존재</a:t>
            </a:r>
          </a:p>
        </p:txBody>
      </p:sp>
      <p:sp>
        <p:nvSpPr>
          <p:cNvPr id="515" name="g1-f3"/>
          <p:cNvSpPr txBox="1"/>
          <p:nvPr/>
        </p:nvSpPr>
        <p:spPr>
          <a:xfrm>
            <a:off x="713232" y="5453080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regi_date (등록)</a:t>
            </a:r>
          </a:p>
        </p:txBody>
      </p:sp>
      <p:sp>
        <p:nvSpPr>
          <p:cNvPr id="516" name="g1-v3"/>
          <p:cNvSpPr txBox="1"/>
          <p:nvPr/>
        </p:nvSpPr>
        <p:spPr>
          <a:xfrm>
            <a:off x="2587752" y="5453080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2026-03-30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  (100건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7" name="g1-f4"/>
          <p:cNvSpPr txBox="1"/>
          <p:nvPr/>
        </p:nvSpPr>
        <p:spPr>
          <a:xfrm>
            <a:off x="713232" y="5768548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src_platform</a:t>
            </a:r>
          </a:p>
        </p:txBody>
      </p:sp>
      <p:sp>
        <p:nvSpPr>
          <p:cNvPr id="518" name="g1-v4"/>
          <p:cNvSpPr txBox="1"/>
          <p:nvPr/>
        </p:nvSpPr>
        <p:spPr>
          <a:xfrm>
            <a:off x="2587752" y="5768548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정상</a:t>
            </a:r>
          </a:p>
        </p:txBody>
      </p:sp>
      <p:sp>
        <p:nvSpPr>
          <p:cNvPr id="520" name="g1-bg"/>
          <p:cNvSpPr/>
          <p:nvPr/>
        </p:nvSpPr>
        <p:spPr>
          <a:xfrm>
            <a:off x="6053328" y="1991758"/>
            <a:ext cx="5568696" cy="272491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1" name="g1-hdr"/>
          <p:cNvSpPr/>
          <p:nvPr/>
        </p:nvSpPr>
        <p:spPr>
          <a:xfrm>
            <a:off x="6053328" y="1991758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2" name="g1-title"/>
          <p:cNvSpPr txBox="1"/>
          <p:nvPr/>
        </p:nvSpPr>
        <p:spPr>
          <a:xfrm>
            <a:off x="6053328" y="1991758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의미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구체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23" name="g1-mean"/>
          <p:cNvSpPr txBox="1"/>
          <p:nvPr/>
        </p:nvSpPr>
        <p:spPr>
          <a:xfrm>
            <a:off x="6163056" y="2348374"/>
            <a:ext cx="5367528" cy="23225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누락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값: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table_source→‘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 — 두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메타필드가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더미로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덮임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lang="ko-KR" altLang="en-US"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공통성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placeholder 145건 중 100건이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’(이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타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1~15%)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③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단일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배치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100건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모두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regi_date</a:t>
            </a:r>
            <a:r>
              <a:rPr sz="1000" b="1" i="0" u="sng" dirty="0">
                <a:solidFill>
                  <a:srgbClr val="282D37"/>
                </a:solidFill>
                <a:latin typeface="맑은 고딕"/>
                <a:ea typeface="맑은 고딕"/>
              </a:rPr>
              <a:t>=2026-03-30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한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번의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placeholder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우연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18000"/>
              </a:lnSpc>
              <a:spcAft>
                <a:spcPts val="40"/>
              </a:spcAft>
            </a:pPr>
            <a:r>
              <a:rPr lang="ko-KR" altLang="en-US" sz="1000" b="1" dirty="0">
                <a:solidFill>
                  <a:srgbClr val="081F46"/>
                </a:solidFill>
                <a:latin typeface="맑은 고딕"/>
                <a:ea typeface="맑은 고딕"/>
              </a:rPr>
              <a:t>④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영향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신뢰성·책임추적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(provenance)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붕괴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 단,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잔존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가능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524" name="g1-bg"/>
          <p:cNvSpPr/>
          <p:nvPr/>
        </p:nvSpPr>
        <p:spPr>
          <a:xfrm>
            <a:off x="6053328" y="4808110"/>
            <a:ext cx="5568696" cy="16642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5" name="g1-hdr"/>
          <p:cNvSpPr/>
          <p:nvPr/>
        </p:nvSpPr>
        <p:spPr>
          <a:xfrm>
            <a:off x="6053328" y="4808110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6" name="g1-title"/>
          <p:cNvSpPr txBox="1"/>
          <p:nvPr/>
        </p:nvSpPr>
        <p:spPr>
          <a:xfrm>
            <a:off x="6053328" y="480811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②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처리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③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대책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④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추가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27" name="g1-action"/>
          <p:cNvSpPr txBox="1"/>
          <p:nvPr/>
        </p:nvSpPr>
        <p:spPr>
          <a:xfrm>
            <a:off x="6163056" y="5164726"/>
            <a:ext cx="5367528" cy="1261872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처리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AOI로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’=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cate2별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교차표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포착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 6.89)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대책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①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(1순위) ②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시 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출처 표기 등록 로직 점검</a:t>
            </a:r>
            <a:r>
              <a:rPr lang="en-US" altLang="ko-KR" sz="10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③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표준코드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추가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regi_date·url로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역추적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발견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패턴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 ▸  </a:t>
            </a:r>
            <a:r>
              <a:rPr lang="en-US"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cate2 = </a:t>
            </a:r>
            <a:r>
              <a:rPr lang="ko-KR" altLang="en-US"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유아및초</a:t>
            </a:r>
            <a:r>
              <a:rPr lang="ko-KR" altLang="en-US" sz="1000" b="1" dirty="0" err="1">
                <a:solidFill>
                  <a:srgbClr val="505050"/>
                </a:solidFill>
                <a:latin typeface="맑은 고딕"/>
                <a:ea typeface="맑은 고딕"/>
              </a:rPr>
              <a:t>중등교육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기관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=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미상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(lift 6.89·conf 1.0)</a:t>
            </a:r>
          </a:p>
        </p:txBody>
      </p:sp>
      <p:sp>
        <p:nvSpPr>
          <p:cNvPr id="60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dirty="0">
                <a:solidFill>
                  <a:srgbClr val="081F46"/>
                </a:solidFill>
                <a:latin typeface="맑은 고딕"/>
                <a:ea typeface="맑은 고딕"/>
              </a:rPr>
              <a:t>100%</a:t>
            </a:r>
          </a:p>
        </p:txBody>
      </p:sp>
      <p:sp>
        <p:nvSpPr>
          <p:cNvPr id="604" name="metric-desc"/>
          <p:cNvSpPr txBox="1"/>
          <p:nvPr/>
        </p:nvSpPr>
        <p:spPr>
          <a:xfrm>
            <a:off x="2084832" y="1320673"/>
            <a:ext cx="9336024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누락은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무작위가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아니라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“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유아및초·중등교육”에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집중된</a:t>
            </a: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b="1" dirty="0">
                <a:solidFill>
                  <a:srgbClr val="282D37"/>
                </a:solidFill>
                <a:latin typeface="맑은 고딕"/>
                <a:ea typeface="맑은 고딕"/>
              </a:rPr>
              <a:t>공통 특성을 가짐</a:t>
            </a:r>
            <a:r>
              <a:rPr lang="en-US" altLang="ko-KR" b="1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  <a:endParaRPr b="1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1" name="a1-bg"/>
          <p:cNvSpPr/>
          <p:nvPr/>
        </p:nvSpPr>
        <p:spPr>
          <a:xfrm>
            <a:off x="566928" y="1991758"/>
            <a:ext cx="5285232" cy="15544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2" name="a1-hdr"/>
          <p:cNvSpPr/>
          <p:nvPr/>
        </p:nvSpPr>
        <p:spPr>
          <a:xfrm>
            <a:off x="566928" y="1991758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3" name="a1-title"/>
          <p:cNvSpPr txBox="1"/>
          <p:nvPr/>
        </p:nvSpPr>
        <p:spPr>
          <a:xfrm>
            <a:off x="566928" y="1991758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관련 트랜잭션 아이템 및 연관 규칙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04" name="a1-text"/>
          <p:cNvSpPr txBox="1"/>
          <p:nvPr/>
        </p:nvSpPr>
        <p:spPr>
          <a:xfrm>
            <a:off x="676656" y="2330086"/>
            <a:ext cx="5084064" cy="603504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트랜잭션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A)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=값’ 8종 — cate1·cate2·기관(AOI)·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레코드·컬럼폭·수치비·유일키·상수컬럼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00" b="1" dirty="0">
                <a:solidFill>
                  <a:srgbClr val="081F46"/>
                </a:solidFill>
                <a:latin typeface="맑은 고딕"/>
                <a:ea typeface="맑은 고딕"/>
              </a:rPr>
              <a:t>※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중 cate1↔cate2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과 같은 명백한 규칙은 제외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5" name="a1-chip"/>
          <p:cNvSpPr/>
          <p:nvPr/>
        </p:nvSpPr>
        <p:spPr>
          <a:xfrm>
            <a:off x="713232" y="3051464"/>
            <a:ext cx="2743200" cy="2926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6" name="a1-chiptx"/>
          <p:cNvSpPr txBox="1"/>
          <p:nvPr/>
        </p:nvSpPr>
        <p:spPr>
          <a:xfrm>
            <a:off x="713232" y="3051464"/>
            <a:ext cx="2743200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65F"/>
                </a:solidFill>
                <a:latin typeface="맑은 고딕"/>
                <a:ea typeface="맑은 고딕"/>
              </a:rPr>
              <a:t>cate2 = </a:t>
            </a:r>
            <a:r>
              <a:rPr sz="14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유아및초·중등교육</a:t>
            </a:r>
            <a:endParaRPr sz="14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707" name="a1-arrow"/>
          <p:cNvSpPr txBox="1"/>
          <p:nvPr/>
        </p:nvSpPr>
        <p:spPr>
          <a:xfrm>
            <a:off x="3474720" y="3051464"/>
            <a:ext cx="310896" cy="292608"/>
          </a:xfrm>
          <a:prstGeom prst="rect">
            <a:avLst/>
          </a:prstGeom>
          <a:noFill/>
        </p:spPr>
        <p:txBody>
          <a:bodyPr wrap="square" lIns="0" tIns="6350" rIns="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05050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708" name="a1-chip"/>
          <p:cNvSpPr/>
          <p:nvPr/>
        </p:nvSpPr>
        <p:spPr>
          <a:xfrm>
            <a:off x="3803904" y="3051464"/>
            <a:ext cx="1810512" cy="292608"/>
          </a:xfrm>
          <a:prstGeom prst="roundRect">
            <a:avLst/>
          </a:prstGeom>
          <a:solidFill>
            <a:srgbClr val="FCE8E6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9" name="a1-chiptx"/>
          <p:cNvSpPr txBox="1"/>
          <p:nvPr/>
        </p:nvSpPr>
        <p:spPr>
          <a:xfrm>
            <a:off x="3803904" y="3051464"/>
            <a:ext cx="1810512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맑은 고딕"/>
                <a:ea typeface="맑은 고딕"/>
              </a:rPr>
              <a:t>기관 = 미상(소스)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거버넌스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G2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표준·품질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904382"/>
            <a:ext cx="516315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이슈별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데이터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처리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944" y="2433965"/>
            <a:ext cx="5144871" cy="12279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col_nm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빈도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최빈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distinct_cnt·pk_ratio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1D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이산화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column_cnt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vs 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범주+수치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정합성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검사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904382"/>
            <a:ext cx="516315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433965"/>
            <a:ext cx="5144871" cy="12279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데이터기준일자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(169)/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데이터기준일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(46),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연번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(168)/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순번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(79)/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번호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(34)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(distinct=1) 1,372개(13.9%)=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정보량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0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스키마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회계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불일치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56개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304682"/>
            <a:ext cx="516315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834265"/>
            <a:ext cx="5144871" cy="12279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문자유사도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군집으로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lang="en-US"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G2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상수·중복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가이드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배포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스키마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룰(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적용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304682"/>
            <a:ext cx="516315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834265"/>
            <a:ext cx="5144871" cy="12279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편집거리·자모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컬럼명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클러스터링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table_str_tree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활용한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명칭군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매핑의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도메인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영향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평가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9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0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distinct=1 스캔 · col_nm 빈도 집계</a:t>
            </a:r>
          </a:p>
        </p:txBody>
      </p:sp>
      <p:sp>
        <p:nvSpPr>
          <p:cNvPr id="611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1F46"/>
                </a:solidFill>
                <a:latin typeface="맑은 고딕"/>
                <a:ea typeface="맑은 고딕"/>
              </a:rPr>
              <a:t>1,372개</a:t>
            </a:r>
          </a:p>
        </p:txBody>
      </p:sp>
      <p:sp>
        <p:nvSpPr>
          <p:cNvPr id="612" name="metric-desc"/>
          <p:cNvSpPr txBox="1"/>
          <p:nvPr/>
        </p:nvSpPr>
        <p:spPr>
          <a:xfrm>
            <a:off x="2373745" y="1339596"/>
            <a:ext cx="9037967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개념의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상이한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이름과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상수·불일치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컬럼이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부재를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드러냄</a:t>
            </a:r>
            <a:r>
              <a:rPr lang="en-US" b="1" i="0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  <a:endParaRPr b="1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컬럼개념 장바구니 구성(테이블별 보유개념)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FP-Growth 최대빈발 항목집합(≥8테이블·≥3개)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패밀리별 지배 도메인·대표 출처 집계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사학재정군·의료기관군·POI군·국가시험군 등 원형 식별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 기관이 동일 템플릿 다건 공개(예: 국가시험원 9건)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POI군(경도·위도·주소·전화)은 3개 도메인 횡단 범용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POI·의료기관·업소 표준 데이터모델 정의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동일기관 다건의 통합 카탈로깅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단위 스키마 표준화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table_pair_map 유사도로 near-duplicate 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combined_pair_map으로 조인키 검증(I3)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커버리지·결측 분석</a:t>
            </a:r>
          </a:p>
        </p:txBody>
      </p:sp>
      <p:sp>
        <p:nvSpPr>
          <p:cNvPr id="613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4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컬럼군 (≥8테이블)</a:t>
            </a:r>
          </a:p>
        </p:txBody>
      </p:sp>
      <p:sp>
        <p:nvSpPr>
          <p:cNvPr id="615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11개 테이블</a:t>
            </a:r>
          </a:p>
        </p:txBody>
      </p:sp>
      <p:sp>
        <p:nvSpPr>
          <p:cNvPr id="616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동일 컬럼묶음의 반복 출현이 데이터셋 원형과 통합 후보를 드러냄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흥미로운 연관규칙 — 상세 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지리좌표쌍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경도→위도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기간쌍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교육시작일→교육종료일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행정구역계층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시도명→시군구명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주소이중표기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지번주소→도로명주소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소재지주소(공공행정)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소재지지번주소→소재지도로명주소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36.6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연령대→성별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의료기관PII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의료기관전화번호→의료기관명+의료기관주소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46.4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8.3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교과목코드→분반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124.9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학종→학교명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5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사학재정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연구비→일반기부금+지정기부금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111.0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4360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support=동시출현비율 · conf=P(후행│선행) · lift=우연대비배수 · leverage=관측−독립 · conviction=함의강도(∞=예외0) · scripts/09</a:t>
            </a:r>
          </a:p>
        </p:txBody>
      </p:sp>
      <p:sp>
        <p:nvSpPr>
          <p:cNvPr id="617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8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컬럼 장바구니 연관규칙 (FP-Growth·lift)</a:t>
            </a:r>
          </a:p>
        </p:txBody>
      </p:sp>
      <p:sp>
        <p:nvSpPr>
          <p:cNvPr id="619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124.9</a:t>
            </a:r>
          </a:p>
        </p:txBody>
      </p:sp>
      <p:sp>
        <p:nvSpPr>
          <p:cNvPr id="620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‘주말&gt;기저귀&gt;맥주’ 대응 — 이슈 패턴 10건의 전체 지표(N=999)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연관규칙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14</a:t>
            </a:r>
          </a:p>
        </p:txBody>
      </p:sp>
      <p:pic>
        <p:nvPicPr>
          <p:cNvPr id="7" name="Picture 6" descr="fig_rules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5943600" cy="3241964"/>
          </a:xfrm>
          <a:prstGeom prst="rect">
            <a:avLst/>
          </a:prstGeom>
        </p:spPr>
      </p:pic>
      <p:pic>
        <p:nvPicPr>
          <p:cNvPr id="8" name="Picture 7" descr="fig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148840"/>
            <a:ext cx="5029200" cy="2980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98932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좌: 이슈 규칙 lift / 우: 전체 컬럼규칙의 support–lift 산점(초록=이슈) — scripts/09</a:t>
            </a:r>
          </a:p>
        </p:txBody>
      </p:sp>
      <p:sp>
        <p:nvSpPr>
          <p:cNvPr id="62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연관규칙 support–lift 분포 (경도→위도)</a:t>
            </a:r>
          </a:p>
        </p:txBody>
      </p:sp>
      <p:sp>
        <p:nvSpPr>
          <p:cNvPr id="62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44개 테이블</a:t>
            </a:r>
          </a:p>
        </p:txBody>
      </p:sp>
      <p:sp>
        <p:nvSpPr>
          <p:cNvPr id="624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이슈 규칙의 lift 크기와 전체 규칙군 내 위치(support–lift)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인텔리전스·거버넌스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인텔리전스·거버넌스 교차도메인 재식별 위험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패밀리+연관규칙(전화→{명,주소} lift 46) 추출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공통 컬럼 집계(전화 140·주소 85·위경도 44)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후보 컬럼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명+주소+전화 묶음=데이터셋 내 직접 재식별 가능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공통 식별자로 결합 위험 증폭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양면성: 데이터 연계 기회 ↔ 프라이버시 위험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표준 거버넌스(마스킹·집계화) 적용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결합 위험 데이터셋 공개 전 영향평가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식별자 컬럼 자동 탐지·태깅 체계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 linking_ratio로 결합가능성 정량화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k-익명성·재식별 위험도 평가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식별자 전수 인벤토리</a:t>
            </a:r>
          </a:p>
        </p:txBody>
      </p:sp>
      <p:sp>
        <p:nvSpPr>
          <p:cNvPr id="625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6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의료기관 패밀리 + 연관규칙 (conf 0.88)</a:t>
            </a:r>
          </a:p>
        </p:txBody>
      </p:sp>
      <p:sp>
        <p:nvSpPr>
          <p:cNvPr id="627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46.4</a:t>
            </a:r>
          </a:p>
        </p:txBody>
      </p:sp>
      <p:sp>
        <p:nvSpPr>
          <p:cNvPr id="628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명·주소·전화번호가 항상 묶여 공개되어 단일·결합 재식별 위험을 형성함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규칙#4 국소→전체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16</a:t>
            </a:r>
          </a:p>
        </p:txBody>
      </p:sp>
      <p:pic>
        <p:nvPicPr>
          <p:cNvPr id="7" name="Picture 6" descr="fig_ru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48840"/>
            <a:ext cx="5486400" cy="3251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97880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국소(공공행정) vs 전체(999) confidence — scripts/09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828800"/>
            <a:ext cx="5251399" cy="21488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3368" y="1828800"/>
            <a:ext cx="5251399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184708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의미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267712"/>
            <a:ext cx="5013655" cy="16367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소재지도로명→지번: 공공행정 1.00 → 전체 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보건은 지번주소 단독 보유 多 → 방향 붕괴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역방향(지번→도로명)은 0.92로 유지=비대칭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 일부는 데이터 명세서(사전) 파일=오분류 후보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4160520"/>
            <a:ext cx="5251399" cy="1828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73368" y="4160520"/>
            <a:ext cx="5251399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417880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대책·추가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599432"/>
            <a:ext cx="5013655" cy="1316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 일반화 전 전체검증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오분류(명세서 vs 실데이터) 재분류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방향성 규칙은 양방향 모두 표기·점검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명세서 의심 테이블 별도 군집·식별</a:t>
            </a:r>
          </a:p>
        </p:txBody>
      </p:sp>
      <p:sp>
        <p:nvSpPr>
          <p:cNvPr id="629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30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규칙#4 국소→전체 재계산 (도로명→지번)</a:t>
            </a:r>
          </a:p>
        </p:txBody>
      </p:sp>
      <p:sp>
        <p:nvSpPr>
          <p:cNvPr id="631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1.00 → 0.44</a:t>
            </a:r>
          </a:p>
        </p:txBody>
      </p:sp>
      <p:sp>
        <p:nvSpPr>
          <p:cNvPr id="632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국소에서 강했던 규칙이 전체에서 약화·비대칭됨을 실증함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A 추가 컬럼 연관규칙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주요 이슈에 포함되지 않은 추가 동시출현 패턴(lift順·대칭/동일집합 제거)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4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9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6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{종료일}→{시작일}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{학종}→{학급}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{사업장소재지}→{사업장전화번호}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{교육종료일}→{교육장소}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60.5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{관리기관전화번호}→{관리기관명, 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57.1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{출판사}→{저자}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47.0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{서명}→{출판사}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{확진자수}→{사망자수}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{시도}→{시군구}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0.42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27.8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{의료기관명}→{의료기관종별}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0.26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{학교명}→{학급}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{우편번호}→{팩스번호}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{설립구분}→{학교명}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17.3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3504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신규 주제: 기간쌍·도서관(출판사·저자·서명)·감염병통계(확진자→사망자)·학교설립·사업장 — scripts/09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B 속성 규칙·스키마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 속성 비자명 규칙과 최대빈발 컬럼군(추가)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64007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테이블 속성 규칙(비자명, conf≥0.6)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상수컬럼=없음, 유일키=있음}→{cate1=보건, 컬럼폭=협소}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레코드=극소}→{cate2=일반행정, 상수컬럼=있음, 유일키=있음}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0.054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컬럼폭=협소}→{cate2=일반행정,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{cate1=보건, 컬럼폭=협소}→{cate2=보건의료,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유일키=있음,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컬럼폭=협소}→{cate1=공공행정,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컬럼폭=표준}→{cate1=공공행정,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0.093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669280"/>
            <a:ext cx="64008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속성 연관규칙 — scripts/09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96328" y="1828800"/>
          <a:ext cx="442843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스키마 패밀리(컬럼군)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#tbl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도메인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{순번,의료기관명,의료기관전화,의료기관주소}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{경도,위도,도로명주소,전화번호}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보건/교육/행정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{연도,직종,회차}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{소재지전화,업소명,업종명}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{데이터기준일자,시군구명,시도명}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{우편번호,전화번호,주소}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{관리기관명,관리기관전화,데이터기준일자}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공공행정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96328" y="5669280"/>
            <a:ext cx="44284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항목집합(≥8테이블) — analysis/I1_synthesis.md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종합 시사점 및 거버넌스 대책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발견을 즉시·단기·중기 조치로 우선순위화함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즉시(거버넌스)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 배치 provenance 복구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시 필수 메타 검증 도입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메타 네이밍·상수컬럼 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4314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4314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2330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단기(표준화)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330" y="2267712"/>
            <a:ext cx="3265322" cy="69217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표준어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사전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lang="en-US"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G2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)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구축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POI·의료기관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데이터모델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PII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식별자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태깅·마스킹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정책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21700" y="1828800"/>
            <a:ext cx="3503066" cy="4114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21700" y="1828800"/>
            <a:ext cx="3503066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9716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중기(인텔리전스)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9716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조인키 검증으로 데이터 연계(I3)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서브스페이스 클러스터링(I5)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near-duplicate 통합 카탈로깅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다음 단계 분석 및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심화 분석 경로와 현재 분석의 명시적 한계를 제시함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I3(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POI·의료기관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패밀리를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linking_ratio로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실제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G2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문자유사도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군집으로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I5(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심화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서브스페이스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클러스터링으로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원형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정교화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support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낮음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(8~44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 →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운영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전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필요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활용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품질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미충전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distinct_value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정렬편향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proj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손상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3103</Words>
  <Application>Microsoft Office PowerPoint</Application>
  <PresentationFormat>와이드스크린</PresentationFormat>
  <Paragraphs>620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강훈</cp:lastModifiedBy>
  <cp:revision>147</cp:revision>
  <dcterms:created xsi:type="dcterms:W3CDTF">2013-01-27T09:14:16Z</dcterms:created>
  <dcterms:modified xsi:type="dcterms:W3CDTF">2026-06-07T12:52:13Z</dcterms:modified>
  <cp:category/>
</cp:coreProperties>
</file>