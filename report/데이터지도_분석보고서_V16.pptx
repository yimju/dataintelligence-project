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6"/>
    <p:sldId id="268" r:id="rId13"/>
    <p:sldId id="269" r:id="rId14"/>
    <p:sldId id="270" r:id="rId15"/>
    <p:sldId id="272" r:id="rId17"/>
    <p:sldId id="267" r:id="rId12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3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제각각인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우선순위로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1건씩 분류(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교육→중앙→공공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→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광역→기초→미상→기타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), 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발견 패턴·규칙 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비지도 분석(FP-Growth·연관규칙) 산출 패턴·규칙을 먼저 나열하고, 상세 분석 대상 페이지를 표시함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graphicFrame>
        <p:nvGraphicFramePr>
          <p:cNvPr id="4001" name="list-tbl"/>
          <p:cNvGraphicFramePr>
            <a:graphicFrameLocks noGrp="1"/>
          </p:cNvGraphicFramePr>
          <p:nvPr/>
        </p:nvGraphicFramePr>
        <p:xfrm>
          <a:off x="566928" y="1874520"/>
          <a:ext cx="11055096" cy="4187952"/>
        </p:xfrm>
        <a:graphic>
          <a:graphicData uri="http://schemas.openxmlformats.org/drawingml/2006/table">
            <a:tbl>
              <a:tblPr firstRow="1" bandRow="1"/>
              <a:tblGrid>
                <a:gridCol w="1188720"/>
                <a:gridCol w="6309360"/>
                <a:gridCol w="2468880"/>
                <a:gridCol w="1088136"/>
              </a:tblGrid>
              <a:tr h="38404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발견 내용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 지표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상세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패턴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스키마 패밀리(의료기관·POI·사학재정·국가시험군)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 최대빈발 ≥8테이블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 → 위도 (POI 좌표쌍)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conf 1.00 · lift 22.7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 ↔ 분반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conf 1.00 · lift 124.9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p.13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 → 시군구명 (행정구역 계층)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conf 0.94 · lift 39.0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거버넌스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출처 결손 — ‘유아및초·중등교육’ 100% placeholder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A1 conf 1.00 · lift 6.89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거버넌스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교차도메인 재식별 — 의료기관전화 → {명·주소}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conf 0.88 · lift 46.4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규칙#4 국소→전체 (도로명 → 지번)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conf 1.00 → 0.44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p.15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47548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 표준·값지문 / 상수·스키마불일치 / 교차도메인값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1D 집계·샘플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02" name="list-cap"/>
          <p:cNvSpPr txBox="1"/>
          <p:nvPr/>
        </p:nvSpPr>
        <p:spPr>
          <a:xfrm>
            <a:off x="566928" y="6035040"/>
            <a:ext cx="11055096" cy="27432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‘상세’ 열은 해당 발견을 깊이 다루는 페이지 · 1D 집계·샘플 결과는 ‘기타(p.16)’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G1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320673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2948363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2948363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2948363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2948363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2948363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E1BD3-E64C-17A6-9A6D-C255C5076C59}"/>
              </a:ext>
            </a:extLst>
          </p:cNvPr>
          <p:cNvSpPr txBox="1"/>
          <p:nvPr/>
        </p:nvSpPr>
        <p:spPr>
          <a:xfrm>
            <a:off x="3720794" y="3265892"/>
            <a:ext cx="20516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solidFill>
                  <a:srgbClr val="505050"/>
                </a:solidFill>
                <a:latin typeface="맑은 고딕"/>
                <a:ea typeface="맑은 고딕"/>
              </a:rPr>
              <a:t>lift 6.89·conf 1.0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기타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기타 분석 결과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4003" name="etc-core"/>
          <p:cNvSpPr txBox="1"/>
          <p:nvPr/>
        </p:nvSpPr>
        <p:spPr>
          <a:xfrm>
            <a:off x="566928" y="1060704"/>
            <a:ext cx="11055096" cy="512064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핵심 방법(FP-Growth·연관규칙) 산출이 아닌 1D 집계·샘플 기반 부가 결과</a:t>
            </a:r>
          </a:p>
        </p:txBody>
      </p:sp>
      <p:sp>
        <p:nvSpPr>
          <p:cNvPr id="4004" name="card-bg"/>
          <p:cNvSpPr/>
          <p:nvPr/>
        </p:nvSpPr>
        <p:spPr>
          <a:xfrm>
            <a:off x="566928" y="1874520"/>
            <a:ext cx="3526536" cy="39776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05" name="card-hdr"/>
          <p:cNvSpPr/>
          <p:nvPr/>
        </p:nvSpPr>
        <p:spPr>
          <a:xfrm>
            <a:off x="566928" y="1874520"/>
            <a:ext cx="352653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06" name="card-title"/>
          <p:cNvSpPr txBox="1"/>
          <p:nvPr/>
        </p:nvSpPr>
        <p:spPr>
          <a:xfrm>
            <a:off x="566928" y="1874520"/>
            <a:ext cx="352653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① 컬럼 표준·품질 (값 지문)</a:t>
            </a:r>
          </a:p>
        </p:txBody>
      </p:sp>
      <p:sp>
        <p:nvSpPr>
          <p:cNvPr id="4007" name="etc-c1"/>
          <p:cNvSpPr txBox="1"/>
          <p:nvPr/>
        </p:nvSpPr>
        <p:spPr>
          <a:xfrm>
            <a:off x="685800" y="2258568"/>
            <a:ext cx="3288792" cy="353872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연번·순번·번호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 = min1·pk≈1.0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→ 행 식별자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데이터기준일자·데이터기준일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 = pk≈0.0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→ 스냅샷 날짜(거의 상수)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같은 개념·다른 이름 → 값 지문(min·pk)으로 판별·표준화</a:t>
            </a:r>
          </a:p>
        </p:txBody>
      </p:sp>
      <p:sp>
        <p:nvSpPr>
          <p:cNvPr id="4008" name="card-bg"/>
          <p:cNvSpPr/>
          <p:nvPr/>
        </p:nvSpPr>
        <p:spPr>
          <a:xfrm>
            <a:off x="4331208" y="1874520"/>
            <a:ext cx="3526536" cy="39776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09" name="card-hdr"/>
          <p:cNvSpPr/>
          <p:nvPr/>
        </p:nvSpPr>
        <p:spPr>
          <a:xfrm>
            <a:off x="4331208" y="1874520"/>
            <a:ext cx="352653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10" name="card-title"/>
          <p:cNvSpPr txBox="1"/>
          <p:nvPr/>
        </p:nvSpPr>
        <p:spPr>
          <a:xfrm>
            <a:off x="4331208" y="1874520"/>
            <a:ext cx="352653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② 상수컬럼 · 스키마 불일치</a:t>
            </a:r>
          </a:p>
        </p:txBody>
      </p:sp>
      <p:sp>
        <p:nvSpPr>
          <p:cNvPr id="4011" name="etc-c2"/>
          <p:cNvSpPr txBox="1"/>
          <p:nvPr/>
        </p:nvSpPr>
        <p:spPr>
          <a:xfrm>
            <a:off x="4450080" y="2258568"/>
            <a:ext cx="3288792" cy="353872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상수 컬럼(distinct=1): </a:t>
            </a: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</a:rPr>
              <a:t>1,372개(13.9%)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→ 전 행 동일값 = 정보량 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스키마 불일치: </a:t>
            </a: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</a:rPr>
              <a:t>56개 테이블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→ column_cnt ≠ 범주+수치(미분류 컬럼)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단순 1D 집계·정합성 검사로 발견</a:t>
            </a:r>
          </a:p>
        </p:txBody>
      </p:sp>
      <p:sp>
        <p:nvSpPr>
          <p:cNvPr id="4012" name="card-bg"/>
          <p:cNvSpPr/>
          <p:nvPr/>
        </p:nvSpPr>
        <p:spPr>
          <a:xfrm>
            <a:off x="8095488" y="1874520"/>
            <a:ext cx="3526536" cy="39776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13" name="card-hdr"/>
          <p:cNvSpPr/>
          <p:nvPr/>
        </p:nvSpPr>
        <p:spPr>
          <a:xfrm>
            <a:off x="8095488" y="1874520"/>
            <a:ext cx="352653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14" name="card-title"/>
          <p:cNvSpPr txBox="1"/>
          <p:nvPr/>
        </p:nvSpPr>
        <p:spPr>
          <a:xfrm>
            <a:off x="8095488" y="1874520"/>
            <a:ext cx="352653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③ 교차도메인 값 공유</a:t>
            </a:r>
          </a:p>
        </p:txBody>
      </p:sp>
      <p:sp>
        <p:nvSpPr>
          <p:cNvPr id="4015" name="etc-c3"/>
          <p:cNvSpPr txBox="1"/>
          <p:nvPr/>
        </p:nvSpPr>
        <p:spPr>
          <a:xfrm>
            <a:off x="8214360" y="2258568"/>
            <a:ext cx="3288792" cy="353872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3개 도메인 공통 값 상위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= 소수·연도(1·8·2018) = 잡음 지배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샘플 집계 기반 → 전체검증 필요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의미 코드만 필터해야 연계 신호 추출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613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4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컬럼군 (≥8테이블)</a:t>
            </a:r>
          </a:p>
        </p:txBody>
      </p:sp>
      <p:sp>
        <p:nvSpPr>
          <p:cNvPr id="615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11개 테이블</a:t>
            </a:r>
          </a:p>
        </p:txBody>
      </p:sp>
      <p:sp>
        <p:nvSpPr>
          <p:cNvPr id="616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901" name="g3-bg"/>
          <p:cNvSpPr/>
          <p:nvPr/>
        </p:nvSpPr>
        <p:spPr>
          <a:xfrm>
            <a:off x="566928" y="1828800"/>
            <a:ext cx="5285232" cy="221284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2" name="g3-hdr"/>
          <p:cNvSpPr/>
          <p:nvPr/>
        </p:nvSpPr>
        <p:spPr>
          <a:xfrm>
            <a:off x="566928" y="1828800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3" name="g3-title"/>
          <p:cNvSpPr txBox="1"/>
          <p:nvPr/>
        </p:nvSpPr>
        <p:spPr>
          <a:xfrm>
            <a:off x="566928" y="1828800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‘동일 개념·다른 이름’의 수치적 의미 · 탐지 절차</a:t>
            </a:r>
          </a:p>
        </p:txBody>
      </p:sp>
      <p:sp>
        <p:nvSpPr>
          <p:cNvPr id="904" name="g3-terms"/>
          <p:cNvSpPr txBox="1"/>
          <p:nvPr/>
        </p:nvSpPr>
        <p:spPr>
          <a:xfrm>
            <a:off x="676656" y="2167128"/>
            <a:ext cx="5084064" cy="182880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5" b="1" i="0">
                <a:solidFill>
                  <a:srgbClr val="081F46"/>
                </a:solidFill>
                <a:latin typeface="맑은 고딕"/>
                <a:ea typeface="맑은 고딕"/>
              </a:rPr>
              <a:t>▸ 동일 개념 = </a:t>
            </a:r>
            <a:r>
              <a:rPr sz="845" b="0" i="0">
                <a:solidFill>
                  <a:srgbClr val="282D37"/>
                </a:solidFill>
                <a:latin typeface="맑은 고딕"/>
                <a:ea typeface="맑은 고딕"/>
              </a:rPr>
              <a:t>이름은 달라도 ‘값 지문’(값 범위·유일성)이 같은 컬럼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예) 일련번호 =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연번·순번·번호 — 셋 다 min_val=1, pk_ratio 0.96~0.99 (1부터의 거의-유일) = 같은 지문, 다른 이름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5" b="1" i="0">
                <a:solidFill>
                  <a:srgbClr val="081F46"/>
                </a:solidFill>
                <a:latin typeface="맑은 고딕"/>
                <a:ea typeface="맑은 고딕"/>
              </a:rPr>
              <a:t>▸ 탐지 절차 :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35" b="0" i="0">
                <a:solidFill>
                  <a:srgbClr val="282D37"/>
                </a:solidFill>
                <a:latin typeface="맑은 고딕"/>
                <a:ea typeface="맑은 고딕"/>
              </a:rPr>
              <a:t>① col_nm 정규화(괄호·공백·숫자접두 제거) → ② value_counts로 이름별 등장 테이블 수 집계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 i="0">
                <a:solidFill>
                  <a:srgbClr val="282D37"/>
                </a:solidFill>
                <a:latin typeface="맑은 고딕"/>
                <a:ea typeface="맑은 고딕"/>
              </a:rPr>
              <a:t>③ distinct_cnt=1 스캔(상수=정보량 0) · ④ column_cnt vs (범주+수치) 정합 검사</a:t>
            </a:r>
          </a:p>
        </p:txBody>
      </p:sp>
      <p:sp>
        <p:nvSpPr>
          <p:cNvPr id="905" name="g3-bg"/>
          <p:cNvSpPr/>
          <p:nvPr/>
        </p:nvSpPr>
        <p:spPr>
          <a:xfrm>
            <a:off x="566928" y="4133088"/>
            <a:ext cx="5285232" cy="217627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6" name="g3-hdr"/>
          <p:cNvSpPr/>
          <p:nvPr/>
        </p:nvSpPr>
        <p:spPr>
          <a:xfrm>
            <a:off x="566928" y="413308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7" name="g3-title"/>
          <p:cNvSpPr txBox="1"/>
          <p:nvPr/>
        </p:nvSpPr>
        <p:spPr>
          <a:xfrm>
            <a:off x="566928" y="413308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예시 데이터</a:t>
            </a:r>
          </a:p>
        </p:txBody>
      </p:sp>
      <p:sp>
        <p:nvSpPr>
          <p:cNvPr id="908" name="g3-ex"/>
          <p:cNvSpPr txBox="1"/>
          <p:nvPr/>
        </p:nvSpPr>
        <p:spPr>
          <a:xfrm>
            <a:off x="676656" y="4480560"/>
            <a:ext cx="5084064" cy="17922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① 같은 개념, 다른 이름 </a:t>
            </a:r>
            <a:r>
              <a:rPr sz="800" b="0" i="0">
                <a:solidFill>
                  <a:srgbClr val="505050"/>
                </a:solidFill>
                <a:latin typeface="맑은 고딕"/>
                <a:ea typeface="맑은 고딕"/>
              </a:rPr>
              <a:t>(등장 테이블 수)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일련번호: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연번 169 · 순번 81 · 번호 34  (모두 min=1·pk≈0.99)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기준일: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데이터기준일자 177 · 데이터기준일 49 · 기준일자 12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② 상수 컬럼(distinct=1) — 1,372개(13.9%)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· 예) </a:t>
            </a:r>
            <a:r>
              <a:rPr sz="840" b="1" i="0">
                <a:solidFill>
                  <a:srgbClr val="C0392B"/>
                </a:solidFill>
                <a:latin typeface="맑은 고딕"/>
                <a:ea typeface="맑은 고딕"/>
              </a:rPr>
              <a:t>‘삭제여부 디폴트 N’ → 전 행 ‘N’</a:t>
            </a:r>
            <a:r>
              <a:rPr sz="820" b="0" i="0">
                <a:solidFill>
                  <a:srgbClr val="505050"/>
                </a:solidFill>
                <a:latin typeface="맑은 고딕"/>
                <a:ea typeface="맑은 고딕"/>
              </a:rPr>
              <a:t> (정보량 0)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③ 스키마 회계 불일치 — 56개 테이블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· 예) </a:t>
            </a:r>
            <a:r>
              <a:rPr sz="840" b="1" i="0">
                <a:solidFill>
                  <a:srgbClr val="C0392B"/>
                </a:solidFill>
                <a:latin typeface="맑은 고딕"/>
                <a:ea typeface="맑은 고딕"/>
              </a:rPr>
              <a:t>상주시 투표정보 column_cnt=8 ≠ 범주1+수치3</a:t>
            </a:r>
          </a:p>
        </p:txBody>
      </p:sp>
      <p:sp>
        <p:nvSpPr>
          <p:cNvPr id="909" name="g3-bg"/>
          <p:cNvSpPr/>
          <p:nvPr/>
        </p:nvSpPr>
        <p:spPr>
          <a:xfrm>
            <a:off x="6053328" y="1828800"/>
            <a:ext cx="5568696" cy="26517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0" name="g3-hdr"/>
          <p:cNvSpPr/>
          <p:nvPr/>
        </p:nvSpPr>
        <p:spPr>
          <a:xfrm>
            <a:off x="6053328" y="1828800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1" name="g3-title"/>
          <p:cNvSpPr txBox="1"/>
          <p:nvPr/>
        </p:nvSpPr>
        <p:spPr>
          <a:xfrm>
            <a:off x="6053328" y="18288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 (구체)</a:t>
            </a:r>
          </a:p>
        </p:txBody>
      </p:sp>
      <p:sp>
        <p:nvSpPr>
          <p:cNvPr id="912" name="g3-mean"/>
          <p:cNvSpPr txBox="1"/>
          <p:nvPr/>
        </p:nvSpPr>
        <p:spPr>
          <a:xfrm>
            <a:off x="6163056" y="2185416"/>
            <a:ext cx="5367528" cy="22494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① 표준 부재 비용: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일련번호 1개 개념이 3개 이름으로 분산(연번169+순번81+번호34=284테이블), 기준일은 4개 이름 → 표준화 시 각 1컬럼으로 통합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② 동일성 근거: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이름이 달라도 값 지문 동일(min=1·pk≈0.99) → 사람 판단 없이 자동 통합 가능 신호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③ 상수 컬럼: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distinct=1인 1,372개(13.9%)는 전 행이 같은 값(예 ‘N’)=정보량 0; 최빈 데이터기준일자(166)·데이터기준일(45)=스냅샷 날짜 단일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④ 스키마 불일치: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56개 테이블 column_cnt ≠ 범주+수치(예 8≠4) → 미분류 컬럼 존재 = 메타 회계 오류</a:t>
            </a:r>
          </a:p>
        </p:txBody>
      </p:sp>
      <p:sp>
        <p:nvSpPr>
          <p:cNvPr id="913" name="g3-bg"/>
          <p:cNvSpPr/>
          <p:nvPr/>
        </p:nvSpPr>
        <p:spPr>
          <a:xfrm>
            <a:off x="6053328" y="4572000"/>
            <a:ext cx="5568696" cy="17373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4" name="g3-hdr"/>
          <p:cNvSpPr/>
          <p:nvPr/>
        </p:nvSpPr>
        <p:spPr>
          <a:xfrm>
            <a:off x="6053328" y="457200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5" name="g3-title"/>
          <p:cNvSpPr txBox="1"/>
          <p:nvPr/>
        </p:nvSpPr>
        <p:spPr>
          <a:xfrm>
            <a:off x="6053328" y="45720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관련 패턴 · 대책</a:t>
            </a:r>
          </a:p>
        </p:txBody>
      </p:sp>
      <p:sp>
        <p:nvSpPr>
          <p:cNvPr id="916" name="g3-action"/>
          <p:cNvSpPr txBox="1"/>
          <p:nvPr/>
        </p:nvSpPr>
        <p:spPr>
          <a:xfrm>
            <a:off x="6163056" y="4928616"/>
            <a:ext cx="5367528" cy="13350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4"/>
              </a:spcAft>
            </a:pPr>
            <a:r>
              <a:rPr sz="855" b="1" i="0">
                <a:solidFill>
                  <a:srgbClr val="081F46"/>
                </a:solidFill>
                <a:latin typeface="맑은 고딕"/>
                <a:ea typeface="맑은 고딕"/>
              </a:rPr>
              <a:t>발견 패턴: </a:t>
            </a:r>
            <a:r>
              <a:rPr sz="855" b="0" i="0">
                <a:solidFill>
                  <a:srgbClr val="282D37"/>
                </a:solidFill>
                <a:latin typeface="맑은 고딕"/>
                <a:ea typeface="맑은 고딕"/>
              </a:rPr>
              <a:t>연관규칙 아닌 1D 빈도·분포 집계(col_nm value_counts·distinct 분포). 값 지문 일치는 column_value_tree(값 유사도 군집, 최대 189컬럼/군집)로 자동 확인 가능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4"/>
              </a:spcAft>
            </a:pPr>
            <a:r>
              <a:rPr sz="855" b="1" i="0">
                <a:solidFill>
                  <a:srgbClr val="00965F"/>
                </a:solidFill>
                <a:latin typeface="맑은 고딕"/>
                <a:ea typeface="맑은 고딕"/>
              </a:rPr>
              <a:t>대책: </a:t>
            </a:r>
            <a:r>
              <a:rPr sz="855" b="0" i="0">
                <a:solidFill>
                  <a:srgbClr val="282D37"/>
                </a:solidFill>
                <a:latin typeface="맑은 고딕"/>
                <a:ea typeface="맑은 고딕"/>
              </a:rPr>
              <a:t>문자유사도(편집거리·자모)+값지문으로 표준어 사전 구축 · 상수/중복 컬럼 정리 · 스키마 검증 룰(컬럼수 정합) 적용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8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(FP-Growth·lift)</a:t>
            </a:r>
          </a:p>
        </p:txBody>
      </p:sp>
      <p:sp>
        <p:nvSpPr>
          <p:cNvPr id="619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124.9</a:t>
            </a:r>
          </a:p>
        </p:txBody>
      </p:sp>
      <p:sp>
        <p:nvSpPr>
          <p:cNvPr id="620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  <p:sp>
        <p:nvSpPr>
          <p:cNvPr id="62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연관규칙 support–lift 분포 (경도→위도)</a:t>
            </a:r>
          </a:p>
        </p:txBody>
      </p:sp>
      <p:sp>
        <p:nvSpPr>
          <p:cNvPr id="62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44개 테이블</a:t>
            </a:r>
          </a:p>
        </p:txBody>
      </p:sp>
      <p:sp>
        <p:nvSpPr>
          <p:cNvPr id="62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의료기관 패밀리 + 연관규칙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  <p:sp>
        <p:nvSpPr>
          <p:cNvPr id="5001" name="r-bg"/>
          <p:cNvSpPr/>
          <p:nvPr/>
        </p:nvSpPr>
        <p:spPr>
          <a:xfrm>
            <a:off x="566928" y="1828800"/>
            <a:ext cx="5349240" cy="1828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02" name="r-hdr"/>
          <p:cNvSpPr/>
          <p:nvPr/>
        </p:nvSpPr>
        <p:spPr>
          <a:xfrm>
            <a:off x="566928" y="1828800"/>
            <a:ext cx="5349240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03" name="r-title"/>
          <p:cNvSpPr txBox="1"/>
          <p:nvPr/>
        </p:nvSpPr>
        <p:spPr>
          <a:xfrm>
            <a:off x="566928" y="1828800"/>
            <a:ext cx="534924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>
                <a:solidFill>
                  <a:srgbClr val="FFFFFF"/>
                </a:solidFill>
                <a:latin typeface="맑은 고딕"/>
                <a:ea typeface="맑은 고딕"/>
              </a:rPr>
              <a:t>① 의료기관 패밀리는 어떻게 만들어졌나</a:t>
            </a:r>
          </a:p>
        </p:txBody>
      </p:sp>
      <p:sp>
        <p:nvSpPr>
          <p:cNvPr id="5004" name="r-fam"/>
          <p:cNvSpPr txBox="1"/>
          <p:nvPr/>
        </p:nvSpPr>
        <p:spPr>
          <a:xfrm>
            <a:off x="685800" y="2203704"/>
            <a:ext cx="5111496" cy="14081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"/>
              </a:spcAft>
              <a:buNone/>
            </a:pPr>
            <a:r>
              <a:rPr sz="980" b="1" i="0">
                <a:solidFill>
                  <a:srgbClr val="081F46"/>
                </a:solidFill>
                <a:latin typeface="맑은 고딕"/>
                <a:ea typeface="맑은 고딕"/>
              </a:rPr>
              <a:t>장바구니: </a:t>
            </a:r>
            <a:r>
              <a:rPr sz="980" b="0" i="0">
                <a:solidFill>
                  <a:srgbClr val="282D37"/>
                </a:solidFill>
                <a:latin typeface="맑은 고딕"/>
                <a:ea typeface="맑은 고딕"/>
              </a:rPr>
              <a:t>각 테이블 → 보유 컬럼개념 집합(정규화 col_nm)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"/>
              </a:spcAft>
              <a:buNone/>
            </a:pPr>
            <a:r>
              <a:rPr sz="980" b="1" i="0">
                <a:solidFill>
                  <a:srgbClr val="081F46"/>
                </a:solidFill>
                <a:latin typeface="맑은 고딕"/>
                <a:ea typeface="맑은 고딕"/>
              </a:rPr>
              <a:t>FP-Growth: </a:t>
            </a:r>
            <a:r>
              <a:rPr sz="980" b="0" i="0">
                <a:solidFill>
                  <a:srgbClr val="282D37"/>
                </a:solidFill>
                <a:latin typeface="맑은 고딕"/>
                <a:ea typeface="맑은 고딕"/>
              </a:rPr>
              <a:t>최대빈발 항목집합(min_support ≥ 8 테이블)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00965F"/>
                </a:solidFill>
                <a:latin typeface="맑은 고딕"/>
                <a:ea typeface="맑은 고딕"/>
              </a:rPr>
              <a:t>결과: </a:t>
            </a:r>
            <a:r>
              <a:rPr sz="980" b="0" i="0">
                <a:solidFill>
                  <a:srgbClr val="282D37"/>
                </a:solidFill>
                <a:latin typeface="맑은 고딕"/>
                <a:ea typeface="맑은 고딕"/>
              </a:rPr>
              <a:t>{순번·의료기관명·의료기관전화번호·의료기관주소} = 11개 보건 테이블 공통 → ‘의료기관 현황’ 데이터셋 원형</a:t>
            </a:r>
          </a:p>
        </p:txBody>
      </p:sp>
      <p:sp>
        <p:nvSpPr>
          <p:cNvPr id="5005" name="r-bg"/>
          <p:cNvSpPr/>
          <p:nvPr/>
        </p:nvSpPr>
        <p:spPr>
          <a:xfrm>
            <a:off x="6144768" y="1828800"/>
            <a:ext cx="5477256" cy="1828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06" name="r-hdr"/>
          <p:cNvSpPr/>
          <p:nvPr/>
        </p:nvSpPr>
        <p:spPr>
          <a:xfrm>
            <a:off x="6144768" y="1828800"/>
            <a:ext cx="547725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07" name="r-title"/>
          <p:cNvSpPr txBox="1"/>
          <p:nvPr/>
        </p:nvSpPr>
        <p:spPr>
          <a:xfrm>
            <a:off x="6144768" y="1828800"/>
            <a:ext cx="547725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>
                <a:solidFill>
                  <a:srgbClr val="FFFFFF"/>
                </a:solidFill>
                <a:latin typeface="맑은 고딕"/>
                <a:ea typeface="맑은 고딕"/>
              </a:rPr>
              <a:t>② PII 후보 (개인식별정보 후보)</a:t>
            </a:r>
          </a:p>
        </p:txBody>
      </p:sp>
      <p:sp>
        <p:nvSpPr>
          <p:cNvPr id="5008" name="r-pii"/>
          <p:cNvSpPr txBox="1"/>
          <p:nvPr/>
        </p:nvSpPr>
        <p:spPr>
          <a:xfrm>
            <a:off x="6263640" y="2203704"/>
            <a:ext cx="5239512" cy="14081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"/>
              </a:spcAft>
              <a:buNone/>
            </a:pPr>
            <a:r>
              <a:rPr sz="980" b="1" i="0">
                <a:solidFill>
                  <a:srgbClr val="081F46"/>
                </a:solidFill>
                <a:latin typeface="맑은 고딕"/>
                <a:ea typeface="맑은 고딕"/>
              </a:rPr>
              <a:t>정의: </a:t>
            </a:r>
            <a:r>
              <a:rPr sz="980" b="0" i="0">
                <a:solidFill>
                  <a:srgbClr val="282D37"/>
                </a:solidFill>
                <a:latin typeface="맑은 고딕"/>
                <a:ea typeface="맑은 고딕"/>
              </a:rPr>
              <a:t>값이 개인·기관을 특정할 수 있는 컬럼 유형(연락처·주소·명칭·좌표)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"/>
              </a:spcAft>
              <a:buNone/>
            </a:pPr>
            <a:r>
              <a:rPr sz="980" b="1" i="0">
                <a:solidFill>
                  <a:srgbClr val="081F46"/>
                </a:solidFill>
                <a:latin typeface="맑은 고딕"/>
                <a:ea typeface="맑은 고딕"/>
              </a:rPr>
              <a:t>식별: </a:t>
            </a:r>
            <a:r>
              <a:rPr sz="980" b="0" i="0">
                <a:solidFill>
                  <a:srgbClr val="282D37"/>
                </a:solidFill>
                <a:latin typeface="맑은 고딕"/>
                <a:ea typeface="맑은 고딕"/>
              </a:rPr>
              <a:t>col_nm이 식별자 유형 + 교차도메인 다출현 → PII 후보로 태깅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081F46"/>
                </a:solidFill>
                <a:latin typeface="맑은 고딕"/>
                <a:ea typeface="맑은 고딕"/>
              </a:rPr>
              <a:t>예시(등장 테이블): </a:t>
            </a:r>
            <a:r>
              <a:rPr sz="980" b="1" i="0">
                <a:solidFill>
                  <a:srgbClr val="C0392B"/>
                </a:solidFill>
                <a:latin typeface="맑은 고딕"/>
                <a:ea typeface="맑은 고딕"/>
              </a:rPr>
              <a:t>전화번호 140 · 주소 85 · 위경도 44 · 의료기관명 39 · 연락처 27</a:t>
            </a:r>
          </a:p>
        </p:txBody>
      </p:sp>
      <p:sp>
        <p:nvSpPr>
          <p:cNvPr id="5009" name="r-bg"/>
          <p:cNvSpPr/>
          <p:nvPr/>
        </p:nvSpPr>
        <p:spPr>
          <a:xfrm>
            <a:off x="566928" y="3794760"/>
            <a:ext cx="11055096" cy="25146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10" name="r-hdr"/>
          <p:cNvSpPr/>
          <p:nvPr/>
        </p:nvSpPr>
        <p:spPr>
          <a:xfrm>
            <a:off x="566928" y="3794760"/>
            <a:ext cx="11055096" cy="329184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11" name="r-title"/>
          <p:cNvSpPr txBox="1"/>
          <p:nvPr/>
        </p:nvSpPr>
        <p:spPr>
          <a:xfrm>
            <a:off x="566928" y="3794760"/>
            <a:ext cx="1105509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>
                <a:solidFill>
                  <a:srgbClr val="FFFFFF"/>
                </a:solidFill>
                <a:latin typeface="맑은 고딕"/>
                <a:ea typeface="맑은 고딕"/>
              </a:rPr>
              <a:t>③ 발견된 연관규칙 (장바구니 동시출현) — 재식별 위험의 근거</a:t>
            </a:r>
          </a:p>
        </p:txBody>
      </p:sp>
      <p:sp>
        <p:nvSpPr>
          <p:cNvPr id="5012" name="r-lbl1"/>
          <p:cNvSpPr txBox="1"/>
          <p:nvPr/>
        </p:nvSpPr>
        <p:spPr>
          <a:xfrm>
            <a:off x="731520" y="4215384"/>
            <a:ext cx="868680" cy="38404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0" b="1" i="0">
                <a:solidFill>
                  <a:srgbClr val="505050"/>
                </a:solidFill>
                <a:latin typeface="맑은 고딕"/>
                <a:ea typeface="맑은 고딕"/>
              </a:rPr>
              <a:t>선행</a:t>
            </a:r>
          </a:p>
        </p:txBody>
      </p:sp>
      <p:sp>
        <p:nvSpPr>
          <p:cNvPr id="5013" name="r-chip"/>
          <p:cNvSpPr/>
          <p:nvPr/>
        </p:nvSpPr>
        <p:spPr>
          <a:xfrm>
            <a:off x="1481328" y="4215384"/>
            <a:ext cx="2331720" cy="38404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14" name="r-chiptx"/>
          <p:cNvSpPr txBox="1"/>
          <p:nvPr/>
        </p:nvSpPr>
        <p:spPr>
          <a:xfrm>
            <a:off x="1481328" y="4215384"/>
            <a:ext cx="2331720" cy="38404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의료기관전화번호</a:t>
            </a:r>
          </a:p>
        </p:txBody>
      </p:sp>
      <p:sp>
        <p:nvSpPr>
          <p:cNvPr id="5015" name="r-arrow"/>
          <p:cNvSpPr txBox="1"/>
          <p:nvPr/>
        </p:nvSpPr>
        <p:spPr>
          <a:xfrm>
            <a:off x="3840480" y="4215384"/>
            <a:ext cx="365760" cy="38404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5016" name="r-lbl2"/>
          <p:cNvSpPr txBox="1"/>
          <p:nvPr/>
        </p:nvSpPr>
        <p:spPr>
          <a:xfrm>
            <a:off x="4242816" y="4215384"/>
            <a:ext cx="868680" cy="38404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0" b="1" i="0">
                <a:solidFill>
                  <a:srgbClr val="505050"/>
                </a:solidFill>
                <a:latin typeface="맑은 고딕"/>
                <a:ea typeface="맑은 고딕"/>
              </a:rPr>
              <a:t>후행</a:t>
            </a:r>
          </a:p>
        </p:txBody>
      </p:sp>
      <p:sp>
        <p:nvSpPr>
          <p:cNvPr id="5017" name="r-chip"/>
          <p:cNvSpPr/>
          <p:nvPr/>
        </p:nvSpPr>
        <p:spPr>
          <a:xfrm>
            <a:off x="4937760" y="4215384"/>
            <a:ext cx="3840480" cy="38404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18" name="r-chiptx"/>
          <p:cNvSpPr txBox="1"/>
          <p:nvPr/>
        </p:nvSpPr>
        <p:spPr>
          <a:xfrm>
            <a:off x="4937760" y="4215384"/>
            <a:ext cx="3840480" cy="38404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</a:rPr>
              <a:t>의료기관명 · 의료기관주소</a:t>
            </a:r>
          </a:p>
        </p:txBody>
      </p:sp>
      <p:sp>
        <p:nvSpPr>
          <p:cNvPr id="5019" name="r-metric"/>
          <p:cNvSpPr txBox="1"/>
          <p:nvPr/>
        </p:nvSpPr>
        <p:spPr>
          <a:xfrm>
            <a:off x="8933688" y="4215384"/>
            <a:ext cx="2560320" cy="38404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081F46"/>
                </a:solidFill>
                <a:latin typeface="맑은 고딕"/>
                <a:ea typeface="맑은 고딕"/>
              </a:rPr>
              <a:t>support 15 · conf 0.88 · lift 46.4</a:t>
            </a:r>
          </a:p>
        </p:txBody>
      </p:sp>
      <p:sp>
        <p:nvSpPr>
          <p:cNvPr id="5020" name="r-band"/>
          <p:cNvSpPr txBox="1"/>
          <p:nvPr/>
        </p:nvSpPr>
        <p:spPr>
          <a:xfrm>
            <a:off x="731520" y="4745736"/>
            <a:ext cx="10689336" cy="14721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  <a:buNone/>
            </a:pPr>
            <a:r>
              <a:rPr sz="980" b="1" i="0">
                <a:solidFill>
                  <a:srgbClr val="081F46"/>
                </a:solidFill>
                <a:latin typeface="맑은 고딕"/>
                <a:ea typeface="맑은 고딕"/>
              </a:rPr>
              <a:t>읽기: </a:t>
            </a:r>
            <a:r>
              <a:rPr sz="980" b="0" i="0">
                <a:solidFill>
                  <a:srgbClr val="282D37"/>
                </a:solidFill>
                <a:latin typeface="맑은 고딕"/>
                <a:ea typeface="맑은 고딕"/>
              </a:rPr>
              <a:t>의료기관전화번호가 있으면 88%가 ‘명·주소’도 함께 있음 → 우연 대비 46배, 예외 거의 없음(conviction 8.3)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  <a:buNone/>
            </a:pPr>
            <a:r>
              <a:rPr sz="980" b="1" i="0">
                <a:solidFill>
                  <a:srgbClr val="C0392B"/>
                </a:solidFill>
                <a:latin typeface="맑은 고딕"/>
                <a:ea typeface="맑은 고딕"/>
              </a:rPr>
              <a:t>의미: </a:t>
            </a:r>
            <a:r>
              <a:rPr sz="980" b="0" i="0">
                <a:solidFill>
                  <a:srgbClr val="282D37"/>
                </a:solidFill>
                <a:latin typeface="맑은 고딕"/>
                <a:ea typeface="맑은 고딕"/>
              </a:rPr>
              <a:t>명+주소+전화가 한 데이터셋에 묶여 공개 = 직접 재식별 가능 · 도메인 횡단 공통 식별자로 결합 위험 증폭 (연계 기회 ↔ 프라이버시 위험)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 b="1" i="0">
                <a:solidFill>
                  <a:srgbClr val="00965F"/>
                </a:solidFill>
                <a:latin typeface="맑은 고딕"/>
                <a:ea typeface="맑은 고딕"/>
              </a:rPr>
              <a:t>대책: </a:t>
            </a:r>
            <a:r>
              <a:rPr sz="980" b="0" i="0">
                <a:solidFill>
                  <a:srgbClr val="282D37"/>
                </a:solidFill>
                <a:latin typeface="맑은 고딕"/>
                <a:ea typeface="맑은 고딕"/>
              </a:rPr>
              <a:t>PII 마스킹·집계화 · 공개 전 재식별 영향평가 · 식별자 컬럼 자동 태깅 · combined_pair_map.linking_ratio로 결합가능성 정량화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  <p:sp>
        <p:nvSpPr>
          <p:cNvPr id="62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3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규칙#4 국소→전체 재계산 (도로명→지번)</a:t>
            </a:r>
          </a:p>
        </p:txBody>
      </p:sp>
      <p:sp>
        <p:nvSpPr>
          <p:cNvPr id="63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1.00 → 0.44</a:t>
            </a:r>
          </a:p>
        </p:txBody>
      </p:sp>
      <p:sp>
        <p:nvSpPr>
          <p:cNvPr id="63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메타 네이밍·상수컬럼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69217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lang="en-US"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구축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데이터모델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PII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식별자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태깅·마스킹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정책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I3(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linking_ratio로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실제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문자유사도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군집으로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I5(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심화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서브스페이스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클러스터링으로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정교화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support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낮음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(8~44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 →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운영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전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활용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품질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미충전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distinct_value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정렬편향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proj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손상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3405</Words>
  <Application>Microsoft Office PowerPoint</Application>
  <PresentationFormat>와이드스크린</PresentationFormat>
  <Paragraphs>640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강훈(Hoon Kang) 책임연구원 HD현대인프라코어</cp:lastModifiedBy>
  <cp:revision>153</cp:revision>
  <dcterms:created xsi:type="dcterms:W3CDTF">2013-01-27T09:14:16Z</dcterms:created>
  <dcterms:modified xsi:type="dcterms:W3CDTF">2026-06-07T23:49:13Z</dcterms:modified>
  <cp:category/>
</cp:coreProperties>
</file>