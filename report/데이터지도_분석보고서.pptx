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8100"/>
          </a:xfrm>
          <a:prstGeom prst="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11057839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공공데이터 ‘데이터 지도’
거버넌스·인텔리전스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2E1"/>
                </a:solidFill>
                <a:latin typeface="맑은 고딕"/>
                <a:ea typeface="맑은 고딕"/>
              </a:rPr>
              <a:t>999개 공공데이터셋(교육·보건·공공행정) 데이터 지도의 비지도 데이터마이닝 분석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965F"/>
                </a:solidFill>
                <a:latin typeface="맑은 고딕"/>
                <a:ea typeface="맑은 고딕"/>
              </a:rPr>
              <a:t>1D 클러스터링 · AOI 롤업 · FP-Growth 빈발패턴 · 연관규칙 · 국소→전체 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개요 및 목적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원본 트랜잭션이 아닌 ‘데이터 지도(메타데이터)’를 비지도 알고리즘으로 분석함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6126480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대상: 공공데이터포털 999개 데이터셋의 프로파일링 산출물(데이터 지도)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구성: 컬럼/테이블 프로파일 · 쌍별 값·도메인 중첩 · 유사도 클러스터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목표: 데이터 거버넌스 이슈와 메타 수준 비즈니스 인텔리전스 도출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형식: ‘주말&gt;기저귀&gt;맥주’형 연관규칙을 데이터셋·컬럼 수준에서 발굴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원칙: LLM 추론 배제, 모든 결론은 설명가능한 알고리즘 실행 결과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22008" y="1828800"/>
            <a:ext cx="4702759" cy="210312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922008" y="1828800"/>
            <a:ext cx="4702759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50024" y="1847088"/>
            <a:ext cx="4483303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분석 5원칙(과제 지침)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50024" y="2267712"/>
            <a:ext cx="4465015" cy="15910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① 비지도 알고리즘·설명가능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② 이산화·AOI·빈발패턴·연관규칙·서브스페이스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③ 데이터 롤업 적극 활용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④ 국소 규칙은 전체에서 검증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⑤ 보조 규칙은 proj 이미지 참조</a:t>
            </a:r>
          </a:p>
        </p:txBody>
      </p:sp>
      <p:pic>
        <p:nvPicPr>
          <p:cNvPr id="12" name="Picture 11" descr="fig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4160520"/>
            <a:ext cx="4428439" cy="31631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59168" y="5989320"/>
            <a:ext cx="470275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도메인(cate1) 분포 — scripts/09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대상 데이터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9개 파일 = 프로파일 + 쌍별 중첩 + 유사도 클러스터의 3계층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/>
                <a:gridCol w="5805365"/>
                <a:gridCol w="2211567"/>
              </a:tblGrid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파일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table_map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데이터셋 메타+분류+통계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999행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column_map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 프로파일(키품질·고유값 등)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9,840행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distinct_value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컬럼별 distinct 값+빈도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803만행/635MB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table/column_summary_map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객체별 중첩 통계 롤업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996/8,360행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combined_pair_map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조인가능성(linking_ratio)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74만행/300MB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table_pair_map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테이블쌍 유사도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25만행/296MB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column_pair_map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값·도메인 중첩·중복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524만행/3.4GB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*_value_tree / *_str_tree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값·이름 유사도 계층 클러스터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331~4,549행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89320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출처: data/ 폴더 CSV(UTF-8). 규모는 scripts/05 행수 집계 결과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방법론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이산화 → AOI 롤업 → 빈발패턴 → 연관규칙 → 국소·전체 검증의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66928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① 이산화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1D KMeans</a:t>
            </a:r>
          </a:p>
        </p:txBody>
      </p:sp>
      <p:sp>
        <p:nvSpPr>
          <p:cNvPr id="8" name="Pentagon 7"/>
          <p:cNvSpPr/>
          <p:nvPr/>
        </p:nvSpPr>
        <p:spPr>
          <a:xfrm>
            <a:off x="2796783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② AOI 롤업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개념계층</a:t>
            </a:r>
          </a:p>
        </p:txBody>
      </p:sp>
      <p:sp>
        <p:nvSpPr>
          <p:cNvPr id="9" name="Pentagon 8"/>
          <p:cNvSpPr/>
          <p:nvPr/>
        </p:nvSpPr>
        <p:spPr>
          <a:xfrm>
            <a:off x="5026639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③ 빈발패턴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FP-Growth</a:t>
            </a:r>
          </a:p>
        </p:txBody>
      </p:sp>
      <p:sp>
        <p:nvSpPr>
          <p:cNvPr id="10" name="Pentagon 9"/>
          <p:cNvSpPr/>
          <p:nvPr/>
        </p:nvSpPr>
        <p:spPr>
          <a:xfrm>
            <a:off x="7256495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④ 연관규칙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lift 등</a:t>
            </a:r>
          </a:p>
        </p:txBody>
      </p:sp>
      <p:sp>
        <p:nvSpPr>
          <p:cNvPr id="11" name="Pentagon 10"/>
          <p:cNvSpPr/>
          <p:nvPr/>
        </p:nvSpPr>
        <p:spPr>
          <a:xfrm>
            <a:off x="9486351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⑤ 검증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맑은 고딕"/>
                <a:ea typeface="맑은 고딕"/>
              </a:rPr>
              <a:t>규칙#4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063240"/>
          <a:ext cx="1105783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3"/>
                <a:gridCol w="3343067"/>
                <a:gridCol w="591465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알고리즘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이산화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log1p + 1D KMeans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rec_cnt·column_cnt·수치비 → 순서형 구간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AOI 롤업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정규식 개념계층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table_source→기관유형, col_nm→컬럼개념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빈발패턴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FP-Growth(max_len=3)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테이블=거래, 속성·컬럼=아이템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연관규칙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association_rules(lift)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support·confidence·lift·leverage·conviction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검증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도메인별→전체 재계산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국소 강규칙의 일반화 여부 판정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재현: scripts/06_i1_assoc_rules.py · 상세: analysis/I1_REPORT.md §0.1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① 적재·인코딩·형변환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모든 이슈가 공유하는 기반 전처리 — 인코딩 확정과 결정적 형변환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인코딩 확정: 바이트 검증으로 데이터는 UTF-8 정상 — 콘솔(CP949) 표시만 깨짐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결과물은 항상 UTF-8 파일로 출력해 한글 무결성 확보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적재: table_map(999) · column_map(9,840)을 dtype=str로 안전 적재 후 형변환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형변환: 수치 컬럼은 to_numeric(coerce) — 비수치/날짜는 NaN 처리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정합 기준: table_id 결측 행 제거, 컬럼-테이블 조인키 정합 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② 1D 이산화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멱법칙 수치를 log1p+KMeans로 설명가능한 순서형 구간으로 변환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846320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문제: rec_cnt가 1~833,466으로 극단적 멱법칙 → 그대로면 큰 값이 지배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절차: log1p 변환 → 1차원 KMeans(n_init=10) → 중심 정렬로 순서 라벨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설명가능: 각 구간을 원척도 [min~max]로 환원(우측 초록선=경계)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레코드수: 극소[1-22]·소[23-130]·중[133-829]·대[843-8019]·극대[8578~]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컬럼폭: 협소[1-5]·표준[6-11]·광폭[12-44]·초광폭[49-338]</a:t>
            </a:r>
          </a:p>
        </p:txBody>
      </p:sp>
      <p:pic>
        <p:nvPicPr>
          <p:cNvPr id="8" name="Picture 7" descr="fig_disc_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2103120"/>
            <a:ext cx="6492240" cy="30432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96128" y="5852160"/>
            <a:ext cx="649224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레코드수 분포와 KMeans 이산화 경계 — scripts/09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③ AOI 롤업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999개 자유 기관명과 컬럼명을 상위 개념으로 일반화하여 패턴 가시화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6035040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출처 일반화: table_source → 정규식 접미사 규칙으로 7개 기관유형</a:t>
            </a:r>
          </a:p>
          <a:p>
            <a:pPr algn="l" lvl="1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05050"/>
                </a:solidFill>
                <a:latin typeface="맑은 고딕"/>
                <a:ea typeface="맑은 고딕"/>
              </a:rPr>
              <a:t>– 예) …교육청·대학교→교육기관, …부·청·위원회→중앙행정, …시·군·구→기초지자체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컬럼명 정규화: 괄호·공백·숫자접두 제거(결정적) → 컬럼개념</a:t>
            </a:r>
          </a:p>
          <a:p>
            <a:pPr algn="l" lvl="1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>
                <a:solidFill>
                  <a:srgbClr val="505050"/>
                </a:solidFill>
                <a:latin typeface="맑은 고딕"/>
                <a:ea typeface="맑은 고딕"/>
              </a:rPr>
              <a:t>– 동의어 병합(연번≈순번)은 의도적 미적용 — BI 규칙 오염 방지(별도 G3)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효과: 빈발패턴이 통계적 의미를 갖도록 차원 축약</a:t>
            </a:r>
          </a:p>
        </p:txBody>
      </p:sp>
      <p:pic>
        <p:nvPicPr>
          <p:cNvPr id="8" name="Picture 7" descr="fig_ao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286000"/>
            <a:ext cx="4885639" cy="24428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39128" y="5852160"/>
            <a:ext cx="48856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table_source→기관유형 AOI 롤업 결과(초록=미상) — scripts/09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④ 트랜잭션·패턴·검증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테이블을 거래로 보고 두 종류 아이템으로 FP-Growth·연관규칙·검증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트랜잭션: 테이블 1건 = 1 거래(transaction)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아이템(A) 속성: cate·기관·레코드·컬럼폭·수치비·유일키·상수컬럼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아이템(B) 장바구니: 테이블이 보유한 컬럼개념 집합(평균 9.6개)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채굴: TransactionEncoder→FP-Growth→association_rules(lift)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검증: 도메인별 국소 채굴 후 전체 999건에서 지표 재계산(규칙#4)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결과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거버넌스 3대 이슈와 인텔리전스 4대 발견을 도출함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235297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거버넌스 G1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2334691" cy="3694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결손의 계통성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‘유아및초·중등교육’ 100건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100% placeholder('소스')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lift 6.89·conf 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5395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411" y="1847088"/>
            <a:ext cx="235297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거버넌스 G2·G3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411" y="2267712"/>
            <a:ext cx="2334691" cy="3694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죽은 메트릭 3종 전부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상수컬럼 1,372개(13.9%)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컬럼명 표준 부재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same_ratio 네이밍 오류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1879" y="1847088"/>
            <a:ext cx="235297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I-패턴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1879" y="2267712"/>
            <a:ext cx="2334691" cy="3694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패밀리=데이터셋 원형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경도→위도 lift 22.7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교과목코드↔분반 124.9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연령대→성별 35.2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1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331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347" y="1847088"/>
            <a:ext cx="235297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I-위험·검증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7" y="2267712"/>
            <a:ext cx="2334691" cy="3694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PII 묶음 lift 46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재식별 위험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규칙#4: 1.00→0.44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 후보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G1 출처 결손의 계통성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출처 누락은 무작위가 아니라 단일 분류에 100% 집중된 계통적 손실임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AOI로 table_source→기관유형, ‘소스’=미상 식별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cate2별 placeholder 비율 교차표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A1 비자명 연관규칙(lift&gt;1.2)에서 결합 포착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placeholder 145건 중 100건이 ‘유아및초·중등교육’(100%)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단일 수집 배치의 provenance 일괄 소실 가능성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유일키·상수컬럼·표준폭 동반(conf 0.79~0.84)=동형 템플릿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해당 배치 출처 복구 1순위 지정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파이프라인에 provenance 필수값 검증(누락 차단)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표준 스키마·코드체계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regi_date·url로 수집경로 역추적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table_str_tree로 동형 템플릿 군집 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타 분류 결손율 추세 모니터링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G2 죽은 메트릭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카탈로그 품질·활용 지표가 전부 미충전되어 분석축으로 쓸 수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수치 컬럼 분포 통계(%zero/%null)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1D 통계로 상수성·미충전 판별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의미 vs 실제 값 정의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null_ratio·table_qty_index·cum_search_num=9,840건 전부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품질·활용 지표 미계산 또는 미적재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same_ratio는 비율 아님(rec/distinct=평균중복도)→네이밍 오류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지표 산출 파이프라인 점검·재적재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의미 사전(메타 표준) 수립·명칭 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미충전 지표 폐기 또는 채움 정책 결정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distinct_value로 null_ratio 실제 재계산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검색로그 연동해 cum_search_num 복원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지표 정의-구현 정합성 감사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거버넌스 G3 컬럼 표준·품질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동일 개념의 상이한 이름과 상수·불일치 컬럼이 표준 부재를 드러냄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col_nm 빈도 집계(최빈 컬럼)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distinct_cnt·pk_ratio 1D 이산화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column_cnt vs (범주+수치) 정합성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데이터기준일자(169)/데이터기준일(46), 연번(168)/순번(79)/번호(34)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 컬럼(distinct=1) 1,372개(13.9%)=정보량 0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회계 불일치 테이블 56개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문자유사도 군집으로 표준어 사전 산출(G3)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상수·중복 컬럼 정리 가이드 배포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스키마 검증 룰(컬럼수 정합)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편집거리·자모 기반 컬럼명 클러스터링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table_str_tree 활용한 명칭군 검증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표준어 매핑의 도메인 영향 평가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동일 컬럼묶음의 반복 출현이 데이터셋 원형과 통합 후보를 드러냄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컬럼개념 장바구니 구성(테이블별 보유개념)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FP-Growth 최대빈발 항목집합(≥8테이블·≥3개)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패밀리별 지배 도메인·대표 출처 집계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사학재정군·의료기관군·POI군·국가시험군 등 원형 식별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동일 기관이 동일 템플릿 다건 공개(예: 국가시험원 9건)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POI군(경도·위도·주소·전화)은 3개 도메인 횡단 범용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POI·의료기관·업소 표준 데이터모델 정의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동일기관 다건의 통합 카탈로깅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 단위 스키마 표준화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table_pair_map 유사도로 near-duplicate 확정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combined_pair_map으로 조인키 검증(I3)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패밀리 커버리지·결측 분석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흥미로운 연관규칙 — 상세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‘주말&gt;기저귀&gt;맥주’ 대응 — 이슈 패턴 10건의 전체 지표(N=999)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344"/>
                <a:gridCol w="3829554"/>
                <a:gridCol w="909519"/>
                <a:gridCol w="1005258"/>
                <a:gridCol w="861649"/>
                <a:gridCol w="861649"/>
                <a:gridCol w="1100996"/>
                <a:gridCol w="1148866"/>
              </a:tblGrid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conviction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지리좌표쌍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경도→위도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기간쌍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교육시작일→교육종료일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행정구역계층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시도명→시군구명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주소이중표기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지번주소→도로명주소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소재지주소(공공행정)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소재지지번주소→소재지도로명주소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36.6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인구통계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연령대→성별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35.2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의료기관PII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의료기관전화번호→의료기관명+의료기관주소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46.4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8.3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교과목코드→분반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124.9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357447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학종→학교명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5745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사학재정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연구비→일반기부금+지정기부금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111.0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43600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support=동시출현비율 · conf=P(후행│선행) · lift=우연대비배수 · leverage=관측−독립 · conviction=함의강도(∞=예외0) · scripts/09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연관규칙 시각화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이슈 규칙의 lift 크기와 전체 규칙군 내 위치(support–lift)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15</a:t>
            </a:r>
          </a:p>
        </p:txBody>
      </p:sp>
      <p:pic>
        <p:nvPicPr>
          <p:cNvPr id="7" name="Picture 6" descr="fig_rules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5943600" cy="3241964"/>
          </a:xfrm>
          <a:prstGeom prst="rect">
            <a:avLst/>
          </a:prstGeom>
        </p:spPr>
      </p:pic>
      <p:pic>
        <p:nvPicPr>
          <p:cNvPr id="8" name="Picture 7" descr="fig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148840"/>
            <a:ext cx="5029200" cy="2980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89320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좌: 이슈 규칙 lift / 우: 전체 컬럼규칙의 support–lift 산점(초록=이슈) — scripts/09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인텔리전스·거버넌스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인텔리전스·거버넌스 교차도메인 재식별 위험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명·주소·전화번호가 항상 묶여 공개되어 단일·결합 재식별 위험을 형성함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패밀리+연관규칙(전화→{명,주소} lift 46) 추출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공통 컬럼 집계(전화 140·주소 85·위경도 44)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후보 컬럼 태깅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명+주소+전화 묶음=데이터셋 내 직접 재식별 가능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공통 식별자로 결합 위험 증폭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양면성: 데이터 연계 기회 ↔ 프라이버시 위험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표준 거버넌스(마스킹·집계화) 적용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결합 위험 데이터셋 공개 전 영향평가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식별자 컬럼 자동 탐지·태깅 체계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combined_pair_map linking_ratio로 결합가능성 정량화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k-익명성·재식별 위험도 평가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식별자 전수 인벤토리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규칙#4 국소→전체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국소에서 강했던 규칙이 전체에서 약화·비대칭됨을 실증함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17</a:t>
            </a:r>
          </a:p>
        </p:txBody>
      </p:sp>
      <p:pic>
        <p:nvPicPr>
          <p:cNvPr id="7" name="Picture 6" descr="fig_r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48840"/>
            <a:ext cx="5486400" cy="325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97880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국소(공공행정) vs 전체(999) confidence — scripts/09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828800"/>
            <a:ext cx="5251399" cy="21488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828800"/>
            <a:ext cx="5251399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1847088"/>
            <a:ext cx="5031943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의미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267712"/>
            <a:ext cx="5013655" cy="1636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소재지도로명→지번: 공공행정 1.00 → 전체 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보건은 지번주소 단독 보유 多 → 방향 붕괴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역방향(지번→도로명)은 0.92로 유지=비대칭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 일부는 데이터 명세서(사전) 파일=오분류 후보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4160520"/>
            <a:ext cx="5251399" cy="1828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3368" y="4160520"/>
            <a:ext cx="5251399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4178808"/>
            <a:ext cx="5031943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대책·추가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4599432"/>
            <a:ext cx="5013655" cy="13167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규칙 일반화 전 전체검증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오분류(명세서 vs 실데이터) 재분류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방향성 규칙은 양방향 모두 표기·점검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명세서 의심 테이블 별도 군집·식별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A 추가 컬럼 연관규칙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주요 이슈에 포함되지 않은 추가 동시출현 패턴(lift順·대칭/동일집합 제거)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9369"/>
                <a:gridCol w="1023873"/>
                <a:gridCol w="1075067"/>
                <a:gridCol w="921486"/>
                <a:gridCol w="921486"/>
                <a:gridCol w="1126261"/>
                <a:gridCol w="870292"/>
              </a:tblGrid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{종료일}→{시작일}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{학종}→{학급}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{사업장소재지}→{사업장전화번호}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{교육종료일}→{교육장소}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60.5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{관리기관전화번호}→{관리기관명, 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57.1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{출판사}→{저자}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47.0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{서명}→{출판사}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{확진자수}→{사망자수}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{시도}→{시군구}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0.42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27.8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{의료기관명}→{의료기관종별}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0.26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{학교명}→{학급}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{우편번호}→{팩스번호}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27127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{설립구분}→{학교명}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17.3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신규 주제: 기간쌍·도서관(출판사·저자·서명)·감염병통계(확진자→사망자)·학교설립·사업장 — scripts/09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B 속성 규칙·스키마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테이블 속성 비자명 규칙과 최대빈발 컬럼군(추가)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64007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997"/>
                <a:gridCol w="811369"/>
                <a:gridCol w="721216"/>
                <a:gridCol w="721216"/>
              </a:tblGrid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 속성 규칙(비자명, conf≥0.6)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상수컬럼=없음, 유일키=있음}→{cate1=보건, 컬럼폭=협소}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레코드=극소}→{cate2=일반행정, 상수컬럼=있음, 유일키=있음}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0.054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컬럼폭=협소}→{cate2=일반행정,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{cate1=보건, 컬럼폭=협소}→{cate2=보건의료,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유일키=있음,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컬럼폭=협소}→{cate1=공공행정,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컬럼폭=표준}→{cate1=공공행정,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0.093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669280"/>
            <a:ext cx="6400800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속성 연관규칙 — scripts/09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96328" y="1828800"/>
          <a:ext cx="442843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8485"/>
                <a:gridCol w="516651"/>
                <a:gridCol w="103330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스키마 패밀리(컬럼군)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#tbl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도메인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{순번,의료기관명,의료기관전화,의료기관주소}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{경도,위도,도로명주소,전화번호}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보건/교육/행정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{연도,직종,회차}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{소재지전화,업소명,업종명}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{데이터기준일자,시군구명,시도명}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{우편번호,전화번호,주소}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{관리기관명,관리기관전화,데이터기준일자}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공공행정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96328" y="5669280"/>
            <a:ext cx="44284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FP-Growth 최대빈발 항목집합(≥8테이블) — analysis/I1_synthesis.md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종합 시사점 및 거버넌스 대책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965F"/>
                </a:solidFill>
                <a:latin typeface="맑은 고딕"/>
                <a:ea typeface="맑은 고딕"/>
              </a:rPr>
              <a:t>발견을 즉시·단기·중기 조치로 우선순위화함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28361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즉시(거버넌스)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3265322" cy="36027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 배치 provenance 복구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시 필수 메타 검증 도입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죽은 메트릭·네이밍 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4314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4314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2330" y="1847088"/>
            <a:ext cx="328361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단기(표준화)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330" y="2267712"/>
            <a:ext cx="3265322" cy="36027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컬럼 표준어 사전(G3) 구축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POI·의료기관 표준 데이터모델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식별자 태깅·마스킹 정책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1700" y="1828800"/>
            <a:ext cx="3503066" cy="4114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1700" y="1828800"/>
            <a:ext cx="3503066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9716" y="1847088"/>
            <a:ext cx="328361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중기(인텔리전스)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9716" y="2267712"/>
            <a:ext cx="3265322" cy="36027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조인키 검증으로 데이터 연계(I3)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서브스페이스 클러스터링(I5)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near-duplicate 통합 카탈로깅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다음 단계 분석 및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505050"/>
                </a:solidFill>
                <a:latin typeface="맑은 고딕"/>
                <a:ea typeface="맑은 고딕"/>
              </a:rPr>
              <a:t>심화 분석 경로와 현재 분석의 명시적 한계를 제시함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4526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I3(연계): POI·의료기관 패밀리를 linking_ratio로 실제 조인키 검증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G3(거버넌스): 문자유사도 군집으로 표준어 사전 산출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I5(심화): 컬럼 프로파일 서브스페이스 클러스터링으로 원형 정교화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한계: 장바구니 규칙 support 낮음(8~44 테이블) → 운영 전 도메인 확인 필요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282D37"/>
                </a:solidFill>
                <a:latin typeface="맑은 고딕"/>
                <a:ea typeface="맑은 고딕"/>
              </a:rPr>
              <a:t>• 한계: 활용/품질 지표 미충전, distinct_value 정렬편향, proj 이미지 손상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