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" cy="32918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데이터가 스스로 제어하는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지능형 거버넌스 시스템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BBDEFB"/>
                </a:solidFill>
              </a:rPr>
              <a:t>스마트시티 공공데이터 기반  ·  함수적 종속관계 · 자카드 유사도 · FP-growth · 참조 무결성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6499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90CAF9"/>
                </a:solidFill>
              </a:rPr>
              <a:t>Hard Rule  →  Soft Rule  →  Adaptive Quality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75887"/>
            <a:ext cx="5486400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CAF9"/>
                </a:solidFill>
              </a:rPr>
              <a:t>연세대학교 데이터베이스 연구실  |  데이터 인텔리전스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 연구 배경 및 목적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BI(현상 묘사)에서 BR(자동화 통제 규칙)로의 전환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24688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기존 접근의 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• 데이터 현황을 시각화(BI)하는 수준에 머물러 있음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798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• 수치 묘사 중심 — 실제 통제 규칙 부재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786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• 스마트시티 데이터 간 연계 표준 없음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992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• 데이터 품질 기준이 수동·주관적으로 관리됨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1985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• 이종 데이터 결합 시 도메인 불일치 무방비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234440"/>
            <a:ext cx="5943600" cy="24688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1234440"/>
            <a:ext cx="594360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연구 목표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173736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• 공공데이터 실측값 기반 BR 자동 도출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15798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• 4가지 방법론 통합 적용 (FD·Jaccard·FP·RI)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57860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• 스마트시티 5대 영역 데이터 거버넌스 규칙화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99923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• confidence / FD신뢰도로 규칙 품질 정량화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41985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• 데이터 선별 → 품질검증 → 운영규칙 3단계 BR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86200"/>
            <a:ext cx="5029200" cy="65836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593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BI  (Business Intelligence)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879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16161"/>
                </a:solidFill>
              </a:rPr>
              <a:t>데이터가 이런 상태다  →  묘사·시각화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822191"/>
            <a:ext cx="658368" cy="8046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05272" y="3931920"/>
            <a:ext cx="621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886200"/>
            <a:ext cx="5394960" cy="65836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9593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BR  (Business Rules)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1879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DEFB"/>
                </a:solidFill>
              </a:rPr>
              <a:t>데이터는 반드시 이 규칙을 따라야 한다  →  자동 통제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709160"/>
            <a:ext cx="11612880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709160"/>
            <a:ext cx="73152" cy="5943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791456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핵심 질문   스마트시티 운영을 위해 공공데이터는 어떤 조건을 만족해야 하는가? 그 규칙을 데이터 스스로 말하게 할 수 있는가?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 데이터 수집 및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공공데이터포털 목록 CSV (95,903건) + 기존 DataIntelligenceProject + 신규 11개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3749039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2618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① 공공데이터 목록 (카탈로그)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618488"/>
            <a:ext cx="3749039" cy="3200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1752" y="1719072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7739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총 데이터셋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7739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95,903건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" y="2121408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2176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1762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83,547건 (87.1%)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" y="2523744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25786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5786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12,056건 (12.6%)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" y="2926079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29809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대분류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9809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16개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" y="3328415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338327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무료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3832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99.6%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" y="3730752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378561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역할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78561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메타데이터 — 원본 아님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1234440"/>
            <a:ext cx="3749039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248" y="12618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② 기존 DataIntelligenceProject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1618488"/>
            <a:ext cx="3749039" cy="3200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33672" y="1719072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0248" y="17739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table_map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17739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999개 테이블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33672" y="2121408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0248" y="2176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column_map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21762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9,840개 컬럼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33672" y="2523744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70248" y="25786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column_pair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25786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296MB 유사도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33672" y="2926079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70248" y="29809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스마트시티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29809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636개 필터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33672" y="3328415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70248" y="338327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분석 레코드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33832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약 9,840건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33672" y="3730752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0248" y="378561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역할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0" y="378561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컬럼 수준 구조 분석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92440" y="1234440"/>
            <a:ext cx="3749039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02167" y="12618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③ 신규 수집 데이터 (11개)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92440" y="1618488"/>
            <a:ext cx="3749039" cy="3200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65592" y="1719072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02167" y="17739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서울 미세먼지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17739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227,760건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65592" y="2121408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02167" y="2176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대구 대기질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21762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659,348건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65592" y="2523744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02167" y="25786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충북 사고다발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40" y="25786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8,381건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65592" y="2926079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02167" y="29809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도로공사 CCTV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92640" y="29809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2,999개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65592" y="3328415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02167" y="338327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인천 IoT 센서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92640" y="33832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~22GB (샘플)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65592" y="3730752"/>
            <a:ext cx="1463040" cy="329184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02167" y="378561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기타 6개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92640" y="378561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소규모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" y="4956048"/>
            <a:ext cx="11750040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28600" y="5102352"/>
            <a:ext cx="3749039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8600" y="5193792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약 100만 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" y="58338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EFB"/>
                </a:solidFill>
              </a:rPr>
              <a:t>실측 레코드 합계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60520" y="5102352"/>
            <a:ext cx="3749039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60520" y="5193792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95,903건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60520" y="58338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EFB"/>
                </a:solidFill>
              </a:rPr>
              <a:t>메타데이터 분석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92440" y="5102352"/>
            <a:ext cx="3749039" cy="11887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92440" y="5193792"/>
            <a:ext cx="374903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636 + 11개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92440" y="58338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EFB"/>
                </a:solidFill>
              </a:rPr>
              <a:t>분석 데이터셋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  데이터 선별 과정 자체가 BR이다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BR-SEL : 어떤 데이터를 수집할 것인가를 기계가 스스로 결정하는 규칙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5029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BR-SEL 정의 (선별 거버넌스 규칙)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1188720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103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BR-SEL-01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1737360"/>
            <a:ext cx="40233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179222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5대 서비스 영역 매핑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066543"/>
            <a:ext cx="374903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12121"/>
                </a:solidFill>
              </a:rPr>
              <a:t>IF   [키워드 ∈ {교통·환경·안전·보건·인프라}]
OR   [대분류 ∈ 5대 영역]
THEN [스마트시티 관련 = Y]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035808"/>
            <a:ext cx="1188720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340156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BR-SEL-02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3035808"/>
            <a:ext cx="40233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09067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Static / Dynamic 자동 분류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364991"/>
            <a:ext cx="374903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12121"/>
                </a:solidFill>
              </a:rPr>
              <a:t>IF   [업데이트주기 ∈ {수시,일간}]
THEN [tempo = Dynamic]
ELSE [tempo = Static]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334256"/>
            <a:ext cx="1188720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470001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BR-SEL-03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4334256"/>
            <a:ext cx="40233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438912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A안 상위 300건 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663440"/>
            <a:ext cx="374903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12121"/>
                </a:solidFill>
              </a:rPr>
              <a:t>IF   [sc_score + 주기점수 + API점수 + 활용도]
     ∈ 전체 상위 300위 이내
THEN [다운로드 대상 = Y]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234440"/>
            <a:ext cx="5943600" cy="5029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1234440"/>
            <a:ext cx="594360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선별 흐름 및 결과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1737360"/>
            <a:ext cx="58521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181051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전체 목록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181051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E7D32"/>
                </a:solidFill>
              </a:rPr>
              <a:t>95,903건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21945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</a:rPr>
              <a:t>공공데이터포털 목록 CSV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2267712"/>
            <a:ext cx="5852160" cy="2926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2304288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  5대 서비스 영역 필터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2578608"/>
            <a:ext cx="585216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265176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스마트시티 관련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26517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E7D32"/>
                </a:solidFill>
              </a:rPr>
              <a:t>87,053건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30358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</a:rPr>
              <a:t>전체의 90.8%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3108960"/>
            <a:ext cx="5852160" cy="2926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3145536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  Static / Dynamic 분류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3419856"/>
            <a:ext cx="585216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60" y="349300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Static 분류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34930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E7D32"/>
                </a:solidFill>
              </a:rPr>
              <a:t>570개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387705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</a:rPr>
              <a:t>기반시설 · 위치정보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3950208"/>
            <a:ext cx="5852160" cy="4754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402336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Dynamic 분류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40233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22개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440740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</a:rPr>
              <a:t>실시간 · 센서 · 교통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4480560"/>
            <a:ext cx="5852160" cy="29260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4517136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  상위 300건 컷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4791456"/>
            <a:ext cx="5852160" cy="47548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80760" y="486460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최종 수집 대상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48646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300건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0760" y="524865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16161"/>
                </a:solidFill>
              </a:rPr>
              <a:t>A안 선별 완료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  분석 방법론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데이터플랫폼 품질관리 PDF + 빅데이터 분석방법 PDF 통합 적용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74320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893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방법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81912"/>
            <a:ext cx="274320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47A1"/>
                </a:solidFill>
              </a:rPr>
              <a:t>함수적 종속관계 (FD)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8483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</a:rPr>
              <a:t>품질관리 PDF p.9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31720"/>
            <a:ext cx="2743200" cy="164592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423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A → B: A값 결정 시 B값 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8072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FD신뢰도 = 완전종속 비율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1912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1.0 → BR 직접 도출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234440"/>
            <a:ext cx="274320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2893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방법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581912"/>
            <a:ext cx="274320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16002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47A1"/>
                </a:solidFill>
              </a:rPr>
              <a:t>자카드 유사도 (Jaccard)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08483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</a:rPr>
              <a:t>품질관리 PDF p.39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331720"/>
            <a:ext cx="2743200" cy="164592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79" y="2423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|X∩Y|/|X∪Y| 값 집합 중첩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8072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수치: 범위 중첩률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79" y="31912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공간: 위도 범위 Jaccard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234440"/>
            <a:ext cx="274320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2893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방법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581912"/>
            <a:ext cx="274320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16002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47A1"/>
                </a:solidFill>
              </a:rPr>
              <a:t>이산화+엔트로피+FP-growth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208483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</a:rPr>
              <a:t>빅데이터분석 KDD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331720"/>
            <a:ext cx="2743200" cy="164592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2423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수치 → L0~L4 이산화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8072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Entropy 변수 선택(AOI)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1912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conf≥0.95 → BR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20" y="1234440"/>
            <a:ext cx="274320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12893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방법 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9720" y="1581912"/>
            <a:ext cx="2743200" cy="47548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16002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47A1"/>
                </a:solidFill>
              </a:rPr>
              <a:t>연계 참조 무결성 (RI)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208483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16161"/>
                </a:solidFill>
              </a:rPr>
              <a:t>품질관리 PDF p.34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2331720"/>
            <a:ext cx="2743200" cy="164592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24231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NULL율 측정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28072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도메인 유효성 진단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31912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연계 오류율 기준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133087"/>
            <a:ext cx="11612880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4279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47A1"/>
                </a:solidFill>
              </a:rPr>
              <a:t>BR 도출 파이프라인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590288"/>
            <a:ext cx="1874519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4645151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선별 BR (BR-SEL)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40279" y="4590288"/>
            <a:ext cx="1874519" cy="38404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40279" y="4645151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FD 분석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4590288"/>
            <a:ext cx="1874519" cy="38404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06240" y="4645151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Jaccard 유사도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199" y="4590288"/>
            <a:ext cx="1874519" cy="38404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72199" y="4645151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이산화+FP-growth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8160" y="4590288"/>
            <a:ext cx="1874519" cy="38404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38160" y="4645151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참조 무결성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104120" y="4590288"/>
            <a:ext cx="1874519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04120" y="4645151"/>
            <a:ext cx="18745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최종 BR 도출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138928"/>
            <a:ext cx="11612880" cy="1417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52303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47A1"/>
                </a:solidFill>
              </a:rPr>
              <a:t>분석 데이터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5577840"/>
            <a:ext cx="283464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56144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메타데이터 CSV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94560" y="56144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BBDEFB"/>
                </a:solidFill>
              </a:rPr>
              <a:t>95,903건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17520" y="565099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2A5F5"/>
                </a:solidFill>
              </a:rPr>
              <a:t>→ 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46120" y="5577840"/>
            <a:ext cx="283464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37560" y="56144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기존 DataIntelligence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6360" y="56144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BBDEFB"/>
                </a:solidFill>
              </a:rPr>
              <a:t>636개 테이블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89320" y="565099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2A5F5"/>
                </a:solidFill>
              </a:rPr>
              <a:t>→ 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5577840"/>
            <a:ext cx="283464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59" y="56144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신규 수집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38160" y="56144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BBDEFB"/>
                </a:solidFill>
              </a:rPr>
              <a:t>11개 파일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61120" y="565099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2A5F5"/>
                </a:solidFill>
              </a:rPr>
              <a:t>→ 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89720" y="5577840"/>
            <a:ext cx="283464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81160" y="56144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실측 레코드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09960" y="56144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BBDEFB"/>
                </a:solidFill>
              </a:rPr>
              <a:t>~100만 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932920" y="5650992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2A5F5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04-1  BR 도출 로직 ①  함수적 종속관계 (FD)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품질관리 PDF p.9  "연계 함수적 종속관계 탐지 및 연계 업무 규칙 탐사"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5029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공식 및 계산 로직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373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① 정의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11679"/>
            <a:ext cx="5212080" cy="5669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5740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A → B  :  A값이 결정되면 B값도 반드시 결정됨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3957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② 신뢰도 계산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70048"/>
            <a:ext cx="5212080" cy="5669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1576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FD신뢰도 = (A별 B 고유값수 == 1) 비율
= df.groupby(A)[B].nunique().eq(1).mean()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2186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③ BR 판정 기준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93008"/>
            <a:ext cx="5212080" cy="5669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3872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신뢰도 ≥ 0.95  →  BR 선언
신뢰도 0.75~0.95 → 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8587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④ 해석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33087"/>
            <a:ext cx="5212080" cy="566928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7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신뢰도 1.0 = 예외 없는 완전 종속
→ '반드시 지켜야 하는 규칙'으로 선언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234440"/>
            <a:ext cx="5943600" cy="5029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1234440"/>
            <a:ext cx="594360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사고 종류 × 대상 크로스탭 (8,381건 전수)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719072"/>
            <a:ext cx="5852160" cy="31089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7465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사고 종류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17465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대상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17465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건수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17465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BR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2066543"/>
            <a:ext cx="5852160" cy="33832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89320" y="2066543"/>
            <a:ext cx="73152" cy="3383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08192" y="2130551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CHILD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130551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</a:rPr>
              <a:t>어린이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2130551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1,037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130551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BR-FD-02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2414015"/>
            <a:ext cx="5852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89320" y="2414015"/>
            <a:ext cx="73152" cy="33832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08192" y="2478023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SCHOOLZONE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478023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</a:rPr>
              <a:t>어린이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2478023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394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2478023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BR-FD-02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89320" y="2761487"/>
            <a:ext cx="5852160" cy="33832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89320" y="2761487"/>
            <a:ext cx="73152" cy="3383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08192" y="2825495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OLDMAN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825495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7D32"/>
                </a:solidFill>
              </a:rPr>
              <a:t>노약자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2825495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1,573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2825495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BR-FD-02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3108959"/>
            <a:ext cx="5852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89320" y="3108959"/>
            <a:ext cx="73152" cy="3383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08192" y="3172967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BICYCLE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172967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16161"/>
                </a:solidFill>
              </a:rPr>
              <a:t>기타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3172967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1,545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3172967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7C00"/>
                </a:solidFill>
              </a:rPr>
              <a:t>⚠️BR-FD-04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89320" y="3456431"/>
            <a:ext cx="5852160" cy="33832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89320" y="3456431"/>
            <a:ext cx="73152" cy="3383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08192" y="3520439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VIOLT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3520439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16161"/>
                </a:solidFill>
              </a:rPr>
              <a:t>기타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3520439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1,936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3520439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7C00"/>
                </a:solidFill>
              </a:rPr>
              <a:t>⚠️BR-FD-04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89320" y="3803903"/>
            <a:ext cx="5852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89320" y="3803903"/>
            <a:ext cx="73152" cy="3383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08192" y="3867911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LG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3867911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16161"/>
                </a:solidFill>
              </a:rPr>
              <a:t>기타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32520" y="3867911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1,164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92640" y="3867911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7C00"/>
                </a:solidFill>
              </a:rPr>
              <a:t>⚠️BR-FD-04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89320" y="4151375"/>
            <a:ext cx="5852160" cy="33832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989320" y="4151375"/>
            <a:ext cx="73152" cy="3383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08192" y="4215383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JAYWALKING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35240" y="4215383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16161"/>
                </a:solidFill>
              </a:rPr>
              <a:t>기타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32520" y="4215383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669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92640" y="4215383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7C00"/>
                </a:solidFill>
              </a:rPr>
              <a:t>⚠️BR-FD-04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89320" y="4498847"/>
            <a:ext cx="585216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989320" y="4498847"/>
            <a:ext cx="73152" cy="3383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08192" y="4562855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FREEZING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35240" y="4562855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16161"/>
                </a:solidFill>
              </a:rPr>
              <a:t>기타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32520" y="4562855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63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92640" y="4562855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7C00"/>
                </a:solidFill>
              </a:rPr>
              <a:t>⚠️BR-FD-04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89320" y="4791456"/>
            <a:ext cx="5852160" cy="4572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989320" y="4791456"/>
            <a:ext cx="73152" cy="457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26480" y="48463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6개 사고 유형이 '기타' 하나로 통합 → 분류 체계 공백 발견
→ BR-FD-02 유지 + BR-FD-04 신규 추가 (기타 세분화 과제)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04-2  BR 도출 로직 ②  자카드 유사도 (Jaccard Similarity)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품질관리 PDF p.39  "범주형/수치형 컬럼 쌍 유사도 진단"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2286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80160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① 값 집합 Jaccard — 수치 범위 유사도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09928"/>
            <a:ext cx="5303520" cy="7772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755648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Jaccard(X,Y) = |X∩Y| / |X∪Y|
수치형: 범위(min~max) 중첩 비율
기준: Jaccard ≥ 0.7 → 연계 허용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044952"/>
            <a:ext cx="5303520" cy="3657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308152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C00"/>
                </a:solidFill>
              </a:rPr>
              <a:t>서울PM10↔대구PM10: 0.409 &lt; 0.7
→ BR-JAC-01: 표준화 의무화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57600"/>
            <a:ext cx="5394960" cy="245059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657600"/>
            <a:ext cx="539496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703320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② 공간 Jaccard — 위도 범위 중첩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133087"/>
            <a:ext cx="5303520" cy="7772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178808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공간 Jaccard = 범위 중첩 / 전체 범위
= max(0, min(max1,max2)-max(min1,min2))
  / (max(max1,max2)-min(min1,min2))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632704"/>
            <a:ext cx="5303520" cy="3657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5669279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C00"/>
                </a:solidFill>
              </a:rPr>
              <a:t>충주CCTV↔충북사고지역: 0.134
→ BR-JAC-02: CCTV 재배치 긴급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234440"/>
            <a:ext cx="5943600" cy="5029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0" y="1234440"/>
            <a:ext cx="594360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공간 분석 흐름 — Haversine 거리 계산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1737360"/>
            <a:ext cx="987552" cy="9875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07608" y="1874519"/>
            <a:ext cx="9326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1
입력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22592" y="1737360"/>
            <a:ext cx="48006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2" y="1874519"/>
            <a:ext cx="4617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충주 CCTV 55개 위도/경도
충북 사고다발 8,381건 위도/경도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743200"/>
            <a:ext cx="91440" cy="2286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2834639"/>
            <a:ext cx="987552" cy="9875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07608" y="2971800"/>
            <a:ext cx="9326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2
Haversine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22592" y="2834639"/>
            <a:ext cx="48006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14032" y="2971800"/>
            <a:ext cx="4617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8,381 × 55 = 460,955회 계산
numpy 벡터화 연산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840480"/>
            <a:ext cx="91440" cy="2286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9320" y="3931920"/>
            <a:ext cx="987552" cy="9875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07608" y="4069079"/>
            <a:ext cx="9326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3
최소거리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22592" y="3931920"/>
            <a:ext cx="48006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14032" y="4069079"/>
            <a:ext cx="4617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각 사고지점 → 최소 CCTV 거리
평균: 38,457m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937760"/>
            <a:ext cx="91440" cy="22860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89320" y="5029200"/>
            <a:ext cx="987552" cy="9875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07608" y="5166359"/>
            <a:ext cx="93268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4
BR 판정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22592" y="5029200"/>
            <a:ext cx="480060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14032" y="5166359"/>
            <a:ext cx="4617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2km 초과: 87.1% → CCTV 공백
Jaccard 0.134 → BR-JAC-02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04-3  BR 도출 로직 ③  이산화(L0~L4) + 엔트로피 + FP-growth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빅데이터분석방법 PDF — KDD Process STEP3 AOI + STEP4 FP-tree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49039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1 이산화(Discretization)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3749039" cy="1920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828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pd.qcut(PM10, q=5)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2128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labels=[L0,L1,L2,L3,L4]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5968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수치 → 5단계 범주형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9809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L3/L4 = 나쁨 이상(&gt;41μg)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234440"/>
            <a:ext cx="3749039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128016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2 엔트로피(AOI)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737360"/>
            <a:ext cx="3749039" cy="1920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828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H = -Σ p·log₂p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2128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구분 E=4.70 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5968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PM10_L E=2.46 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9809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요일 E=0.86 ⚠️ 보조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234440"/>
            <a:ext cx="3749039" cy="5029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28016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3 FP-growth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737360"/>
            <a:ext cx="3749039" cy="19202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828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min_support=0.05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2128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TransactionEncoder 변환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5968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conf≥0.95 → BR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9809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conf 0.75~0.95 → BI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822191"/>
            <a:ext cx="5394960" cy="2743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822191"/>
            <a:ext cx="53949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84962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트랜잭션 변환 예시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297680"/>
            <a:ext cx="5212080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343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원본: PM10=87 / 구분=강남구 / 시간=09:00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72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47A1"/>
                </a:solidFill>
              </a:rPr>
              <a:t>→  [구=강남구, PM10=L4, PM25=L3, 시간대=오전, 요일=평일]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892040"/>
            <a:ext cx="5303520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919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분류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919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IF (antecedent)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4919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THEN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4919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491947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supp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230368"/>
            <a:ext cx="53035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28523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</a:rPr>
              <a:t>BR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28523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PM10=L1 AND 요일=평일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528523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PM25=L1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0" y="528523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0.98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528523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0.34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577840"/>
            <a:ext cx="5303520" cy="329184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563270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</a:rPr>
              <a:t>BI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63270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시간대=오전 AND 구=강남구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51760" y="563270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PM10=L2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360" y="563270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0.87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563270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0.12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3822191"/>
            <a:ext cx="5943600" cy="2743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943600" y="3822191"/>
            <a:ext cx="594360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0760" y="384962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BR-FP-01 도출 과정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0760" y="431596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1. PM10 이산화: qcut(q=5) → L0~L4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80760" y="4599431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   L3(상) = 41~80μg  |  L4 = &gt;80μg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488289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2. 엔트로피: PM10_L = 2.455 ✅ 선택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80760" y="516635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3. FP-growth: L3∪L4 support = 3.8%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80760" y="5449824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   서울 227,760건 실측 기반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80760" y="573328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4. BR 선언: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80760" y="601675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47A1"/>
                </a:solidFill>
              </a:rPr>
              <a:t>   IF [PM10_L ∈ {L3, L4}]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80760" y="63002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47A1"/>
                </a:solidFill>
              </a:rPr>
              <a:t>   THEN [취약계층 알림 MUST]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80760" y="658367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47A1"/>
                </a:solidFill>
              </a:rPr>
              <a:t>   AND  [지연 ≤ 1시간]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04-4  BR 도출 로직 ④  연계 참조 무결성 (Referential Integrity)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품질관리 PDF p.34  "연계 테이블 품질지표 설정 및 진단"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2697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품질 지표 공식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3736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연계 참조 오류율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93391"/>
            <a:ext cx="5212080" cy="25603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20824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= FK 연계 PK 오류건수 / FK 전체건수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16161"/>
                </a:solidFill>
              </a:rPr>
              <a:t>→ 기준: 0% 이하  낮을수록 우수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46888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NULL율 (완전성)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24912"/>
            <a:ext cx="5212080" cy="25603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52344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= NULL값 건수 / 전체 레코드 건수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17520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16161"/>
                </a:solidFill>
              </a:rPr>
              <a:t>→ 기준: 5% 이하  위치데이터 0% 필수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20040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도메인 유효성 (Validity)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56432"/>
            <a:ext cx="5212080" cy="25603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83864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47A1"/>
                </a:solidFill>
              </a:rPr>
              <a:t>= 정상범위 이탈값 건수 / 전체 건수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49039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16161"/>
                </a:solidFill>
              </a:rPr>
              <a:t>→ PM10 &gt; 500 = 이상값 → 재측정 트리거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069080"/>
            <a:ext cx="5394960" cy="21031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069080"/>
            <a:ext cx="53949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0965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실측 결과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526280"/>
            <a:ext cx="5303520" cy="3474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58114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은평구 쉼터 위도/경도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58114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NULL율 = 0.0%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910328"/>
            <a:ext cx="5303520" cy="3474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96519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충주 CCTV 위도/경도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96519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NULL율 = 0.0%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294376"/>
            <a:ext cx="5303520" cy="3474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34924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충북 사고지역 위도/경도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34924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NULL율 = 0.0%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678424"/>
            <a:ext cx="5303520" cy="3474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73328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대구 대기질 미세먼지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573328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NULL율 = 2.2%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1234440"/>
            <a:ext cx="5943600" cy="5029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0" y="1234440"/>
            <a:ext cx="594360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BR-RI-01 / BR-RI-02 도출 흐름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1737360"/>
            <a:ext cx="987552" cy="5486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07608" y="1874519"/>
            <a:ext cx="932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측정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22592" y="1737360"/>
            <a:ext cx="4800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14032" y="1792224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각 위치컬럼(위도/경도) NULL건수 집계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2331720"/>
            <a:ext cx="987552" cy="5486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07608" y="2468880"/>
            <a:ext cx="932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계산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22592" y="2331720"/>
            <a:ext cx="4800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14032" y="2386584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NULL율 = NULL건수 / 전체건수 × 100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2926080"/>
            <a:ext cx="987552" cy="5486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07608" y="3063240"/>
            <a:ext cx="932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판정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22592" y="2926080"/>
            <a:ext cx="4800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14032" y="2980944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NULL율 &gt; 0% → 위치불완전
NULL율 &gt; 5% → 장비 점검 트리거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9320" y="3520440"/>
            <a:ext cx="9875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07608" y="3657600"/>
            <a:ext cx="932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BR-RI-01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22592" y="3520440"/>
            <a:ext cx="48006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14032" y="3575304"/>
            <a:ext cx="4617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IF [스마트시티 인프라 위치데이터]
THEN [위도/경도 완전성 = 100% MUST]
근거: 쉼터·CCTV·사고지점 모두 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4114800"/>
            <a:ext cx="987552" cy="96012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07608" y="4251959"/>
            <a:ext cx="932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BR-RI-02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22592" y="4114800"/>
            <a:ext cx="48006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14032" y="4169664"/>
            <a:ext cx="4617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IF [대기오염 NULL율 &gt; 5%]
THEN [측정소 자동 점검 알림]
근거: 대구 2.2% / 서울 0.1%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  핵심 발견 ①  공간 분석 — CCTV 거버넌스 공백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충주 CCTV 55개 ↔ 충북 사고다발 8,381건 Haversine 공간 매칭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566160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5331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87.1%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1284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BDEFB"/>
                </a:solidFill>
              </a:rPr>
              <a:t>CCTV 2km 밖
사고지점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34440"/>
            <a:ext cx="3566160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35331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44,380m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1284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BDEFB"/>
                </a:solidFill>
              </a:rPr>
              <a:t>스쿨존↔
최인근 CCTV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234440"/>
            <a:ext cx="3566160" cy="1828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35331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0.134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1284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BDEFB"/>
                </a:solidFill>
              </a:rPr>
              <a:t>CCTV 위도범위
Jaccard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46120"/>
            <a:ext cx="1161288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2826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사고 종류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2826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평균 CCTV거리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2826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건수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2826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조치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2826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BR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127248"/>
            <a:ext cx="11612880" cy="73152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236976"/>
            <a:ext cx="3520440" cy="32918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328269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Jaccard=0.134  —  CCTV↔사고 범위 불일치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236976"/>
            <a:ext cx="3520440" cy="32918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328269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87.1%  —  2km 밖 사고지점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3236976"/>
            <a:ext cx="3520440" cy="32918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7" y="328269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38,457m  —  평균 최소 CCTV 거리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639312"/>
            <a:ext cx="1161288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6941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SCHOOLZONE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36941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44,380m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6941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394건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36941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CCTV 즉시 설치 Priority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6941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BR-CROSS-01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023360"/>
            <a:ext cx="116128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0782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CHILD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40782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40,628m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0782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1,037건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40782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어린이시설 반경 500m 설치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40782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BR-FD-02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407408"/>
            <a:ext cx="1161288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4622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OLDMAN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44622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39,352m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44622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1,573건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44622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노인 이동경로 모니터링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44622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BR-FD-02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791456"/>
            <a:ext cx="116128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4846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BICYCLE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11680" y="4846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36,454m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4846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1,545건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0" y="4846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자전거도로 CCTV 검토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4846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BR-JAC-02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175504"/>
            <a:ext cx="1161288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5230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VIOLT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11680" y="5230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38,008m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0" y="5230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1,936건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0" y="5230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교통위반 단속 장비 추가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5230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BR-JAC-02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06  핵심 발견 ②  환경 분석 — 대기오염 거버넌스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서울 시간별 미세먼지 227,760건 + 대구 대기질 659,348건 실측 기반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41605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서울 PM10 이산화 분포 (2025년 전체)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37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L0  좋음   (0~14μg)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773936"/>
            <a:ext cx="2432303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12664" y="17739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47A1"/>
                </a:solidFill>
              </a:rPr>
              <a:t>58.4%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13969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L1  보통   (15~27μg)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176272"/>
            <a:ext cx="972921" cy="256032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3281" y="217627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47A1"/>
                </a:solidFill>
              </a:rPr>
              <a:t>23.2%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5420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L2  보통   (28~40μg)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578608"/>
            <a:ext cx="614476" cy="25603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4836" y="257860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47A1"/>
                </a:solidFill>
              </a:rPr>
              <a:t>14.6%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9443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L3  나쁨   (41~80μg)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980944"/>
            <a:ext cx="153619" cy="25603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3979" y="298094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47A1"/>
                </a:solidFill>
              </a:rPr>
              <a:t>3.7%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34670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L4  매우나쁨 (&gt;80μg)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3383280"/>
            <a:ext cx="25603" cy="25603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05963" y="33832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47A1"/>
                </a:solidFill>
              </a:rPr>
              <a:t>0.1%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7947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</a:rPr>
              <a:t>※ L3/L4 = PM10&gt;41μg → 취약계층 알림 대상 (연 333시간)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160520"/>
            <a:ext cx="539496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062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Entropy=2.455  |  support=3.8%  |  FD=1.0(사고종류→대상)  |  Jaccard=0.409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160520"/>
            <a:ext cx="5394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160520"/>
            <a:ext cx="73152" cy="8229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233672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서울↔대구 PM10 Jaccard = 0.409 (기준 0.7 미달)
→ BR-JAC-01: 도시간 대기측정 도메인 표준화 필요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1234440"/>
            <a:ext cx="5943600" cy="21945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0" y="1234440"/>
            <a:ext cx="594360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은평구 스마트쉼터 × PM10 연계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173736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쉼터 11개소  위도/경도 완전성 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215798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은평구 PM10 나쁨(&gt;80) 발생률: 4.3%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257860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연평균 PM10: 31.3μg/m³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299923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→ PM10&gt;80 시 쉼터 11개 동시 알림 가능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3593592"/>
            <a:ext cx="5943600" cy="248716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3593592"/>
            <a:ext cx="594360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362102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함수적 종속관계 (FD) 분석 결과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3977639"/>
            <a:ext cx="5943600" cy="292608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89320" y="399592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A  →  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399592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FD신뢰도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399592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BR 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4297680"/>
            <a:ext cx="5943600" cy="3474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89320" y="43525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사고종류  →  대상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435254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1.0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69880" y="43525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BR-FD-02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4681728"/>
            <a:ext cx="5943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89320" y="47365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다발지역ID  →  위도/경도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47365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1.0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69880" y="47365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BR-FD-01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0" y="5065776"/>
            <a:ext cx="5943600" cy="3474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89320" y="51206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시설ID  →  시설명/주소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51206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D32"/>
                </a:solidFill>
              </a:rPr>
              <a:t>1.0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69880" y="51206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BR-FD-03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0" y="5449824"/>
            <a:ext cx="5943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89320" y="550468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대구측정소명  →  년/월/일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550468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7C00"/>
                </a:solidFill>
              </a:rPr>
              <a:t>&lt;1.0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69880" y="55046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07  최종 BR 룰셋 — 14개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선별 BR(SEL) + 분석 BR(FD·Jaccard·FP·RI) + 거버넌스 과제 발견 | 실측 데이터 기반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1170432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25296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BR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225296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225296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유형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225296"/>
            <a:ext cx="4480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IF → THEN 요약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225296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신뢰도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4120" y="1225296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원천데이터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600200"/>
            <a:ext cx="117043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65506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7C00"/>
                </a:solidFill>
              </a:rPr>
              <a:t>BR-SEL-01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165506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7C00"/>
                </a:solidFill>
              </a:rPr>
              <a:t>선별BR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65506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스마트시티선별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165506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5대 서비스 영역 키워드 → 수집 대상 = 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6550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BR-SEL 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165506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목록 95,903건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1984248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0391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7C00"/>
                </a:solidFill>
              </a:rPr>
              <a:t>BR-SEL-02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20391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7C00"/>
                </a:solidFill>
              </a:rPr>
              <a:t>선별BR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0391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Static/Dynamic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203911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업데이트주기={수시,일간} → Dynamic 분류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03911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BR-SEL 적용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203911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목록 95,903건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368296"/>
            <a:ext cx="117043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24231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7C00"/>
                </a:solidFill>
              </a:rPr>
              <a:t>BR-SEL-03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24231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7C00"/>
                </a:solidFill>
              </a:rPr>
              <a:t>선별BR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24231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A안 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242316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score 상위 300건 → 다운로드 대상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4231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300건 선별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24231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목록 95,903건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2752344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28072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565C0"/>
                </a:solidFill>
              </a:rPr>
              <a:t>BR-FD-01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28072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565C0"/>
                </a:solidFill>
              </a:rPr>
              <a:t>FD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28072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무결성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39" y="280720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사고지점ID 존재 → 위도/경도 MUST NOT NULL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280720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FD=1.0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04120" y="280720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사고다발 8,381건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3136391"/>
            <a:ext cx="117043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319125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565C0"/>
                </a:solidFill>
              </a:rPr>
              <a:t>BR-FD-02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08760" y="319125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565C0"/>
                </a:solidFill>
              </a:rPr>
              <a:t>FD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319125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도메인표준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7639" y="319125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사고종류=CHILD → 대상=어린이 MUST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319125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FD=1.0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4120" y="319125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사고다발 8,381건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520439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357530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565C0"/>
                </a:solidFill>
              </a:rPr>
              <a:t>BR-FD-03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08760" y="357530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565C0"/>
                </a:solidFill>
              </a:rPr>
              <a:t>FD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357530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참조무결성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77639" y="3575303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시설ID → 시설명/주소 MUST NOT NULL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3575303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FD=1.0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04120" y="3575303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시설 8,381건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3904487"/>
            <a:ext cx="117043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3959351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BR-JAC-01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08760" y="3959351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47A1"/>
                </a:solidFill>
              </a:rPr>
              <a:t>Jaccard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0" y="3959351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도메인표준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77639" y="3959351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도시간 PM10 Jaccard ≥ 0.7 → 연계 허용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03920" y="395935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현재 0.409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04120" y="395935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서울·대구 PM10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" y="4288536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434339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BR-JAC-02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08760" y="434339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47A1"/>
                </a:solidFill>
              </a:rPr>
              <a:t>Jaccard공간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0" y="434339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공간거버넌스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77639" y="4343399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CCTV↔사고 Jaccard&lt;0.5 → CCTV 재배치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03920" y="434339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현재 0.134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04120" y="434339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충주CCTV+사고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" y="4672583"/>
            <a:ext cx="117043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472744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</a:rPr>
              <a:t>BR-FP-01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08760" y="472744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</a:rPr>
              <a:t>이산화+FP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0" y="472744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운영BR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77639" y="4727447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PM10 L3/L4(&gt;41μg) → 취약계층 알림 1시간 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03920" y="4727447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3.8% 발생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4120" y="472744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서울 227,760건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" y="5056631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4320" y="5111495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</a:rPr>
              <a:t>BR-FP-02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508760" y="5111495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D32"/>
                </a:solidFill>
              </a:rPr>
              <a:t>엔트로피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43200" y="5111495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변수선택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77639" y="5111495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구분(4.70)·PM10_L(2.46) 우선 / 요일 제외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03920" y="5111495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Entropy기반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04120" y="5111495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서울 PM10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8600" y="5440679"/>
            <a:ext cx="117043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74320" y="549554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16161"/>
                </a:solidFill>
              </a:rPr>
              <a:t>BR-RI-01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08760" y="549554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참조무결성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43200" y="5495543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무결성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77639" y="5495543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스마트시티 인프라 위도/경도 완전성 = 100%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03920" y="5495543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현행 100%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04120" y="5495543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전체 위치데이터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8600" y="5824727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74320" y="5879591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16161"/>
                </a:solidFill>
              </a:rPr>
              <a:t>BR-RI-02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508760" y="5879591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유효성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43200" y="5879591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품질BR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77639" y="5879591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대기오염 NULL율 5% 초과 → 자동 점검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03920" y="587959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현행 2.2%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104120" y="58795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대구 659,348건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8600" y="6208775"/>
            <a:ext cx="117043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4320" y="626363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BR-CROSS-01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08760" y="626363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47A1"/>
                </a:solidFill>
              </a:rPr>
              <a:t>FD+Jaccard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43200" y="6263639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크로스도메인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77639" y="6263639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SCHOOLZONE+CCTV 2km미커버 → 설치 P.1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503920" y="626363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44,380m거리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104120" y="626363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사고 394건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6592823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74320" y="664768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16161"/>
                </a:solidFill>
              </a:rPr>
              <a:t>BR-FD-04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508760" y="664768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FD + 크로스탭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743200" y="6647687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거버넌스과제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977639" y="6647687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사고종류 6개(BICYCLE·VIOLT·LG 등) '기타' 통합 → 대상 분류 세분화 필요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503920" y="6647687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47A1"/>
                </a:solidFill>
              </a:rPr>
              <a:t>6/8=75% 기타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104120" y="664768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사고다발 8,381건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07-1  Hard Rule vs Soft Rule  —  엔지니어적 결단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단순 오류 차단(Hard)을 넘어, 예외를 학습 자산으로 전환하는 Adaptive Quality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1371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Hard Rule  (강제 차단)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1907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위반 시 데이터 유입 자체를 차단
• 시스템 무결성 핵심에 적용
• 예: 위도/경도 NULL → 즉시 거부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234440"/>
            <a:ext cx="5943600" cy="1371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1234440"/>
            <a:ext cx="5943600" cy="38404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Soft Rule  (Flag + 모니터링)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719072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위반 시 차단 대신 Flag 태깅 + 로그
• 도메인 확장 가능성이 있는 곳에 적용
• 예: 사고 기타 분류 → 경보 후 관리자 검토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61488"/>
            <a:ext cx="11612880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285292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47A1"/>
                </a:solidFill>
              </a:rPr>
              <a:t>이번 프로젝트의 엔지니어적 결단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18688"/>
            <a:ext cx="1161288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246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BR 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246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규칙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246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분류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246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이유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3246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확장성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611880"/>
            <a:ext cx="11612880" cy="38404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68503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BR-FD-01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68503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위도/경도 NOT NULL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68503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🔴 Hard Rule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6850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누락 시 공간 분석 자체 불가 — 원천 결함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368503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없음 (필수값)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005072"/>
            <a:ext cx="11612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0782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BR-FD-02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07822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사고종류→대상 FD=1.0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0782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🔴 Hard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FD 완전 종속 — 위반 = 데이터 오염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407822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신규 유형 시 FD 재측정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398264"/>
            <a:ext cx="11612880" cy="38404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47141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BR-FD-03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44714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시설ID→명칭/주소 NOT NULL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447141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🔴 Hard Rule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47141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시설 식별 불가 → 운영 규칙 적용 불가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44714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없음 (필수값)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791455"/>
            <a:ext cx="11612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864607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BR-JAC-01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4864607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도시간 PM10 Jaccard ≥ 0.7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0" y="4864607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7C00"/>
                </a:solidFill>
              </a:rPr>
              <a:t>🟡 Soft Rule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86460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이하 시 연계 차단 아닌 표준화 알림 발송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486460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측정 장비 교체 시 자동 갱신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184647"/>
            <a:ext cx="11612880" cy="38404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525779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BR-JAC-02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525779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CCTV↔사고 Jaccard &lt; 0.5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0" y="5257799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7C00"/>
                </a:solidFill>
              </a:rPr>
              <a:t>🟡 Soft Rule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5257799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차단 아닌 재배치 우선순위 목록 생성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525779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신규 CCTV 설치 후 자동 재계산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577839"/>
            <a:ext cx="11612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5650991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47A1"/>
                </a:solidFill>
              </a:rPr>
              <a:t>BR-FD-04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28800" y="5650991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사고 기타 분류 6종 통합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0" y="5650991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7C00"/>
                </a:solidFill>
              </a:rPr>
              <a:t>🟡 Soft Rule → Adaptive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5650991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기타 유지하되 세분류 후보 Flag 태깅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0" y="56509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킥보드 등 신규 유형 자동 학습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5980176"/>
            <a:ext cx="11612880" cy="62179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4320" y="5980176"/>
            <a:ext cx="91440" cy="62179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6035040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</a:rPr>
              <a:t>"Hard Rule은 시스템의 생존을 보장하고, Soft Rule은 시스템의 진화를 가능하게 한다.  이번 프로젝트에서 FD=1.0의 완전 종속 규칙은 Hard Rule로 강제하고,  도메인 확장 가능성이 있는 분류 규칙은 Soft Rule로 전환하여 '닫힌 거버넌스'가 아닌  '학습하는 거버넌스'를 설계하였다."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09  결론 및 의의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데이터 선별 → 품질 검증 → Hard/Soft Rule 분류 — 학습하는 거버넌스 시스템 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3840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분석 성과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210312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8013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총 BR 도출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8013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14개 (선별 3 + 분석 10 + 과제 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94560"/>
            <a:ext cx="210312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2585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분석 방법론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2585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4가지 통합 (두 PDF 기반)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51760"/>
            <a:ext cx="210312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7157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분석 데이터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7157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~100만 건 실측 + 95,903건 메타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08960"/>
            <a:ext cx="210312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1729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공간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1729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Haversine 8,381 × 55 매칭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566160"/>
            <a:ext cx="210312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6301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핵심 발견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6301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CCTV 공백 87.1%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023360"/>
            <a:ext cx="210312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873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데이터 원천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0873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공공데이터 실측값 — 가설 없음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234440"/>
            <a:ext cx="5943600" cy="3840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1234440"/>
            <a:ext cx="5943600" cy="38404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학문적·실무적 의의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17373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1. BR이 파이프라인 전체 관통 — 선별·검증·운영 3단계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249424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2. BI → BR 전환: 묘사에서 기계적 통제로 패러다임 이동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276148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3. 다중 방법론 통합: FD·Jaccard·FP·RI 단일 파이프라인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27355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4. 이원화 거버넌스: Static(좌표 무결성) vs Dynamic(Latency)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3785616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5. 모든 BR이 실측 수치로 정량화 — 주관 배제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2976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6. 확장성: 공공데이터 95,903건으로 전국 적용 가능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230368"/>
            <a:ext cx="11612880" cy="658368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33095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"공공데이터 목록과 실제 원본 데이터를 결합하여 14개의 거버넌스 BR을 도출하였다. 특히 사고 분류 크로스탭 분석을 통해 기존 규칙의 유효성을 검증하고 새로운 거버넌스 과제(기타 분류 세분화)를 데이터 스스로 발견하게 하였다."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